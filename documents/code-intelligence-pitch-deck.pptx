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    <Relationship Id="rId1" Type="http://schemas.openxmlformats.org/officeDocument/2006/relationships/extended-properties" Target="docProps/app.xml"/>
    <Relationship Id="rId2" Type="http://schemas.openxmlformats.org/package/2006/relationships/metadata/core-properties" Target="docProps/core.xml"/>
    <Relationship Id="rId3" Type="http://schemas.openxmlformats.org/officeDocument/2006/relationships/officeDocument" Target="ppt/presentation.xml"/>
    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    <Relationship Id="rId1" Type="http://schemas.openxmlformats.org/officeDocument/2006/relationships/theme" Target="../theme/theme1.xml"/>
    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.xml"/>
    </Relationships>
</file>

<file path=ppt/notesSlides/_rels/notesSlide2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2.xml"/>
    </Relationships>
</file>

<file path=ppt/notesSlides/_rels/notesSlide3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3.xml"/>
    </Relationships>
</file>

<file path=ppt/notesSlides/_rels/notesSlide4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4.xml"/>
    </Relationships>
</file>

<file path=ppt/notesSlides/_rels/notesSlide5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5.xml"/>
    </Relationships>
</file>

<file path=ppt/notesSlides/_rels/notesSlide6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6.xml"/>
    </Relationships>
</file>

<file path=ppt/notesSlides/_rels/notesSlide7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7.xml"/>
    </Relationships>
</file>

<file path=ppt/notesSlides/_rels/notesSlide8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8.xml"/>
    </Relationships>
</file>

<file path=ppt/notesSlides/_rels/notesSlide9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9.xml"/>
    </Relationships>
</file>

<file path=ppt/notesSlides/_rels/notesSlide10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0.xml"/>
    </Relationships>
</file>

<file path=ppt/notesSlides/_rels/notesSlide11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1.xml"/>
    </Relationships>
</file>

<file path=ppt/notesSlides/_rels/notesSlide12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2.xml"/>
    </Relationships>
</file>

<file path=ppt/notesSlides/_rels/notesSlide13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3.xml"/>
    </Relationships>
</file>

<file path=ppt/notesSlides/_rels/notesSlide14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4.xml"/>
    </Relationships>
</file>

<file path=ppt/notesSlides/_rels/notesSlide15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5.xml"/>
    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image" Target="../media/image-2-17.png"/><Relationship Id="rId18" Type="http://schemas.openxmlformats.org/officeDocument/2006/relationships/image" Target="../media/image-2-18.svg"/><Relationship Id="rId19" Type="http://schemas.openxmlformats.org/officeDocument/2006/relationships/image" Target="../media/image-2-19.png"/><Relationship Id="rId20" Type="http://schemas.openxmlformats.org/officeDocument/2006/relationships/image" Target="../media/image-2-20.svg"/><Relationship Id="rId21" Type="http://schemas.openxmlformats.org/officeDocument/2006/relationships/image" Target="../media/image-2-21.png"/><Relationship Id="rId22" Type="http://schemas.openxmlformats.org/officeDocument/2006/relationships/image" Target="../media/image-2-22.svg"/><Relationship Id="rId23" Type="http://schemas.openxmlformats.org/officeDocument/2006/relationships/image" Target="../media/image-2-23.png"/><Relationship Id="rId24" Type="http://schemas.openxmlformats.org/officeDocument/2006/relationships/image" Target="../media/image-2-24.svg"/><Relationship Id="rId25" Type="http://schemas.openxmlformats.org/officeDocument/2006/relationships/image" Target="../media/image-2-25.png"/><Relationship Id="rId26" Type="http://schemas.openxmlformats.org/officeDocument/2006/relationships/image" Target="../media/image-2-26.svg"/><Relationship Id="rId27" Type="http://schemas.openxmlformats.org/officeDocument/2006/relationships/image" Target="../media/image-2-27.png"/><Relationship Id="rId28" Type="http://schemas.openxmlformats.org/officeDocument/2006/relationships/image" Target="../media/image-2-28.sv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7.png"/><Relationship Id="rId18" Type="http://schemas.openxmlformats.org/officeDocument/2006/relationships/image" Target="../media/image-5-18.svg"/><Relationship Id="rId19" Type="http://schemas.openxmlformats.org/officeDocument/2006/relationships/image" Target="../media/image-5-19.png"/><Relationship Id="rId20" Type="http://schemas.openxmlformats.org/officeDocument/2006/relationships/image" Target="../media/image-5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sv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sv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sv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sv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sv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D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D"/>
          </a:solidFill>
          <a:ln/>
        </p:spPr>
      </p:sp>
      <p:pic>
        <p:nvPicPr>
          <p:cNvPr id="4" name="Picture 4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Picture 6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5124450"/>
            <a:ext cx="9144000" cy="19050"/>
          </a:xfrm>
          <a:prstGeom prst="rect">
            <a:avLst/>
          </a:prstGeom>
        </p:spPr>
      </p:pic>
      <p:sp>
        <p:nvSpPr>
          <p:cNvPr id="6" name="TextBox 10"/>
          <p:cNvSpPr/>
          <p:nvPr/>
        </p:nvSpPr>
        <p:spPr>
          <a:xfrm>
            <a:off x="3974663" y="1893987"/>
            <a:ext cx="119455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541"/>
              </a:lnSpc>
              <a:buNone/>
            </a:pPr>
            <a:r>
              <a:rPr lang="en-US" sz="541" spc="43" kern="0" dirty="0">
                <a:solidFill>
                  <a:srgbClr val="1679E1">
                    <a:alpha val="8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IT TEAM — SMBC VPFC COMPANY</a:t>
            </a:r>
            <a:endParaRPr lang="en-US" sz="541" dirty="0"/>
          </a:p>
        </p:txBody>
      </p:sp>
      <p:sp>
        <p:nvSpPr>
          <p:cNvPr id="7" name="TextBox 12"/>
          <p:cNvSpPr/>
          <p:nvPr/>
        </p:nvSpPr>
        <p:spPr>
          <a:xfrm>
            <a:off x="1903154" y="2074962"/>
            <a:ext cx="5337631" cy="4658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3710" b="1" spc="-111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SDLC Agents For Enterprise</a:t>
            </a:r>
            <a:endParaRPr lang="en-US" sz="3710" dirty="0"/>
          </a:p>
        </p:txBody>
      </p:sp>
      <p:sp>
        <p:nvSpPr>
          <p:cNvPr id="8" name="TextBox 14"/>
          <p:cNvSpPr/>
          <p:nvPr/>
        </p:nvSpPr>
        <p:spPr>
          <a:xfrm>
            <a:off x="2857440" y="2636044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91"/>
              </a:lnSpc>
              <a:buNone/>
            </a:pPr>
            <a:r>
              <a:rPr lang="en-US" sz="927" dirty="0">
                <a:solidFill>
                  <a:srgbClr val="B9BEC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system to store, organize, and retrieve source code knowledge — with AI, graph visualization, and centralized access control.</a:t>
            </a:r>
            <a:endParaRPr lang="en-US" sz="927" dirty="0"/>
          </a:p>
        </p:txBody>
      </p:sp>
      <p:sp>
        <p:nvSpPr>
          <p:cNvPr id="9" name="TextBox 16"/>
          <p:cNvSpPr/>
          <p:nvPr/>
        </p:nvSpPr>
        <p:spPr>
          <a:xfrm>
            <a:off x="1903154" y="3207544"/>
            <a:ext cx="533763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618"/>
              </a:lnSpc>
              <a:buNone/>
            </a:pPr>
            <a:r>
              <a:rPr lang="en-US" sz="618" spc="19" kern="0" dirty="0">
                <a:solidFill>
                  <a:srgbClr val="7C818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Internal Solution · Presented to Leadership · 2026</a:t>
            </a:r>
            <a:endParaRPr lang="en-US" sz="61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D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D"/>
          </a:solidFill>
          <a:ln/>
        </p:spPr>
      </p:sp>
      <p:sp>
        <p:nvSpPr>
          <p:cNvPr id="4" name="TextBox 4"/>
          <p:cNvSpPr/>
          <p:nvPr/>
        </p:nvSpPr>
        <p:spPr>
          <a:xfrm>
            <a:off x="457200" y="342900"/>
            <a:ext cx="822960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855" b="1" spc="-37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Challenge</a:t>
            </a:r>
            <a:endParaRPr lang="en-US" sz="1855" dirty="0"/>
          </a:p>
        </p:txBody>
      </p:sp>
      <p:sp>
        <p:nvSpPr>
          <p:cNvPr id="5" name="TextBox 6"/>
          <p:cNvSpPr/>
          <p:nvPr/>
        </p:nvSpPr>
        <p:spPr>
          <a:xfrm>
            <a:off x="457200" y="681990"/>
            <a:ext cx="4191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 code knowledge across the organization is scattered, undocumented, and lost when people leave. The software delivery process remains slow and manual.</a:t>
            </a:r>
            <a:endParaRPr lang="en-US" sz="850" dirty="0"/>
          </a:p>
        </p:txBody>
      </p:sp>
      <p:sp>
        <p:nvSpPr>
          <p:cNvPr id="6" name="Shape 10"/>
          <p:cNvSpPr/>
          <p:nvPr/>
        </p:nvSpPr>
        <p:spPr>
          <a:xfrm>
            <a:off x="457200" y="1243965"/>
            <a:ext cx="2667000" cy="2694622"/>
          </a:xfrm>
          <a:prstGeom prst="roundRect">
            <a:avLst>
              <a:gd name="adj" fmla="val 2208"/>
            </a:avLst>
          </a:prstGeom>
          <a:solidFill>
            <a:srgbClr val="FFFFFF"/>
          </a:solidFill>
          <a:ln w="3926">
            <a:solidFill>
              <a:srgbClr val="E2E5E8"/>
            </a:solidFill>
            <a:prstDash val="solid"/>
          </a:ln>
        </p:spPr>
      </p:sp>
      <p:sp>
        <p:nvSpPr>
          <p:cNvPr id="7" name="Shape 12"/>
          <p:cNvSpPr/>
          <p:nvPr/>
        </p:nvSpPr>
        <p:spPr>
          <a:xfrm>
            <a:off x="613410" y="1400175"/>
            <a:ext cx="228600" cy="228600"/>
          </a:xfrm>
          <a:prstGeom prst="roundRect">
            <a:avLst>
              <a:gd name="adj" fmla="val 21469"/>
            </a:avLst>
          </a:prstGeom>
          <a:noFill/>
          <a:ln w="3926">
            <a:solidFill>
              <a:srgbClr val="E2E5E8"/>
            </a:solidFill>
            <a:prstDash val="solid"/>
          </a:ln>
        </p:spPr>
      </p:sp>
      <p:pic>
        <p:nvPicPr>
          <p:cNvPr id="8" name="Picture 13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5322" y="1462087"/>
            <a:ext cx="104775" cy="104775"/>
          </a:xfrm>
          <a:prstGeom prst="rect">
            <a:avLst/>
          </a:prstGeom>
        </p:spPr>
      </p:pic>
      <p:sp>
        <p:nvSpPr>
          <p:cNvPr id="9" name="TextBox 15"/>
          <p:cNvSpPr/>
          <p:nvPr/>
        </p:nvSpPr>
        <p:spPr>
          <a:xfrm>
            <a:off x="613410" y="1724025"/>
            <a:ext cx="2354580" cy="136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b="1" spc="-9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Knowledge Has No Central Hub</a:t>
            </a:r>
            <a:endParaRPr lang="en-US" sz="850" dirty="0"/>
          </a:p>
        </p:txBody>
      </p:sp>
      <p:sp>
        <p:nvSpPr>
          <p:cNvPr id="10" name="TextBox 17"/>
          <p:cNvSpPr/>
          <p:nvPr/>
        </p:nvSpPr>
        <p:spPr>
          <a:xfrm>
            <a:off x="613410" y="1907857"/>
            <a:ext cx="2354580" cy="875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89"/>
              </a:lnSpc>
              <a:buNone/>
            </a:pPr>
            <a:r>
              <a:rPr lang="en-US" sz="618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Architecture decisions, error patterns, and lessons learned exist only in people's minds — no central repository to consult.</a:t>
            </a:r>
            <a:endParaRPr lang="en-US" sz="618" dirty="0"/>
          </a:p>
        </p:txBody>
      </p:sp>
      <p:pic>
        <p:nvPicPr>
          <p:cNvPr id="11" name="Picture 19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3410" y="2840355"/>
            <a:ext cx="2354580" cy="714375"/>
          </a:xfrm>
          <a:prstGeom prst="rect">
            <a:avLst/>
          </a:prstGeom>
        </p:spPr>
      </p:pic>
      <p:pic>
        <p:nvPicPr>
          <p:cNvPr id="12" name="Picture 21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3410" y="3602355"/>
            <a:ext cx="2354580" cy="180022"/>
          </a:xfrm>
          <a:prstGeom prst="rect">
            <a:avLst/>
          </a:prstGeom>
        </p:spPr>
      </p:pic>
      <p:sp>
        <p:nvSpPr>
          <p:cNvPr id="13" name="TextBox 21"/>
          <p:cNvSpPr/>
          <p:nvPr/>
        </p:nvSpPr>
        <p:spPr>
          <a:xfrm>
            <a:off x="613410" y="3602355"/>
            <a:ext cx="2354580" cy="180022"/>
          </a:xfrm>
          <a:prstGeom prst="rect">
            <a:avLst/>
          </a:prstGeom>
          <a:noFill/>
          <a:ln/>
        </p:spPr>
        <p:txBody>
          <a:bodyPr wrap="square" lIns="0" tIns="49079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 structured knowledge repository</a:t>
            </a:r>
            <a:endParaRPr lang="en-US" sz="696" dirty="0"/>
          </a:p>
        </p:txBody>
      </p:sp>
      <p:sp>
        <p:nvSpPr>
          <p:cNvPr id="14" name="Shape 24"/>
          <p:cNvSpPr/>
          <p:nvPr/>
        </p:nvSpPr>
        <p:spPr>
          <a:xfrm>
            <a:off x="3238500" y="1243965"/>
            <a:ext cx="2667000" cy="2694622"/>
          </a:xfrm>
          <a:prstGeom prst="roundRect">
            <a:avLst>
              <a:gd name="adj" fmla="val 2208"/>
            </a:avLst>
          </a:prstGeom>
          <a:solidFill>
            <a:srgbClr val="FFFFFF"/>
          </a:solidFill>
          <a:ln w="3926">
            <a:solidFill>
              <a:srgbClr val="E2E5E8"/>
            </a:solidFill>
            <a:prstDash val="solid"/>
          </a:ln>
        </p:spPr>
      </p:sp>
      <p:sp>
        <p:nvSpPr>
          <p:cNvPr id="15" name="Shape 26"/>
          <p:cNvSpPr/>
          <p:nvPr/>
        </p:nvSpPr>
        <p:spPr>
          <a:xfrm>
            <a:off x="3394710" y="1400175"/>
            <a:ext cx="228600" cy="228600"/>
          </a:xfrm>
          <a:prstGeom prst="roundRect">
            <a:avLst>
              <a:gd name="adj" fmla="val 21469"/>
            </a:avLst>
          </a:prstGeom>
          <a:noFill/>
          <a:ln w="3926">
            <a:solidFill>
              <a:srgbClr val="E2E5E8"/>
            </a:solidFill>
            <a:prstDash val="solid"/>
          </a:ln>
        </p:spPr>
      </p:sp>
      <p:pic>
        <p:nvPicPr>
          <p:cNvPr id="16" name="Picture 27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56622" y="1462087"/>
            <a:ext cx="104775" cy="104775"/>
          </a:xfrm>
          <a:prstGeom prst="rect">
            <a:avLst/>
          </a:prstGeom>
        </p:spPr>
      </p:pic>
      <p:sp>
        <p:nvSpPr>
          <p:cNvPr id="17" name="TextBox 29"/>
          <p:cNvSpPr/>
          <p:nvPr/>
        </p:nvSpPr>
        <p:spPr>
          <a:xfrm>
            <a:off x="3394710" y="1724025"/>
            <a:ext cx="2354580" cy="136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b="1" spc="-9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Duplicate Effort</a:t>
            </a:r>
            <a:endParaRPr lang="en-US" sz="850" dirty="0"/>
          </a:p>
        </p:txBody>
      </p:sp>
      <p:sp>
        <p:nvSpPr>
          <p:cNvPr id="18" name="TextBox 31"/>
          <p:cNvSpPr/>
          <p:nvPr/>
        </p:nvSpPr>
        <p:spPr>
          <a:xfrm>
            <a:off x="3394710" y="1907857"/>
            <a:ext cx="2354580" cy="875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89"/>
              </a:lnSpc>
              <a:buNone/>
            </a:pPr>
            <a:r>
              <a:rPr lang="en-US" sz="618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same solution gets designed multiple times — teams don't know someone already solved it.</a:t>
            </a:r>
            <a:endParaRPr lang="en-US" sz="618" dirty="0"/>
          </a:p>
        </p:txBody>
      </p:sp>
      <p:pic>
        <p:nvPicPr>
          <p:cNvPr id="19" name="Picture 33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94710" y="2840355"/>
            <a:ext cx="2354580" cy="714375"/>
          </a:xfrm>
          <a:prstGeom prst="rect">
            <a:avLst/>
          </a:prstGeom>
        </p:spPr>
      </p:pic>
      <p:pic>
        <p:nvPicPr>
          <p:cNvPr id="20" name="Picture 35" descr="__type_imag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94710" y="3602355"/>
            <a:ext cx="2354580" cy="180022"/>
          </a:xfrm>
          <a:prstGeom prst="rect">
            <a:avLst/>
          </a:prstGeom>
        </p:spPr>
      </p:pic>
      <p:sp>
        <p:nvSpPr>
          <p:cNvPr id="21" name="TextBox 35"/>
          <p:cNvSpPr/>
          <p:nvPr/>
        </p:nvSpPr>
        <p:spPr>
          <a:xfrm>
            <a:off x="3394710" y="3602355"/>
            <a:ext cx="2354580" cy="180022"/>
          </a:xfrm>
          <a:prstGeom prst="rect">
            <a:avLst/>
          </a:prstGeom>
          <a:noFill/>
          <a:ln/>
        </p:spPr>
        <p:txBody>
          <a:bodyPr wrap="square" lIns="0" tIns="49079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 cross-cutting search mechanism</a:t>
            </a:r>
            <a:endParaRPr lang="en-US" sz="696" dirty="0"/>
          </a:p>
        </p:txBody>
      </p:sp>
      <p:sp>
        <p:nvSpPr>
          <p:cNvPr id="22" name="Shape 38"/>
          <p:cNvSpPr/>
          <p:nvPr/>
        </p:nvSpPr>
        <p:spPr>
          <a:xfrm>
            <a:off x="6019799" y="1243965"/>
            <a:ext cx="2667000" cy="2694622"/>
          </a:xfrm>
          <a:prstGeom prst="roundRect">
            <a:avLst>
              <a:gd name="adj" fmla="val 2208"/>
            </a:avLst>
          </a:prstGeom>
          <a:solidFill>
            <a:srgbClr val="FFFFFF"/>
          </a:solidFill>
          <a:ln w="3926">
            <a:solidFill>
              <a:srgbClr val="E2E5E8"/>
            </a:solidFill>
            <a:prstDash val="solid"/>
          </a:ln>
        </p:spPr>
      </p:sp>
      <p:sp>
        <p:nvSpPr>
          <p:cNvPr id="23" name="Shape 40"/>
          <p:cNvSpPr/>
          <p:nvPr/>
        </p:nvSpPr>
        <p:spPr>
          <a:xfrm>
            <a:off x="6176009" y="1400175"/>
            <a:ext cx="228600" cy="228600"/>
          </a:xfrm>
          <a:prstGeom prst="roundRect">
            <a:avLst>
              <a:gd name="adj" fmla="val 21469"/>
            </a:avLst>
          </a:prstGeom>
          <a:noFill/>
          <a:ln w="3926">
            <a:solidFill>
              <a:srgbClr val="E2E5E8"/>
            </a:solidFill>
            <a:prstDash val="solid"/>
          </a:ln>
        </p:spPr>
      </p:sp>
      <p:pic>
        <p:nvPicPr>
          <p:cNvPr id="24" name="Picture 41" descr="__type_image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37922" y="1462087"/>
            <a:ext cx="104775" cy="104775"/>
          </a:xfrm>
          <a:prstGeom prst="rect">
            <a:avLst/>
          </a:prstGeom>
        </p:spPr>
      </p:pic>
      <p:sp>
        <p:nvSpPr>
          <p:cNvPr id="25" name="TextBox 43"/>
          <p:cNvSpPr/>
          <p:nvPr/>
        </p:nvSpPr>
        <p:spPr>
          <a:xfrm>
            <a:off x="6176009" y="1724025"/>
            <a:ext cx="2354580" cy="136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b="1" spc="-9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Risk of Losing Talent</a:t>
            </a:r>
            <a:endParaRPr lang="en-US" sz="850" dirty="0"/>
          </a:p>
        </p:txBody>
      </p:sp>
      <p:sp>
        <p:nvSpPr>
          <p:cNvPr id="26" name="TextBox 45"/>
          <p:cNvSpPr/>
          <p:nvPr/>
        </p:nvSpPr>
        <p:spPr>
          <a:xfrm>
            <a:off x="6176009" y="1907857"/>
            <a:ext cx="2354580" cy="875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89"/>
              </a:lnSpc>
              <a:buNone/>
            </a:pPr>
            <a:r>
              <a:rPr lang="en-US" sz="618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When engineers leave, all system knowledge leaves with them — no proper knowledge transfer.</a:t>
            </a:r>
            <a:endParaRPr lang="en-US" sz="618" dirty="0"/>
          </a:p>
        </p:txBody>
      </p:sp>
      <p:pic>
        <p:nvPicPr>
          <p:cNvPr id="27" name="Picture 47" descr="__type_image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176009" y="2840355"/>
            <a:ext cx="2354580" cy="714375"/>
          </a:xfrm>
          <a:prstGeom prst="rect">
            <a:avLst/>
          </a:prstGeom>
        </p:spPr>
      </p:pic>
      <p:pic>
        <p:nvPicPr>
          <p:cNvPr id="28" name="Picture 49" descr="__type_image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176009" y="3602355"/>
            <a:ext cx="2354580" cy="180022"/>
          </a:xfrm>
          <a:prstGeom prst="rect">
            <a:avLst/>
          </a:prstGeom>
        </p:spPr>
      </p:pic>
      <p:sp>
        <p:nvSpPr>
          <p:cNvPr id="29" name="TextBox 49"/>
          <p:cNvSpPr/>
          <p:nvPr/>
        </p:nvSpPr>
        <p:spPr>
          <a:xfrm>
            <a:off x="6176009" y="3602355"/>
            <a:ext cx="2354580" cy="180022"/>
          </a:xfrm>
          <a:prstGeom prst="rect">
            <a:avLst/>
          </a:prstGeom>
          <a:noFill/>
          <a:ln/>
        </p:spPr>
        <p:txBody>
          <a:bodyPr wrap="square" lIns="0" tIns="49079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 audit trail for technical decisions</a:t>
            </a:r>
            <a:endParaRPr lang="en-US" sz="696" dirty="0"/>
          </a:p>
        </p:txBody>
      </p:sp>
      <p:sp>
        <p:nvSpPr>
          <p:cNvPr id="30" name="Shape 53"/>
          <p:cNvSpPr/>
          <p:nvPr/>
        </p:nvSpPr>
        <p:spPr>
          <a:xfrm>
            <a:off x="457200" y="3986212"/>
            <a:ext cx="8229600" cy="814387"/>
          </a:xfrm>
          <a:prstGeom prst="roundRect">
            <a:avLst>
              <a:gd name="adj" fmla="val 6027"/>
            </a:avLst>
          </a:prstGeom>
          <a:solidFill>
            <a:srgbClr val="FFFFFF"/>
          </a:solidFill>
          <a:ln w="3926">
            <a:solidFill>
              <a:srgbClr val="E2E5E8"/>
            </a:solidFill>
            <a:prstDash val="solid"/>
          </a:ln>
        </p:spPr>
      </p:sp>
      <p:sp>
        <p:nvSpPr>
          <p:cNvPr id="31" name="TextBox 57"/>
          <p:cNvSpPr/>
          <p:nvPr/>
        </p:nvSpPr>
        <p:spPr>
          <a:xfrm>
            <a:off x="575310" y="4056697"/>
            <a:ext cx="538282" cy="88583"/>
          </a:xfrm>
          <a:prstGeom prst="roundRect">
            <a:avLst>
              <a:gd name="adj" fmla="val 27702"/>
            </a:avLst>
          </a:prstGeom>
          <a:solidFill>
            <a:srgbClr val="0C121A"/>
          </a:solidFill>
          <a:ln w="3926">
            <a:solidFill>
              <a:srgbClr val="1779E1"/>
            </a:solidFill>
            <a:prstDash val="solid"/>
          </a:ln>
        </p:spPr>
        <p:txBody>
          <a:bodyPr wrap="square" lIns="49079" tIns="14724" rIns="49079" bIns="14724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1779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Speed Benchmark</a:t>
            </a:r>
            <a:endParaRPr lang="en-US" sz="425" dirty="0"/>
          </a:p>
        </p:txBody>
      </p:sp>
      <p:sp>
        <p:nvSpPr>
          <p:cNvPr id="32" name="TextBox 59"/>
          <p:cNvSpPr/>
          <p:nvPr/>
        </p:nvSpPr>
        <p:spPr>
          <a:xfrm>
            <a:off x="1170742" y="4060508"/>
            <a:ext cx="830282" cy="80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57"/>
              </a:lnSpc>
              <a:buNone/>
            </a:pPr>
            <a:r>
              <a:rPr lang="en-US" sz="657" b="1" spc="-7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Feature Delivery Speed</a:t>
            </a:r>
            <a:endParaRPr lang="en-US" sz="657" dirty="0"/>
          </a:p>
        </p:txBody>
      </p:sp>
      <p:pic>
        <p:nvPicPr>
          <p:cNvPr id="33" name="Picture 68" descr="__type_image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75310" y="4221480"/>
            <a:ext cx="66675" cy="66675"/>
          </a:xfrm>
          <a:prstGeom prst="rect">
            <a:avLst/>
          </a:prstGeom>
        </p:spPr>
      </p:pic>
      <p:sp>
        <p:nvSpPr>
          <p:cNvPr id="34" name="TextBox 70"/>
          <p:cNvSpPr/>
          <p:nvPr/>
        </p:nvSpPr>
        <p:spPr>
          <a:xfrm>
            <a:off x="680085" y="4226242"/>
            <a:ext cx="409813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Traditional SDLC</a:t>
            </a:r>
            <a:endParaRPr lang="en-US" sz="464" dirty="0"/>
          </a:p>
        </p:txBody>
      </p:sp>
      <p:sp>
        <p:nvSpPr>
          <p:cNvPr id="35" name="Shape 73"/>
          <p:cNvSpPr/>
          <p:nvPr/>
        </p:nvSpPr>
        <p:spPr>
          <a:xfrm>
            <a:off x="1299210" y="4202430"/>
            <a:ext cx="6878954" cy="104775"/>
          </a:xfrm>
          <a:prstGeom prst="roundRect">
            <a:avLst>
              <a:gd name="adj" fmla="val 18737"/>
            </a:avLst>
          </a:prstGeom>
          <a:solidFill>
            <a:srgbClr val="E2E5E8"/>
          </a:solidFill>
          <a:ln/>
        </p:spPr>
      </p:sp>
      <p:sp>
        <p:nvSpPr>
          <p:cNvPr id="36" name="Shape 75"/>
          <p:cNvSpPr/>
          <p:nvPr/>
        </p:nvSpPr>
        <p:spPr>
          <a:xfrm>
            <a:off x="1299210" y="4202430"/>
            <a:ext cx="6878954" cy="104775"/>
          </a:xfrm>
          <a:prstGeom prst="roundRect">
            <a:avLst>
              <a:gd name="adj" fmla="val 18737"/>
            </a:avLst>
          </a:prstGeom>
          <a:solidFill>
            <a:srgbClr val="86A1C4">
              <a:alpha val="40000"/>
            </a:srgbClr>
          </a:solidFill>
          <a:ln/>
        </p:spPr>
      </p:sp>
      <p:sp>
        <p:nvSpPr>
          <p:cNvPr id="37" name="TextBox 77"/>
          <p:cNvSpPr/>
          <p:nvPr/>
        </p:nvSpPr>
        <p:spPr>
          <a:xfrm>
            <a:off x="7860863" y="4228623"/>
            <a:ext cx="279202" cy="52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3–6 months</a:t>
            </a:r>
            <a:endParaRPr lang="en-US" sz="425" dirty="0"/>
          </a:p>
        </p:txBody>
      </p:sp>
      <p:sp>
        <p:nvSpPr>
          <p:cNvPr id="38" name="TextBox 80"/>
          <p:cNvSpPr/>
          <p:nvPr/>
        </p:nvSpPr>
        <p:spPr>
          <a:xfrm>
            <a:off x="8235315" y="4228623"/>
            <a:ext cx="333375" cy="52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ts val="425"/>
              </a:lnSpc>
              <a:buNone/>
            </a:pPr>
            <a:r>
              <a:rPr lang="en-US" sz="425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Manual only</a:t>
            </a:r>
            <a:endParaRPr lang="en-US" sz="425" dirty="0"/>
          </a:p>
        </p:txBody>
      </p:sp>
      <p:pic>
        <p:nvPicPr>
          <p:cNvPr id="39" name="Picture 87" descr="__type_image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75310" y="4359592"/>
            <a:ext cx="66675" cy="66675"/>
          </a:xfrm>
          <a:prstGeom prst="rect">
            <a:avLst/>
          </a:prstGeom>
        </p:spPr>
      </p:pic>
      <p:sp>
        <p:nvSpPr>
          <p:cNvPr id="40" name="TextBox 89"/>
          <p:cNvSpPr/>
          <p:nvPr/>
        </p:nvSpPr>
        <p:spPr>
          <a:xfrm>
            <a:off x="680085" y="4364355"/>
            <a:ext cx="305514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 AI Copilot</a:t>
            </a:r>
            <a:endParaRPr lang="en-US" sz="464" dirty="0"/>
          </a:p>
        </p:txBody>
      </p:sp>
      <p:sp>
        <p:nvSpPr>
          <p:cNvPr id="41" name="Shape 92"/>
          <p:cNvSpPr/>
          <p:nvPr/>
        </p:nvSpPr>
        <p:spPr>
          <a:xfrm>
            <a:off x="1299210" y="4340542"/>
            <a:ext cx="6878954" cy="104775"/>
          </a:xfrm>
          <a:prstGeom prst="roundRect">
            <a:avLst>
              <a:gd name="adj" fmla="val 18737"/>
            </a:avLst>
          </a:prstGeom>
          <a:solidFill>
            <a:srgbClr val="E2E5E8"/>
          </a:solidFill>
          <a:ln/>
        </p:spPr>
      </p:sp>
      <p:sp>
        <p:nvSpPr>
          <p:cNvPr id="42" name="Shape 94"/>
          <p:cNvSpPr/>
          <p:nvPr/>
        </p:nvSpPr>
        <p:spPr>
          <a:xfrm>
            <a:off x="1299210" y="4340542"/>
            <a:ext cx="3783390" cy="104775"/>
          </a:xfrm>
          <a:prstGeom prst="roundRect">
            <a:avLst>
              <a:gd name="adj" fmla="val 18737"/>
            </a:avLst>
          </a:prstGeom>
          <a:solidFill>
            <a:srgbClr val="C08200">
              <a:alpha val="70000"/>
            </a:srgbClr>
          </a:solidFill>
          <a:ln/>
        </p:spPr>
      </p:sp>
      <p:sp>
        <p:nvSpPr>
          <p:cNvPr id="43" name="TextBox 96"/>
          <p:cNvSpPr/>
          <p:nvPr/>
        </p:nvSpPr>
        <p:spPr>
          <a:xfrm>
            <a:off x="7895034" y="4366736"/>
            <a:ext cx="245031" cy="52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4–8 weeks</a:t>
            </a:r>
            <a:endParaRPr lang="en-US" sz="425" dirty="0"/>
          </a:p>
        </p:txBody>
      </p:sp>
      <p:sp>
        <p:nvSpPr>
          <p:cNvPr id="44" name="TextBox 99"/>
          <p:cNvSpPr/>
          <p:nvPr/>
        </p:nvSpPr>
        <p:spPr>
          <a:xfrm>
            <a:off x="8235315" y="4366736"/>
            <a:ext cx="333375" cy="52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ts val="425"/>
              </a:lnSpc>
              <a:buNone/>
            </a:pPr>
            <a:r>
              <a:rPr lang="en-US" sz="425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Assisted</a:t>
            </a:r>
            <a:endParaRPr lang="en-US" sz="425" dirty="0"/>
          </a:p>
        </p:txBody>
      </p:sp>
      <p:pic>
        <p:nvPicPr>
          <p:cNvPr id="45" name="Picture 106" descr="__type_image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75310" y="4497705"/>
            <a:ext cx="66675" cy="66675"/>
          </a:xfrm>
          <a:prstGeom prst="rect">
            <a:avLst/>
          </a:prstGeom>
        </p:spPr>
      </p:pic>
      <p:sp>
        <p:nvSpPr>
          <p:cNvPr id="46" name="TextBox 108"/>
          <p:cNvSpPr/>
          <p:nvPr/>
        </p:nvSpPr>
        <p:spPr>
          <a:xfrm>
            <a:off x="680085" y="4500086"/>
            <a:ext cx="464046" cy="61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02"/>
              </a:lnSpc>
              <a:buNone/>
            </a:pPr>
            <a:r>
              <a:rPr lang="en-US" sz="502" dirty="0">
                <a:solidFill>
                  <a:srgbClr val="1779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Agent System</a:t>
            </a:r>
            <a:endParaRPr lang="en-US" sz="502" dirty="0"/>
          </a:p>
        </p:txBody>
      </p:sp>
      <p:sp>
        <p:nvSpPr>
          <p:cNvPr id="47" name="Shape 111"/>
          <p:cNvSpPr/>
          <p:nvPr/>
        </p:nvSpPr>
        <p:spPr>
          <a:xfrm>
            <a:off x="1299210" y="4478655"/>
            <a:ext cx="6878954" cy="104775"/>
          </a:xfrm>
          <a:prstGeom prst="roundRect">
            <a:avLst>
              <a:gd name="adj" fmla="val 18737"/>
            </a:avLst>
          </a:prstGeom>
          <a:solidFill>
            <a:srgbClr val="E2E5E8"/>
          </a:solidFill>
          <a:ln/>
        </p:spPr>
      </p:sp>
      <p:sp>
        <p:nvSpPr>
          <p:cNvPr id="48" name="Shape 113"/>
          <p:cNvSpPr/>
          <p:nvPr/>
        </p:nvSpPr>
        <p:spPr>
          <a:xfrm>
            <a:off x="1299210" y="4478655"/>
            <a:ext cx="1375767" cy="104775"/>
          </a:xfrm>
          <a:prstGeom prst="roundRect">
            <a:avLst>
              <a:gd name="adj" fmla="val 18737"/>
            </a:avLst>
          </a:prstGeom>
          <a:solidFill>
            <a:srgbClr val="1779E1"/>
          </a:solidFill>
          <a:ln/>
        </p:spPr>
      </p:sp>
      <p:sp>
        <p:nvSpPr>
          <p:cNvPr id="49" name="TextBox 115"/>
          <p:cNvSpPr/>
          <p:nvPr/>
        </p:nvSpPr>
        <p:spPr>
          <a:xfrm>
            <a:off x="7904143" y="4504849"/>
            <a:ext cx="235922" cy="52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1–2 weeks</a:t>
            </a:r>
            <a:endParaRPr lang="en-US" sz="425" dirty="0"/>
          </a:p>
        </p:txBody>
      </p:sp>
      <p:sp>
        <p:nvSpPr>
          <p:cNvPr id="50" name="TextBox 118"/>
          <p:cNvSpPr/>
          <p:nvPr/>
        </p:nvSpPr>
        <p:spPr>
          <a:xfrm>
            <a:off x="8235315" y="4504849"/>
            <a:ext cx="333375" cy="52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ts val="425"/>
              </a:lnSpc>
              <a:buNone/>
            </a:pPr>
            <a:r>
              <a:rPr lang="en-US" sz="425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Automated</a:t>
            </a:r>
            <a:endParaRPr lang="en-US" sz="425" dirty="0"/>
          </a:p>
        </p:txBody>
      </p:sp>
      <p:sp>
        <p:nvSpPr>
          <p:cNvPr id="51" name="Shape 122"/>
          <p:cNvSpPr/>
          <p:nvPr/>
        </p:nvSpPr>
        <p:spPr>
          <a:xfrm>
            <a:off x="575310" y="4631054"/>
            <a:ext cx="7993380" cy="99060"/>
          </a:xfrm>
          <a:prstGeom prst="rect">
            <a:avLst/>
          </a:prstGeom>
          <a:noFill/>
          <a:ln/>
        </p:spPr>
      </p:sp>
      <p:pic>
        <p:nvPicPr>
          <p:cNvPr id="52" name="Picture 122" descr="__type_image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75310" y="4631054"/>
            <a:ext cx="7993380" cy="99060"/>
          </a:xfrm>
          <a:prstGeom prst="rect">
            <a:avLst/>
          </a:prstGeom>
        </p:spPr>
      </p:pic>
      <p:sp>
        <p:nvSpPr>
          <p:cNvPr id="53" name="Shape 125"/>
          <p:cNvSpPr/>
          <p:nvPr/>
        </p:nvSpPr>
        <p:spPr>
          <a:xfrm>
            <a:off x="575310" y="4687252"/>
            <a:ext cx="38100" cy="38100"/>
          </a:xfrm>
          <a:prstGeom prst="roundRect">
            <a:avLst>
              <a:gd name="adj" fmla="val 25763"/>
            </a:avLst>
          </a:prstGeom>
          <a:solidFill>
            <a:srgbClr val="86A1C4">
              <a:alpha val="40000"/>
            </a:srgbClr>
          </a:solidFill>
          <a:ln/>
        </p:spPr>
      </p:sp>
      <p:sp>
        <p:nvSpPr>
          <p:cNvPr id="54" name="TextBox 126"/>
          <p:cNvSpPr/>
          <p:nvPr/>
        </p:nvSpPr>
        <p:spPr>
          <a:xfrm>
            <a:off x="641985" y="4682490"/>
            <a:ext cx="343674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86"/>
              </a:lnSpc>
              <a:buNone/>
            </a:pPr>
            <a:r>
              <a:rPr lang="en-US" sz="38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 AI assistance</a:t>
            </a:r>
            <a:endParaRPr lang="en-US" sz="386" dirty="0"/>
          </a:p>
        </p:txBody>
      </p:sp>
      <p:sp>
        <p:nvSpPr>
          <p:cNvPr id="55" name="Shape 129"/>
          <p:cNvSpPr/>
          <p:nvPr/>
        </p:nvSpPr>
        <p:spPr>
          <a:xfrm>
            <a:off x="1080909" y="4687252"/>
            <a:ext cx="38100" cy="38100"/>
          </a:xfrm>
          <a:prstGeom prst="roundRect">
            <a:avLst>
              <a:gd name="adj" fmla="val 25763"/>
            </a:avLst>
          </a:prstGeom>
          <a:solidFill>
            <a:srgbClr val="C08200">
              <a:alpha val="70000"/>
            </a:srgbClr>
          </a:solidFill>
          <a:ln/>
        </p:spPr>
      </p:sp>
      <p:sp>
        <p:nvSpPr>
          <p:cNvPr id="56" name="TextBox 130"/>
          <p:cNvSpPr/>
          <p:nvPr/>
        </p:nvSpPr>
        <p:spPr>
          <a:xfrm>
            <a:off x="1147584" y="4682490"/>
            <a:ext cx="47214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86"/>
              </a:lnSpc>
              <a:buNone/>
            </a:pPr>
            <a:r>
              <a:rPr lang="en-US" sz="38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Basic code completion</a:t>
            </a:r>
            <a:endParaRPr lang="en-US" sz="386" dirty="0"/>
          </a:p>
        </p:txBody>
      </p:sp>
      <p:sp>
        <p:nvSpPr>
          <p:cNvPr id="57" name="Shape 133"/>
          <p:cNvSpPr/>
          <p:nvPr/>
        </p:nvSpPr>
        <p:spPr>
          <a:xfrm>
            <a:off x="1714976" y="4687252"/>
            <a:ext cx="38100" cy="38100"/>
          </a:xfrm>
          <a:prstGeom prst="roundRect">
            <a:avLst>
              <a:gd name="adj" fmla="val 25763"/>
            </a:avLst>
          </a:prstGeom>
          <a:solidFill>
            <a:srgbClr val="1779E1"/>
          </a:solidFill>
          <a:ln/>
        </p:spPr>
      </p:sp>
      <p:sp>
        <p:nvSpPr>
          <p:cNvPr id="58" name="TextBox 134"/>
          <p:cNvSpPr/>
          <p:nvPr/>
        </p:nvSpPr>
        <p:spPr>
          <a:xfrm>
            <a:off x="1781651" y="4682490"/>
            <a:ext cx="486072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86"/>
              </a:lnSpc>
              <a:buNone/>
            </a:pPr>
            <a:r>
              <a:rPr lang="en-US" sz="38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 AI agents + KB graph</a:t>
            </a:r>
            <a:endParaRPr lang="en-US" sz="386" dirty="0"/>
          </a:p>
        </p:txBody>
      </p:sp>
      <p:sp>
        <p:nvSpPr>
          <p:cNvPr id="59" name="Shape 138"/>
          <p:cNvSpPr/>
          <p:nvPr/>
        </p:nvSpPr>
        <p:spPr>
          <a:xfrm>
            <a:off x="457200" y="4730115"/>
            <a:ext cx="8229600" cy="184785"/>
          </a:xfrm>
          <a:prstGeom prst="rect">
            <a:avLst/>
          </a:prstGeom>
          <a:noFill/>
          <a:ln/>
        </p:spPr>
      </p:sp>
      <p:pic>
        <p:nvPicPr>
          <p:cNvPr id="60" name="Picture 138" descr="__type_image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57200" y="4730115"/>
            <a:ext cx="8229600" cy="184785"/>
          </a:xfrm>
          <a:prstGeom prst="rect">
            <a:avLst/>
          </a:prstGeom>
        </p:spPr>
      </p:pic>
      <p:sp>
        <p:nvSpPr>
          <p:cNvPr id="61" name="TextBox 140"/>
          <p:cNvSpPr/>
          <p:nvPr/>
        </p:nvSpPr>
        <p:spPr>
          <a:xfrm>
            <a:off x="457200" y="4848225"/>
            <a:ext cx="80170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41"/>
              </a:lnSpc>
              <a:buNone/>
            </a:pPr>
            <a:r>
              <a:rPr lang="en-US" sz="541" dirty="0">
                <a:solidFill>
                  <a:srgbClr val="9A9FA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SDLC Agents For Enterprise</a:t>
            </a:r>
            <a:endParaRPr lang="en-US" sz="541" dirty="0"/>
          </a:p>
        </p:txBody>
      </p:sp>
      <p:sp>
        <p:nvSpPr>
          <p:cNvPr id="62" name="TextBox 142"/>
          <p:cNvSpPr/>
          <p:nvPr/>
        </p:nvSpPr>
        <p:spPr>
          <a:xfrm>
            <a:off x="8160841" y="4850606"/>
            <a:ext cx="525958" cy="61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02"/>
              </a:lnSpc>
              <a:buNone/>
            </a:pPr>
            <a:r>
              <a:rPr lang="en-US" sz="502" spc="35" kern="0" dirty="0">
                <a:solidFill>
                  <a:srgbClr val="1779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CHALLENGE</a:t>
            </a:r>
            <a:endParaRPr lang="en-US" sz="50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D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D"/>
          </a:solidFill>
          <a:ln/>
        </p:spPr>
      </p:sp>
      <p:sp>
        <p:nvSpPr>
          <p:cNvPr id="4" name="TextBox 6"/>
          <p:cNvSpPr/>
          <p:nvPr/>
        </p:nvSpPr>
        <p:spPr>
          <a:xfrm>
            <a:off x="457200" y="342900"/>
            <a:ext cx="409337" cy="93345"/>
          </a:xfrm>
          <a:prstGeom prst="roundRect">
            <a:avLst>
              <a:gd name="adj" fmla="val 26289"/>
            </a:avLst>
          </a:prstGeom>
          <a:solidFill>
            <a:srgbClr val="1779E1"/>
          </a:solidFill>
          <a:ln w="3926">
            <a:solidFill>
              <a:srgbClr val="1779E1"/>
            </a:solidFill>
            <a:prstDash val="solid"/>
          </a:ln>
        </p:spPr>
        <p:txBody>
          <a:bodyPr wrap="square" lIns="49079" tIns="14724" rIns="49079" bIns="14724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 AI Agents</a:t>
            </a:r>
            <a:endParaRPr lang="en-US" sz="464" dirty="0"/>
          </a:p>
        </p:txBody>
      </p:sp>
      <p:sp>
        <p:nvSpPr>
          <p:cNvPr id="5" name="TextBox 8"/>
          <p:cNvSpPr/>
          <p:nvPr/>
        </p:nvSpPr>
        <p:spPr>
          <a:xfrm>
            <a:off x="923687" y="342900"/>
            <a:ext cx="447437" cy="93345"/>
          </a:xfrm>
          <a:prstGeom prst="roundRect">
            <a:avLst>
              <a:gd name="adj" fmla="val 26289"/>
            </a:avLst>
          </a:prstGeom>
          <a:solidFill>
            <a:srgbClr val="008B1D"/>
          </a:solidFill>
          <a:ln w="3926">
            <a:solidFill>
              <a:srgbClr val="008B1D"/>
            </a:solidFill>
            <a:prstDash val="solid"/>
          </a:ln>
        </p:spPr>
        <p:txBody>
          <a:bodyPr wrap="square" lIns="49079" tIns="14724" rIns="49079" bIns="14724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 IDE Targets</a:t>
            </a:r>
            <a:endParaRPr lang="en-US" sz="464" dirty="0"/>
          </a:p>
        </p:txBody>
      </p:sp>
      <p:sp>
        <p:nvSpPr>
          <p:cNvPr id="6" name="TextBox 10"/>
          <p:cNvSpPr/>
          <p:nvPr/>
        </p:nvSpPr>
        <p:spPr>
          <a:xfrm>
            <a:off x="1428274" y="342900"/>
            <a:ext cx="406658" cy="93345"/>
          </a:xfrm>
          <a:prstGeom prst="roundRect">
            <a:avLst>
              <a:gd name="adj" fmla="val 26289"/>
            </a:avLst>
          </a:prstGeom>
          <a:solidFill>
            <a:srgbClr val="C08200"/>
          </a:solidFill>
          <a:ln w="3926">
            <a:solidFill>
              <a:srgbClr val="C08200"/>
            </a:solidFill>
            <a:prstDash val="solid"/>
          </a:ln>
        </p:spPr>
        <p:txBody>
          <a:bodyPr wrap="square" lIns="49079" tIns="14724" rIns="49079" bIns="14724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 KB Panels</a:t>
            </a:r>
            <a:endParaRPr lang="en-US" sz="464" dirty="0"/>
          </a:p>
        </p:txBody>
      </p:sp>
      <p:sp>
        <p:nvSpPr>
          <p:cNvPr id="7" name="TextBox 12"/>
          <p:cNvSpPr/>
          <p:nvPr/>
        </p:nvSpPr>
        <p:spPr>
          <a:xfrm>
            <a:off x="1892082" y="342900"/>
            <a:ext cx="594836" cy="93345"/>
          </a:xfrm>
          <a:prstGeom prst="roundRect">
            <a:avLst>
              <a:gd name="adj" fmla="val 26289"/>
            </a:avLst>
          </a:prstGeom>
          <a:solidFill>
            <a:srgbClr val="E6ECF2"/>
          </a:solidFill>
          <a:ln w="3926">
            <a:solidFill>
              <a:srgbClr val="E2E5E8"/>
            </a:solidFill>
            <a:prstDash val="solid"/>
          </a:ln>
        </p:spPr>
        <p:txBody>
          <a:bodyPr wrap="square" lIns="49079" tIns="14724" rIns="49079" bIns="14724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VS Code Extension</a:t>
            </a:r>
            <a:endParaRPr lang="en-US" sz="464" dirty="0"/>
          </a:p>
        </p:txBody>
      </p:sp>
      <p:sp>
        <p:nvSpPr>
          <p:cNvPr id="8" name="TextBox 15"/>
          <p:cNvSpPr/>
          <p:nvPr/>
        </p:nvSpPr>
        <p:spPr>
          <a:xfrm>
            <a:off x="457200" y="474345"/>
            <a:ext cx="822960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855" b="1" spc="-37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Solution</a:t>
            </a:r>
            <a:endParaRPr lang="en-US" sz="1855" dirty="0"/>
          </a:p>
        </p:txBody>
      </p:sp>
      <p:sp>
        <p:nvSpPr>
          <p:cNvPr id="9" name="TextBox 17"/>
          <p:cNvSpPr/>
          <p:nvPr/>
        </p:nvSpPr>
        <p:spPr>
          <a:xfrm>
            <a:off x="457200" y="813435"/>
            <a:ext cx="438150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b="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SDLC Agents 4 Enterprise</a:t>
            </a:r>
            <a:r>
              <a:rPr lang="en-US" sz="85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internal solution by the IT Team, </a:t>
            </a:r>
            <a:r>
              <a:rPr lang="en-US" sz="850" b="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SMBC VPFC</a:t>
            </a:r>
            <a:r>
              <a:rPr lang="en-US" sz="85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Company. A VS Code extension that injects 9 AI agents into any IDE and connects them to a centralized Knowledge Graph backend via MCP protocol.</a:t>
            </a:r>
            <a:endParaRPr lang="en-US" sz="850" dirty="0"/>
          </a:p>
        </p:txBody>
      </p:sp>
      <p:sp>
        <p:nvSpPr>
          <p:cNvPr id="10" name="Shape 19"/>
          <p:cNvSpPr/>
          <p:nvPr/>
        </p:nvSpPr>
        <p:spPr>
          <a:xfrm>
            <a:off x="457200" y="1551622"/>
            <a:ext cx="8229600" cy="491490"/>
          </a:xfrm>
          <a:prstGeom prst="roundRect">
            <a:avLst>
              <a:gd name="adj" fmla="val 11983"/>
            </a:avLst>
          </a:prstGeom>
          <a:solidFill>
            <a:srgbClr val="FFFFFF"/>
          </a:solidFill>
          <a:ln w="3926">
            <a:solidFill>
              <a:srgbClr val="E2E5E8"/>
            </a:solidFill>
            <a:prstDash val="solid"/>
          </a:ln>
        </p:spPr>
      </p:sp>
      <p:sp>
        <p:nvSpPr>
          <p:cNvPr id="11" name="TextBox 23"/>
          <p:cNvSpPr/>
          <p:nvPr/>
        </p:nvSpPr>
        <p:spPr>
          <a:xfrm>
            <a:off x="2166699" y="1650682"/>
            <a:ext cx="1042690" cy="293370"/>
          </a:xfrm>
          <a:prstGeom prst="roundRect">
            <a:avLst>
              <a:gd name="adj" fmla="val 16729"/>
            </a:avLst>
          </a:prstGeom>
          <a:solidFill>
            <a:srgbClr val="1779E1"/>
          </a:solidFill>
          <a:ln w="3926">
            <a:solidFill>
              <a:srgbClr val="1779E1"/>
            </a:solidFill>
            <a:prstDash val="solid"/>
          </a:ln>
        </p:spPr>
        <p:txBody>
          <a:bodyPr wrap="square" lIns="78527" tIns="58895" rIns="78527" bIns="58895" rtlCol="0" anchor="t">
            <a:spAutoFit/>
          </a:bodyPr>
          <a:lstStyle/>
          <a:p>
            <a:pPr algn="ctr" indent="0" marL="0">
              <a:lnSpc>
                <a:spcPts val="541"/>
              </a:lnSpc>
              <a:buNone/>
            </a:pPr>
            <a:r>
              <a:rPr lang="en-US" sz="618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 AI Agents</a:t>
            </a:r>
            <a:r>
              <a:rPr lang="en-US" sz="618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r>
              <a:rPr lang="en-US" sz="386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SM · BA · TA · SA · QA</a:t>
            </a:r>
            <a:endParaRPr lang="en-US" sz="618" dirty="0"/>
          </a:p>
          <a:p>
            <a:pPr algn="ctr" indent="0" marL="0">
              <a:lnSpc>
                <a:spcPts val="541"/>
              </a:lnSpc>
              <a:buNone/>
            </a:pPr>
            <a:r>
              <a:rPr lang="en-US" sz="386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DEV · DevOps · UI · Security</a:t>
            </a:r>
            <a:endParaRPr lang="en-US" sz="618" dirty="0"/>
          </a:p>
        </p:txBody>
      </p:sp>
      <p:sp>
        <p:nvSpPr>
          <p:cNvPr id="12" name="TextBox 25"/>
          <p:cNvSpPr/>
          <p:nvPr/>
        </p:nvSpPr>
        <p:spPr>
          <a:xfrm>
            <a:off x="3285589" y="1749742"/>
            <a:ext cx="8221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73"/>
              </a:lnSpc>
              <a:buNone/>
            </a:pPr>
            <a:r>
              <a:rPr lang="en-US" sz="773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773" dirty="0"/>
          </a:p>
        </p:txBody>
      </p:sp>
      <p:sp>
        <p:nvSpPr>
          <p:cNvPr id="13" name="Shape 27"/>
          <p:cNvSpPr/>
          <p:nvPr/>
        </p:nvSpPr>
        <p:spPr>
          <a:xfrm>
            <a:off x="3444002" y="1674495"/>
            <a:ext cx="649128" cy="245745"/>
          </a:xfrm>
          <a:prstGeom prst="roundRect">
            <a:avLst>
              <a:gd name="adj" fmla="val 19972"/>
            </a:avLst>
          </a:prstGeom>
          <a:solidFill>
            <a:srgbClr val="1779E1"/>
          </a:solidFill>
          <a:ln w="3926">
            <a:solidFill>
              <a:srgbClr val="1779E1"/>
            </a:solidFill>
            <a:prstDash val="solid"/>
          </a:ln>
        </p:spPr>
      </p:sp>
      <p:sp>
        <p:nvSpPr>
          <p:cNvPr id="14" name="TextBox 29"/>
          <p:cNvSpPr/>
          <p:nvPr/>
        </p:nvSpPr>
        <p:spPr>
          <a:xfrm>
            <a:off x="3524012" y="1720215"/>
            <a:ext cx="489109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618"/>
              </a:lnSpc>
              <a:buNone/>
            </a:pPr>
            <a:r>
              <a:rPr lang="en-US" sz="618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IDE Extension</a:t>
            </a:r>
            <a:endParaRPr lang="en-US" sz="618" dirty="0"/>
          </a:p>
        </p:txBody>
      </p:sp>
      <p:sp>
        <p:nvSpPr>
          <p:cNvPr id="15" name="TextBox 31"/>
          <p:cNvSpPr/>
          <p:nvPr/>
        </p:nvSpPr>
        <p:spPr>
          <a:xfrm>
            <a:off x="3524012" y="1811655"/>
            <a:ext cx="489109" cy="47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386"/>
              </a:lnSpc>
              <a:buNone/>
            </a:pPr>
            <a:r>
              <a:rPr lang="en-US" sz="386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Injector + MCP</a:t>
            </a:r>
            <a:endParaRPr lang="en-US" sz="386" dirty="0"/>
          </a:p>
        </p:txBody>
      </p:sp>
      <p:sp>
        <p:nvSpPr>
          <p:cNvPr id="16" name="TextBox 33"/>
          <p:cNvSpPr/>
          <p:nvPr/>
        </p:nvSpPr>
        <p:spPr>
          <a:xfrm>
            <a:off x="3881795" y="1611630"/>
            <a:ext cx="245626" cy="62865"/>
          </a:xfrm>
          <a:prstGeom prst="roundRect">
            <a:avLst>
              <a:gd name="adj" fmla="val 31228"/>
            </a:avLst>
          </a:prstGeom>
          <a:solidFill>
            <a:srgbClr val="C08200"/>
          </a:solidFill>
          <a:ln/>
        </p:spPr>
        <p:txBody>
          <a:bodyPr wrap="none" lIns="29448" tIns="4908" rIns="29448" bIns="4908" rtlCol="0" anchor="t">
            <a:spAutoFit/>
          </a:bodyPr>
          <a:lstStyle/>
          <a:p>
            <a:pPr algn="ctr" indent="0" marL="0">
              <a:lnSpc>
                <a:spcPts val="433"/>
              </a:lnSpc>
              <a:buNone/>
            </a:pPr>
            <a:r>
              <a:rPr lang="en-US" sz="309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 IDE swap</a:t>
            </a:r>
            <a:endParaRPr lang="en-US" sz="309" dirty="0"/>
          </a:p>
        </p:txBody>
      </p:sp>
      <p:sp>
        <p:nvSpPr>
          <p:cNvPr id="17" name="TextBox 36"/>
          <p:cNvSpPr/>
          <p:nvPr/>
        </p:nvSpPr>
        <p:spPr>
          <a:xfrm>
            <a:off x="4169330" y="1749742"/>
            <a:ext cx="822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73"/>
              </a:lnSpc>
              <a:buNone/>
            </a:pPr>
            <a:r>
              <a:rPr lang="en-US" sz="773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773" dirty="0"/>
          </a:p>
        </p:txBody>
      </p:sp>
      <p:sp>
        <p:nvSpPr>
          <p:cNvPr id="18" name="TextBox 38"/>
          <p:cNvSpPr/>
          <p:nvPr/>
        </p:nvSpPr>
        <p:spPr>
          <a:xfrm>
            <a:off x="4327743" y="1660207"/>
            <a:ext cx="692289" cy="274320"/>
          </a:xfrm>
          <a:prstGeom prst="roundRect">
            <a:avLst>
              <a:gd name="adj" fmla="val 17891"/>
            </a:avLst>
          </a:prstGeom>
          <a:solidFill>
            <a:srgbClr val="1779E1"/>
          </a:solidFill>
          <a:ln w="3926">
            <a:solidFill>
              <a:srgbClr val="1779E1"/>
            </a:solidFill>
            <a:prstDash val="solid"/>
          </a:ln>
        </p:spPr>
        <p:txBody>
          <a:bodyPr wrap="square" lIns="78527" tIns="58895" rIns="78527" bIns="58895" rtlCol="0" anchor="t">
            <a:spAutoFit/>
          </a:bodyPr>
          <a:lstStyle/>
          <a:p>
            <a:pPr algn="ctr" indent="0" marL="0">
              <a:lnSpc>
                <a:spcPts val="618"/>
              </a:lnSpc>
              <a:buNone/>
            </a:pPr>
            <a:r>
              <a:rPr lang="en-US" sz="618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Backend Server</a:t>
            </a:r>
            <a:endParaRPr lang="en-US" sz="618" dirty="0"/>
          </a:p>
          <a:p>
            <a:pPr algn="ctr" indent="0" marL="0">
              <a:lnSpc>
                <a:spcPts val="386"/>
              </a:lnSpc>
              <a:buNone/>
            </a:pPr>
            <a:r>
              <a:rPr lang="en-US" sz="386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Hono + MCP SDK :48721</a:t>
            </a:r>
            <a:endParaRPr lang="en-US" sz="618" dirty="0"/>
          </a:p>
        </p:txBody>
      </p:sp>
      <p:sp>
        <p:nvSpPr>
          <p:cNvPr id="19" name="TextBox 40"/>
          <p:cNvSpPr/>
          <p:nvPr/>
        </p:nvSpPr>
        <p:spPr>
          <a:xfrm>
            <a:off x="5096232" y="1749742"/>
            <a:ext cx="8221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73"/>
              </a:lnSpc>
              <a:buNone/>
            </a:pPr>
            <a:r>
              <a:rPr lang="en-US" sz="773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773" dirty="0"/>
          </a:p>
        </p:txBody>
      </p:sp>
      <p:sp>
        <p:nvSpPr>
          <p:cNvPr id="20" name="TextBox 42"/>
          <p:cNvSpPr/>
          <p:nvPr/>
        </p:nvSpPr>
        <p:spPr>
          <a:xfrm>
            <a:off x="5254645" y="1660207"/>
            <a:ext cx="708839" cy="274320"/>
          </a:xfrm>
          <a:prstGeom prst="roundRect">
            <a:avLst>
              <a:gd name="adj" fmla="val 17891"/>
            </a:avLst>
          </a:prstGeom>
          <a:solidFill>
            <a:srgbClr val="1779E1"/>
          </a:solidFill>
          <a:ln w="3926">
            <a:solidFill>
              <a:srgbClr val="1779E1"/>
            </a:solidFill>
            <a:prstDash val="solid"/>
          </a:ln>
        </p:spPr>
        <p:txBody>
          <a:bodyPr wrap="square" lIns="78527" tIns="58895" rIns="78527" bIns="58895" rtlCol="0" anchor="t">
            <a:spAutoFit/>
          </a:bodyPr>
          <a:lstStyle/>
          <a:p>
            <a:pPr algn="ctr" indent="0" marL="0">
              <a:lnSpc>
                <a:spcPts val="618"/>
              </a:lnSpc>
              <a:buNone/>
            </a:pPr>
            <a:r>
              <a:rPr lang="en-US" sz="618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ModuleRegistry</a:t>
            </a:r>
            <a:endParaRPr lang="en-US" sz="618" dirty="0"/>
          </a:p>
          <a:p>
            <a:pPr algn="ctr" indent="0" marL="0">
              <a:lnSpc>
                <a:spcPts val="386"/>
              </a:lnSpc>
              <a:buNone/>
            </a:pPr>
            <a:r>
              <a:rPr lang="en-US" sz="386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 modules plugin</a:t>
            </a:r>
            <a:endParaRPr lang="en-US" sz="618" dirty="0"/>
          </a:p>
        </p:txBody>
      </p:sp>
      <p:sp>
        <p:nvSpPr>
          <p:cNvPr id="21" name="TextBox 44"/>
          <p:cNvSpPr/>
          <p:nvPr/>
        </p:nvSpPr>
        <p:spPr>
          <a:xfrm>
            <a:off x="6039683" y="1749742"/>
            <a:ext cx="8221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73"/>
              </a:lnSpc>
              <a:buNone/>
            </a:pPr>
            <a:r>
              <a:rPr lang="en-US" sz="773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773" dirty="0"/>
          </a:p>
        </p:txBody>
      </p:sp>
      <p:sp>
        <p:nvSpPr>
          <p:cNvPr id="22" name="TextBox 46"/>
          <p:cNvSpPr/>
          <p:nvPr/>
        </p:nvSpPr>
        <p:spPr>
          <a:xfrm>
            <a:off x="6198096" y="1660207"/>
            <a:ext cx="779205" cy="274320"/>
          </a:xfrm>
          <a:prstGeom prst="roundRect">
            <a:avLst>
              <a:gd name="adj" fmla="val 17891"/>
            </a:avLst>
          </a:prstGeom>
          <a:solidFill>
            <a:srgbClr val="1779E1"/>
          </a:solidFill>
          <a:ln w="3926">
            <a:solidFill>
              <a:srgbClr val="1779E1"/>
            </a:solidFill>
            <a:prstDash val="solid"/>
          </a:ln>
        </p:spPr>
        <p:txBody>
          <a:bodyPr wrap="square" lIns="78527" tIns="58895" rIns="78527" bIns="58895" rtlCol="0" anchor="t">
            <a:spAutoFit/>
          </a:bodyPr>
          <a:lstStyle/>
          <a:p>
            <a:pPr algn="ctr" indent="0" marL="0">
              <a:lnSpc>
                <a:spcPts val="618"/>
              </a:lnSpc>
              <a:buNone/>
            </a:pPr>
            <a:r>
              <a:rPr lang="en-US" sz="618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Knowledge Graph</a:t>
            </a:r>
            <a:endParaRPr lang="en-US" sz="618" dirty="0"/>
          </a:p>
          <a:p>
            <a:pPr algn="ctr" indent="0" marL="0">
              <a:lnSpc>
                <a:spcPts val="386"/>
              </a:lnSpc>
              <a:buNone/>
            </a:pPr>
            <a:r>
              <a:rPr lang="en-US" sz="386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 webview panels</a:t>
            </a:r>
            <a:endParaRPr lang="en-US" sz="618" dirty="0"/>
          </a:p>
        </p:txBody>
      </p:sp>
      <p:sp>
        <p:nvSpPr>
          <p:cNvPr id="23" name="Shape 52"/>
          <p:cNvSpPr/>
          <p:nvPr/>
        </p:nvSpPr>
        <p:spPr>
          <a:xfrm>
            <a:off x="457200" y="2109787"/>
            <a:ext cx="1985962" cy="1576387"/>
          </a:xfrm>
          <a:prstGeom prst="roundRect">
            <a:avLst>
              <a:gd name="adj" fmla="val 3736"/>
            </a:avLst>
          </a:prstGeom>
          <a:solidFill>
            <a:srgbClr val="FFFFFF"/>
          </a:solidFill>
          <a:ln/>
        </p:spPr>
      </p:sp>
      <p:pic>
        <p:nvPicPr>
          <p:cNvPr id="24" name="Picture 52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2109787"/>
            <a:ext cx="1985962" cy="1576387"/>
          </a:xfrm>
          <a:prstGeom prst="rect">
            <a:avLst/>
          </a:prstGeom>
        </p:spPr>
      </p:pic>
      <p:sp>
        <p:nvSpPr>
          <p:cNvPr id="25" name="TextBox 57"/>
          <p:cNvSpPr/>
          <p:nvPr/>
        </p:nvSpPr>
        <p:spPr>
          <a:xfrm>
            <a:off x="689610" y="2203132"/>
            <a:ext cx="526435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854"/>
              </a:lnSpc>
              <a:spcAft>
                <a:spcPts val="232"/>
              </a:spcAft>
              <a:buNone/>
            </a:pPr>
            <a:r>
              <a:rPr lang="en-US" sz="657" b="1" spc="-7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 SDLC Agents</a:t>
            </a:r>
            <a:endParaRPr lang="en-US" sz="657" dirty="0"/>
          </a:p>
        </p:txBody>
      </p:sp>
      <p:pic>
        <p:nvPicPr>
          <p:cNvPr id="26" name="Picture 56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6260" y="2211943"/>
            <a:ext cx="95250" cy="95250"/>
          </a:xfrm>
          <a:prstGeom prst="rect">
            <a:avLst/>
          </a:prstGeom>
        </p:spPr>
      </p:pic>
      <p:sp>
        <p:nvSpPr>
          <p:cNvPr id="27" name="TextBox 59"/>
          <p:cNvSpPr/>
          <p:nvPr/>
        </p:nvSpPr>
        <p:spPr>
          <a:xfrm>
            <a:off x="556260" y="2340769"/>
            <a:ext cx="1787843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89"/>
              </a:lnSpc>
              <a:buNone/>
            </a:pPr>
            <a:r>
              <a:rPr lang="en-US" sz="618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Full software team in your IDE — agentic SDLC pipeline from Jira ticket to deployment.</a:t>
            </a:r>
            <a:endParaRPr lang="en-US" sz="618" dirty="0"/>
          </a:p>
        </p:txBody>
      </p:sp>
      <p:sp>
        <p:nvSpPr>
          <p:cNvPr id="28" name="TextBox 63"/>
          <p:cNvSpPr/>
          <p:nvPr/>
        </p:nvSpPr>
        <p:spPr>
          <a:xfrm>
            <a:off x="556260" y="2622709"/>
            <a:ext cx="583228" cy="311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38"/>
              </a:lnSpc>
              <a:buNone/>
            </a:pPr>
            <a:r>
              <a:rPr lang="en-US" sz="425" b="1" dirty="0">
                <a:solidFill>
                  <a:srgbClr val="1779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SM</a:t>
            </a:r>
            <a:r>
              <a:rPr lang="en-US" sz="425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Scrum Master</a:t>
            </a:r>
            <a:endParaRPr lang="en-US" sz="425" dirty="0"/>
          </a:p>
        </p:txBody>
      </p:sp>
      <p:sp>
        <p:nvSpPr>
          <p:cNvPr id="29" name="TextBox 65"/>
          <p:cNvSpPr/>
          <p:nvPr/>
        </p:nvSpPr>
        <p:spPr>
          <a:xfrm>
            <a:off x="1158538" y="2622709"/>
            <a:ext cx="583228" cy="311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38"/>
              </a:lnSpc>
              <a:buNone/>
            </a:pPr>
            <a:r>
              <a:rPr lang="en-US" sz="425" b="1" dirty="0">
                <a:solidFill>
                  <a:srgbClr val="008B1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</a:t>
            </a:r>
            <a:r>
              <a:rPr lang="en-US" sz="425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Business Analyst</a:t>
            </a:r>
            <a:endParaRPr lang="en-US" sz="425" dirty="0"/>
          </a:p>
        </p:txBody>
      </p:sp>
      <p:sp>
        <p:nvSpPr>
          <p:cNvPr id="30" name="TextBox 67"/>
          <p:cNvSpPr/>
          <p:nvPr/>
        </p:nvSpPr>
        <p:spPr>
          <a:xfrm>
            <a:off x="1760815" y="2622709"/>
            <a:ext cx="583227" cy="311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38"/>
              </a:lnSpc>
              <a:buNone/>
            </a:pPr>
            <a:r>
              <a:rPr lang="en-US" sz="425" b="1" dirty="0">
                <a:solidFill>
                  <a:srgbClr val="C082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TA</a:t>
            </a:r>
            <a:r>
              <a:rPr lang="en-US" sz="425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Technical Analyst</a:t>
            </a:r>
            <a:endParaRPr lang="en-US" sz="425" dirty="0"/>
          </a:p>
        </p:txBody>
      </p:sp>
      <p:sp>
        <p:nvSpPr>
          <p:cNvPr id="31" name="TextBox 69"/>
          <p:cNvSpPr/>
          <p:nvPr/>
        </p:nvSpPr>
        <p:spPr>
          <a:xfrm>
            <a:off x="556260" y="2953702"/>
            <a:ext cx="583228" cy="311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38"/>
              </a:lnSpc>
              <a:buNone/>
            </a:pPr>
            <a:r>
              <a:rPr lang="en-US" sz="425" b="1" dirty="0">
                <a:solidFill>
                  <a:srgbClr val="1779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</a:t>
            </a:r>
            <a:r>
              <a:rPr lang="en-US" sz="425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Solution Architect</a:t>
            </a:r>
            <a:endParaRPr lang="en-US" sz="425" dirty="0"/>
          </a:p>
        </p:txBody>
      </p:sp>
      <p:sp>
        <p:nvSpPr>
          <p:cNvPr id="32" name="TextBox 71"/>
          <p:cNvSpPr/>
          <p:nvPr/>
        </p:nvSpPr>
        <p:spPr>
          <a:xfrm>
            <a:off x="1158538" y="2953702"/>
            <a:ext cx="583228" cy="311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38"/>
              </a:lnSpc>
              <a:buNone/>
            </a:pPr>
            <a:r>
              <a:rPr lang="en-US" sz="425" b="1" dirty="0">
                <a:solidFill>
                  <a:srgbClr val="008B1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QA</a:t>
            </a:r>
            <a:r>
              <a:rPr lang="en-US" sz="425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Quality Assurance</a:t>
            </a:r>
            <a:endParaRPr lang="en-US" sz="425" dirty="0"/>
          </a:p>
        </p:txBody>
      </p:sp>
      <p:sp>
        <p:nvSpPr>
          <p:cNvPr id="33" name="TextBox 73"/>
          <p:cNvSpPr/>
          <p:nvPr/>
        </p:nvSpPr>
        <p:spPr>
          <a:xfrm>
            <a:off x="1760815" y="2953702"/>
            <a:ext cx="583227" cy="311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38"/>
              </a:lnSpc>
              <a:buNone/>
            </a:pPr>
            <a:r>
              <a:rPr lang="en-US" sz="425" b="1" dirty="0">
                <a:solidFill>
                  <a:srgbClr val="C082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DEV</a:t>
            </a:r>
            <a:r>
              <a:rPr lang="en-US" sz="425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Developer</a:t>
            </a:r>
            <a:endParaRPr lang="en-US" sz="425" dirty="0"/>
          </a:p>
        </p:txBody>
      </p:sp>
      <p:sp>
        <p:nvSpPr>
          <p:cNvPr id="34" name="TextBox 75"/>
          <p:cNvSpPr/>
          <p:nvPr/>
        </p:nvSpPr>
        <p:spPr>
          <a:xfrm>
            <a:off x="556260" y="3284696"/>
            <a:ext cx="583228" cy="311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38"/>
              </a:lnSpc>
              <a:buNone/>
            </a:pPr>
            <a:r>
              <a:rPr lang="en-US" sz="425" b="1" dirty="0">
                <a:solidFill>
                  <a:srgbClr val="1779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DevOps</a:t>
            </a:r>
            <a:r>
              <a:rPr lang="en-US" sz="425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Deployment</a:t>
            </a:r>
            <a:endParaRPr lang="en-US" sz="425" dirty="0"/>
          </a:p>
        </p:txBody>
      </p:sp>
      <p:sp>
        <p:nvSpPr>
          <p:cNvPr id="35" name="TextBox 77"/>
          <p:cNvSpPr/>
          <p:nvPr/>
        </p:nvSpPr>
        <p:spPr>
          <a:xfrm>
            <a:off x="1158538" y="3284696"/>
            <a:ext cx="583228" cy="311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38"/>
              </a:lnSpc>
              <a:buNone/>
            </a:pPr>
            <a:r>
              <a:rPr lang="en-US" sz="425" b="1" dirty="0">
                <a:solidFill>
                  <a:srgbClr val="008B1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UI</a:t>
            </a:r>
            <a:r>
              <a:rPr lang="en-US" sz="425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UI Designer</a:t>
            </a:r>
            <a:endParaRPr lang="en-US" sz="425" dirty="0"/>
          </a:p>
        </p:txBody>
      </p:sp>
      <p:sp>
        <p:nvSpPr>
          <p:cNvPr id="36" name="TextBox 79"/>
          <p:cNvSpPr/>
          <p:nvPr/>
        </p:nvSpPr>
        <p:spPr>
          <a:xfrm>
            <a:off x="1760815" y="3284696"/>
            <a:ext cx="583227" cy="311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38"/>
              </a:lnSpc>
              <a:buNone/>
            </a:pPr>
            <a:r>
              <a:rPr lang="en-US" sz="425" b="1" dirty="0">
                <a:solidFill>
                  <a:srgbClr val="C082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Security</a:t>
            </a:r>
            <a:r>
              <a:rPr lang="en-US" sz="425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Review</a:t>
            </a:r>
            <a:endParaRPr lang="en-US" sz="425" dirty="0"/>
          </a:p>
        </p:txBody>
      </p:sp>
      <p:sp>
        <p:nvSpPr>
          <p:cNvPr id="37" name="Shape 83"/>
          <p:cNvSpPr/>
          <p:nvPr/>
        </p:nvSpPr>
        <p:spPr>
          <a:xfrm>
            <a:off x="2538412" y="2109787"/>
            <a:ext cx="1985962" cy="1576387"/>
          </a:xfrm>
          <a:prstGeom prst="roundRect">
            <a:avLst>
              <a:gd name="adj" fmla="val 3736"/>
            </a:avLst>
          </a:prstGeom>
          <a:solidFill>
            <a:srgbClr val="FFFFFF"/>
          </a:solidFill>
          <a:ln/>
        </p:spPr>
      </p:sp>
      <p:pic>
        <p:nvPicPr>
          <p:cNvPr id="38" name="Picture 83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38412" y="2109787"/>
            <a:ext cx="1985962" cy="1576387"/>
          </a:xfrm>
          <a:prstGeom prst="rect">
            <a:avLst/>
          </a:prstGeom>
        </p:spPr>
      </p:pic>
      <p:sp>
        <p:nvSpPr>
          <p:cNvPr id="39" name="TextBox 88"/>
          <p:cNvSpPr/>
          <p:nvPr/>
        </p:nvSpPr>
        <p:spPr>
          <a:xfrm>
            <a:off x="2770822" y="2203132"/>
            <a:ext cx="88898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854"/>
              </a:lnSpc>
              <a:spcAft>
                <a:spcPts val="232"/>
              </a:spcAft>
              <a:buNone/>
            </a:pPr>
            <a:r>
              <a:rPr lang="en-US" sz="657" b="1" spc="-7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Multi-IDE Platform Swap</a:t>
            </a:r>
            <a:endParaRPr lang="en-US" sz="657" dirty="0"/>
          </a:p>
        </p:txBody>
      </p:sp>
      <p:pic>
        <p:nvPicPr>
          <p:cNvPr id="40" name="Picture 87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37472" y="2211943"/>
            <a:ext cx="95250" cy="95250"/>
          </a:xfrm>
          <a:prstGeom prst="rect">
            <a:avLst/>
          </a:prstGeom>
        </p:spPr>
      </p:pic>
      <p:sp>
        <p:nvSpPr>
          <p:cNvPr id="41" name="TextBox 90"/>
          <p:cNvSpPr/>
          <p:nvPr/>
        </p:nvSpPr>
        <p:spPr>
          <a:xfrm>
            <a:off x="2637472" y="2340769"/>
            <a:ext cx="1787843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89"/>
              </a:lnSpc>
              <a:buNone/>
            </a:pPr>
            <a:r>
              <a:rPr lang="en-US" sz="618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Inject 9 agents into your IDE of choice with one command — no manual migration.</a:t>
            </a:r>
            <a:endParaRPr lang="en-US" sz="618" dirty="0"/>
          </a:p>
        </p:txBody>
      </p:sp>
      <p:sp>
        <p:nvSpPr>
          <p:cNvPr id="42" name="Shape 95"/>
          <p:cNvSpPr/>
          <p:nvPr/>
        </p:nvSpPr>
        <p:spPr>
          <a:xfrm>
            <a:off x="2637472" y="2647712"/>
            <a:ext cx="28575" cy="28575"/>
          </a:xfrm>
          <a:prstGeom prst="ellipse">
            <a:avLst/>
          </a:prstGeom>
          <a:solidFill>
            <a:srgbClr val="1779E1"/>
          </a:solidFill>
          <a:ln/>
        </p:spPr>
      </p:sp>
      <p:sp>
        <p:nvSpPr>
          <p:cNvPr id="43" name="TextBox 96"/>
          <p:cNvSpPr/>
          <p:nvPr/>
        </p:nvSpPr>
        <p:spPr>
          <a:xfrm>
            <a:off x="2694622" y="2622709"/>
            <a:ext cx="828735" cy="78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38"/>
              </a:lnSpc>
              <a:buNone/>
            </a:pPr>
            <a:r>
              <a:rPr lang="en-US" sz="425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Kiro</a:t>
            </a:r>
            <a:r>
              <a:rPr lang="en-US" sz="425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.kiro/agents/, .kiro/steering/</a:t>
            </a:r>
            <a:endParaRPr lang="en-US" sz="425" dirty="0"/>
          </a:p>
        </p:txBody>
      </p:sp>
      <p:sp>
        <p:nvSpPr>
          <p:cNvPr id="44" name="Shape 99"/>
          <p:cNvSpPr/>
          <p:nvPr/>
        </p:nvSpPr>
        <p:spPr>
          <a:xfrm>
            <a:off x="2637472" y="2750106"/>
            <a:ext cx="28575" cy="28575"/>
          </a:xfrm>
          <a:prstGeom prst="ellipse">
            <a:avLst/>
          </a:prstGeom>
          <a:solidFill>
            <a:srgbClr val="008B1D"/>
          </a:solidFill>
          <a:ln/>
        </p:spPr>
      </p:sp>
      <p:sp>
        <p:nvSpPr>
          <p:cNvPr id="45" name="TextBox 100"/>
          <p:cNvSpPr/>
          <p:nvPr/>
        </p:nvSpPr>
        <p:spPr>
          <a:xfrm>
            <a:off x="2694622" y="2725102"/>
            <a:ext cx="874514" cy="78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38"/>
              </a:lnSpc>
              <a:buNone/>
            </a:pPr>
            <a:r>
              <a:rPr lang="en-US" sz="425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VS Code / Copilot</a:t>
            </a:r>
            <a:r>
              <a:rPr lang="en-US" sz="425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.github/agents/</a:t>
            </a:r>
            <a:endParaRPr lang="en-US" sz="425" dirty="0"/>
          </a:p>
        </p:txBody>
      </p:sp>
      <p:sp>
        <p:nvSpPr>
          <p:cNvPr id="46" name="Shape 103"/>
          <p:cNvSpPr/>
          <p:nvPr/>
        </p:nvSpPr>
        <p:spPr>
          <a:xfrm>
            <a:off x="2637472" y="2852499"/>
            <a:ext cx="28575" cy="28575"/>
          </a:xfrm>
          <a:prstGeom prst="ellipse">
            <a:avLst/>
          </a:prstGeom>
          <a:solidFill>
            <a:srgbClr val="C08200"/>
          </a:solidFill>
          <a:ln/>
        </p:spPr>
      </p:sp>
      <p:sp>
        <p:nvSpPr>
          <p:cNvPr id="47" name="TextBox 104"/>
          <p:cNvSpPr/>
          <p:nvPr/>
        </p:nvSpPr>
        <p:spPr>
          <a:xfrm>
            <a:off x="2694622" y="2827496"/>
            <a:ext cx="1051084" cy="78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38"/>
              </a:lnSpc>
              <a:buNone/>
            </a:pPr>
            <a:r>
              <a:rPr lang="en-US" sz="425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Claude Code</a:t>
            </a:r>
            <a:r>
              <a:rPr lang="en-US" sz="425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.claude/agents/, CLAUDE.md</a:t>
            </a:r>
            <a:endParaRPr lang="en-US" sz="425" dirty="0"/>
          </a:p>
        </p:txBody>
      </p:sp>
      <p:sp>
        <p:nvSpPr>
          <p:cNvPr id="48" name="Shape 107"/>
          <p:cNvSpPr/>
          <p:nvPr/>
        </p:nvSpPr>
        <p:spPr>
          <a:xfrm>
            <a:off x="2637472" y="2954893"/>
            <a:ext cx="28575" cy="28575"/>
          </a:xfrm>
          <a:prstGeom prst="ellipse">
            <a:avLst/>
          </a:prstGeom>
          <a:solidFill>
            <a:srgbClr val="1779E1"/>
          </a:solidFill>
          <a:ln/>
        </p:spPr>
      </p:sp>
      <p:sp>
        <p:nvSpPr>
          <p:cNvPr id="49" name="TextBox 108"/>
          <p:cNvSpPr/>
          <p:nvPr/>
        </p:nvSpPr>
        <p:spPr>
          <a:xfrm>
            <a:off x="2694622" y="2929890"/>
            <a:ext cx="749379" cy="78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38"/>
              </a:lnSpc>
              <a:buNone/>
            </a:pPr>
            <a:r>
              <a:rPr lang="en-US" sz="425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Codex / OpenAI</a:t>
            </a:r>
            <a:r>
              <a:rPr lang="en-US" sz="425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AGENTS.md</a:t>
            </a:r>
            <a:endParaRPr lang="en-US" sz="425" dirty="0"/>
          </a:p>
        </p:txBody>
      </p:sp>
      <p:sp>
        <p:nvSpPr>
          <p:cNvPr id="50" name="Shape 111"/>
          <p:cNvSpPr/>
          <p:nvPr/>
        </p:nvSpPr>
        <p:spPr>
          <a:xfrm>
            <a:off x="2637472" y="3057287"/>
            <a:ext cx="28575" cy="28575"/>
          </a:xfrm>
          <a:prstGeom prst="ellipse">
            <a:avLst/>
          </a:prstGeom>
          <a:solidFill>
            <a:srgbClr val="008B1D"/>
          </a:solidFill>
          <a:ln/>
        </p:spPr>
      </p:sp>
      <p:sp>
        <p:nvSpPr>
          <p:cNvPr id="51" name="TextBox 112"/>
          <p:cNvSpPr/>
          <p:nvPr/>
        </p:nvSpPr>
        <p:spPr>
          <a:xfrm>
            <a:off x="2694622" y="3032284"/>
            <a:ext cx="605671" cy="78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38"/>
              </a:lnSpc>
              <a:buNone/>
            </a:pPr>
            <a:r>
              <a:rPr lang="en-US" sz="425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OpenCode + AntiGravity</a:t>
            </a:r>
            <a:endParaRPr lang="en-US" sz="425" dirty="0"/>
          </a:p>
        </p:txBody>
      </p:sp>
      <p:sp>
        <p:nvSpPr>
          <p:cNvPr id="52" name="Shape 116"/>
          <p:cNvSpPr/>
          <p:nvPr/>
        </p:nvSpPr>
        <p:spPr>
          <a:xfrm>
            <a:off x="4619625" y="2109787"/>
            <a:ext cx="1985962" cy="1576387"/>
          </a:xfrm>
          <a:prstGeom prst="roundRect">
            <a:avLst>
              <a:gd name="adj" fmla="val 3736"/>
            </a:avLst>
          </a:prstGeom>
          <a:solidFill>
            <a:srgbClr val="FFFFFF"/>
          </a:solidFill>
          <a:ln/>
        </p:spPr>
      </p:sp>
      <p:pic>
        <p:nvPicPr>
          <p:cNvPr id="53" name="Picture 116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19625" y="2109787"/>
            <a:ext cx="1985962" cy="1576387"/>
          </a:xfrm>
          <a:prstGeom prst="rect">
            <a:avLst/>
          </a:prstGeom>
        </p:spPr>
      </p:pic>
      <p:sp>
        <p:nvSpPr>
          <p:cNvPr id="54" name="TextBox 121"/>
          <p:cNvSpPr/>
          <p:nvPr/>
        </p:nvSpPr>
        <p:spPr>
          <a:xfrm>
            <a:off x="4852035" y="2203132"/>
            <a:ext cx="970895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854"/>
              </a:lnSpc>
              <a:spcAft>
                <a:spcPts val="232"/>
              </a:spcAft>
              <a:buNone/>
            </a:pPr>
            <a:r>
              <a:rPr lang="en-US" sz="657" b="1" spc="-7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Knowledge Graph Backend</a:t>
            </a:r>
            <a:endParaRPr lang="en-US" sz="657" dirty="0"/>
          </a:p>
        </p:txBody>
      </p:sp>
      <p:pic>
        <p:nvPicPr>
          <p:cNvPr id="55" name="Picture 120" descr="__type_imag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18685" y="2211943"/>
            <a:ext cx="95250" cy="95250"/>
          </a:xfrm>
          <a:prstGeom prst="rect">
            <a:avLst/>
          </a:prstGeom>
        </p:spPr>
      </p:pic>
      <p:sp>
        <p:nvSpPr>
          <p:cNvPr id="56" name="TextBox 123"/>
          <p:cNvSpPr/>
          <p:nvPr/>
        </p:nvSpPr>
        <p:spPr>
          <a:xfrm>
            <a:off x="4718685" y="2340769"/>
            <a:ext cx="17878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89"/>
              </a:lnSpc>
              <a:buNone/>
            </a:pPr>
            <a:r>
              <a:rPr lang="en-US" sz="618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Centralized KB with 6 plugin-style modules — Memory, CodeIntel, Analytics, Graph, Orchestration, Utility.</a:t>
            </a:r>
            <a:endParaRPr lang="en-US" sz="618" dirty="0"/>
          </a:p>
        </p:txBody>
      </p:sp>
      <p:sp>
        <p:nvSpPr>
          <p:cNvPr id="57" name="Shape 128"/>
          <p:cNvSpPr/>
          <p:nvPr/>
        </p:nvSpPr>
        <p:spPr>
          <a:xfrm>
            <a:off x="4718685" y="2769632"/>
            <a:ext cx="28575" cy="28575"/>
          </a:xfrm>
          <a:prstGeom prst="ellipse">
            <a:avLst/>
          </a:prstGeom>
          <a:solidFill>
            <a:srgbClr val="C08200"/>
          </a:solidFill>
          <a:ln/>
        </p:spPr>
      </p:sp>
      <p:sp>
        <p:nvSpPr>
          <p:cNvPr id="58" name="TextBox 129"/>
          <p:cNvSpPr/>
          <p:nvPr/>
        </p:nvSpPr>
        <p:spPr>
          <a:xfrm>
            <a:off x="4775835" y="2744629"/>
            <a:ext cx="1244501" cy="78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38"/>
              </a:lnSpc>
              <a:buNone/>
            </a:pPr>
            <a:r>
              <a:rPr lang="en-US" sz="425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Dashboard</a:t>
            </a:r>
            <a:r>
              <a:rPr lang="en-US" sz="425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health score, trends, recommendations</a:t>
            </a:r>
            <a:endParaRPr lang="en-US" sz="425" dirty="0"/>
          </a:p>
        </p:txBody>
      </p:sp>
      <p:sp>
        <p:nvSpPr>
          <p:cNvPr id="59" name="Shape 132"/>
          <p:cNvSpPr/>
          <p:nvPr/>
        </p:nvSpPr>
        <p:spPr>
          <a:xfrm>
            <a:off x="4718685" y="2872025"/>
            <a:ext cx="28575" cy="28575"/>
          </a:xfrm>
          <a:prstGeom prst="ellipse">
            <a:avLst/>
          </a:prstGeom>
          <a:solidFill>
            <a:srgbClr val="C08200"/>
          </a:solidFill>
          <a:ln/>
        </p:spPr>
      </p:sp>
      <p:sp>
        <p:nvSpPr>
          <p:cNvPr id="60" name="TextBox 133"/>
          <p:cNvSpPr/>
          <p:nvPr/>
        </p:nvSpPr>
        <p:spPr>
          <a:xfrm>
            <a:off x="4775835" y="2847022"/>
            <a:ext cx="1056203" cy="78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38"/>
              </a:lnSpc>
              <a:buNone/>
            </a:pPr>
            <a:r>
              <a:rPr lang="en-US" sz="425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Graph</a:t>
            </a:r>
            <a:r>
              <a:rPr lang="en-US" sz="425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3D force-directed knowledge graph</a:t>
            </a:r>
            <a:endParaRPr lang="en-US" sz="425" dirty="0"/>
          </a:p>
        </p:txBody>
      </p:sp>
      <p:sp>
        <p:nvSpPr>
          <p:cNvPr id="61" name="Shape 136"/>
          <p:cNvSpPr/>
          <p:nvPr/>
        </p:nvSpPr>
        <p:spPr>
          <a:xfrm>
            <a:off x="4718685" y="2974419"/>
            <a:ext cx="28575" cy="28575"/>
          </a:xfrm>
          <a:prstGeom prst="ellipse">
            <a:avLst/>
          </a:prstGeom>
          <a:solidFill>
            <a:srgbClr val="C08200"/>
          </a:solidFill>
          <a:ln/>
        </p:spPr>
      </p:sp>
      <p:sp>
        <p:nvSpPr>
          <p:cNvPr id="62" name="TextBox 137"/>
          <p:cNvSpPr/>
          <p:nvPr/>
        </p:nvSpPr>
        <p:spPr>
          <a:xfrm>
            <a:off x="4775835" y="2949416"/>
            <a:ext cx="1261170" cy="78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38"/>
              </a:lnSpc>
              <a:buNone/>
            </a:pPr>
            <a:r>
              <a:rPr lang="en-US" sz="425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Tags + Quality + Analytics</a:t>
            </a:r>
            <a:r>
              <a:rPr lang="en-US" sz="425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taxonomy, scores, gaps</a:t>
            </a:r>
            <a:endParaRPr lang="en-US" sz="425" dirty="0"/>
          </a:p>
        </p:txBody>
      </p:sp>
      <p:sp>
        <p:nvSpPr>
          <p:cNvPr id="63" name="Shape 140"/>
          <p:cNvSpPr/>
          <p:nvPr/>
        </p:nvSpPr>
        <p:spPr>
          <a:xfrm>
            <a:off x="4718685" y="3076813"/>
            <a:ext cx="28575" cy="28575"/>
          </a:xfrm>
          <a:prstGeom prst="ellipse">
            <a:avLst/>
          </a:prstGeom>
          <a:solidFill>
            <a:srgbClr val="C08200"/>
          </a:solidFill>
          <a:ln/>
        </p:spPr>
      </p:sp>
      <p:sp>
        <p:nvSpPr>
          <p:cNvPr id="64" name="TextBox 141"/>
          <p:cNvSpPr/>
          <p:nvPr/>
        </p:nvSpPr>
        <p:spPr>
          <a:xfrm>
            <a:off x="4775835" y="3051810"/>
            <a:ext cx="1329094" cy="78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38"/>
              </a:lnSpc>
              <a:buNone/>
            </a:pPr>
            <a:r>
              <a:rPr lang="en-US" sz="425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Chat Panel</a:t>
            </a:r>
            <a:r>
              <a:rPr lang="en-US" sz="425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135+ LLM providers (cloud, local, gateway)</a:t>
            </a:r>
            <a:endParaRPr lang="en-US" sz="425" dirty="0"/>
          </a:p>
        </p:txBody>
      </p:sp>
      <p:sp>
        <p:nvSpPr>
          <p:cNvPr id="65" name="Shape 145"/>
          <p:cNvSpPr/>
          <p:nvPr/>
        </p:nvSpPr>
        <p:spPr>
          <a:xfrm>
            <a:off x="6700837" y="2109787"/>
            <a:ext cx="1985962" cy="1576387"/>
          </a:xfrm>
          <a:prstGeom prst="roundRect">
            <a:avLst>
              <a:gd name="adj" fmla="val 3736"/>
            </a:avLst>
          </a:prstGeom>
          <a:solidFill>
            <a:srgbClr val="FFFFFF"/>
          </a:solidFill>
          <a:ln/>
        </p:spPr>
      </p:sp>
      <p:pic>
        <p:nvPicPr>
          <p:cNvPr id="66" name="Picture 145" descr="__type_image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00837" y="2109787"/>
            <a:ext cx="1985962" cy="1576387"/>
          </a:xfrm>
          <a:prstGeom prst="rect">
            <a:avLst/>
          </a:prstGeom>
        </p:spPr>
      </p:pic>
      <p:sp>
        <p:nvSpPr>
          <p:cNvPr id="67" name="TextBox 150"/>
          <p:cNvSpPr/>
          <p:nvPr/>
        </p:nvSpPr>
        <p:spPr>
          <a:xfrm>
            <a:off x="6933247" y="2203132"/>
            <a:ext cx="762595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854"/>
              </a:lnSpc>
              <a:spcAft>
                <a:spcPts val="232"/>
              </a:spcAft>
              <a:buNone/>
            </a:pPr>
            <a:r>
              <a:rPr lang="en-US" sz="657" b="1" spc="-7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Steering &amp; Guardrails</a:t>
            </a:r>
            <a:endParaRPr lang="en-US" sz="657" dirty="0"/>
          </a:p>
        </p:txBody>
      </p:sp>
      <p:pic>
        <p:nvPicPr>
          <p:cNvPr id="68" name="Picture 149" descr="__type_image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99897" y="2211943"/>
            <a:ext cx="95250" cy="95250"/>
          </a:xfrm>
          <a:prstGeom prst="rect">
            <a:avLst/>
          </a:prstGeom>
        </p:spPr>
      </p:pic>
      <p:sp>
        <p:nvSpPr>
          <p:cNvPr id="69" name="TextBox 152"/>
          <p:cNvSpPr/>
          <p:nvPr/>
        </p:nvSpPr>
        <p:spPr>
          <a:xfrm>
            <a:off x="6799897" y="2340769"/>
            <a:ext cx="1787843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89"/>
              </a:lnSpc>
              <a:buNone/>
            </a:pPr>
            <a:r>
              <a:rPr lang="en-US" sz="618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35 steering files, 17 hooks — enforce quality gates and autonomy levels across every agent action.</a:t>
            </a:r>
            <a:endParaRPr lang="en-US" sz="618" dirty="0"/>
          </a:p>
        </p:txBody>
      </p:sp>
      <p:sp>
        <p:nvSpPr>
          <p:cNvPr id="70" name="Shape 157"/>
          <p:cNvSpPr/>
          <p:nvPr/>
        </p:nvSpPr>
        <p:spPr>
          <a:xfrm>
            <a:off x="6799897" y="2647712"/>
            <a:ext cx="28575" cy="28575"/>
          </a:xfrm>
          <a:prstGeom prst="ellipse">
            <a:avLst/>
          </a:prstGeom>
          <a:solidFill>
            <a:srgbClr val="1779E1"/>
          </a:solidFill>
          <a:ln/>
        </p:spPr>
      </p:sp>
      <p:sp>
        <p:nvSpPr>
          <p:cNvPr id="71" name="TextBox 158"/>
          <p:cNvSpPr/>
          <p:nvPr/>
        </p:nvSpPr>
        <p:spPr>
          <a:xfrm>
            <a:off x="6857047" y="2622709"/>
            <a:ext cx="1119723" cy="78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38"/>
              </a:lnSpc>
              <a:buNone/>
            </a:pPr>
            <a:r>
              <a:rPr lang="en-US" sz="425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35 steering files</a:t>
            </a:r>
            <a:r>
              <a:rPr lang="en-US" sz="425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rules, templates, boundaries</a:t>
            </a:r>
            <a:endParaRPr lang="en-US" sz="425" dirty="0"/>
          </a:p>
        </p:txBody>
      </p:sp>
      <p:sp>
        <p:nvSpPr>
          <p:cNvPr id="72" name="Shape 161"/>
          <p:cNvSpPr/>
          <p:nvPr/>
        </p:nvSpPr>
        <p:spPr>
          <a:xfrm>
            <a:off x="6799897" y="2750106"/>
            <a:ext cx="28575" cy="28575"/>
          </a:xfrm>
          <a:prstGeom prst="ellipse">
            <a:avLst/>
          </a:prstGeom>
          <a:solidFill>
            <a:srgbClr val="1779E1"/>
          </a:solidFill>
          <a:ln/>
        </p:spPr>
      </p:sp>
      <p:sp>
        <p:nvSpPr>
          <p:cNvPr id="73" name="TextBox 162"/>
          <p:cNvSpPr/>
          <p:nvPr/>
        </p:nvSpPr>
        <p:spPr>
          <a:xfrm>
            <a:off x="6857047" y="2725102"/>
            <a:ext cx="1199912" cy="78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38"/>
              </a:lnSpc>
              <a:buNone/>
            </a:pPr>
            <a:r>
              <a:rPr lang="en-US" sz="425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17 hooks</a:t>
            </a:r>
            <a:r>
              <a:rPr lang="en-US" sz="425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code indexing, drawio, KB lookup, sync</a:t>
            </a:r>
            <a:endParaRPr lang="en-US" sz="425" dirty="0"/>
          </a:p>
        </p:txBody>
      </p:sp>
      <p:sp>
        <p:nvSpPr>
          <p:cNvPr id="74" name="Shape 165"/>
          <p:cNvSpPr/>
          <p:nvPr/>
        </p:nvSpPr>
        <p:spPr>
          <a:xfrm>
            <a:off x="6799897" y="2852499"/>
            <a:ext cx="28575" cy="28575"/>
          </a:xfrm>
          <a:prstGeom prst="ellipse">
            <a:avLst/>
          </a:prstGeom>
          <a:solidFill>
            <a:srgbClr val="1779E1"/>
          </a:solidFill>
          <a:ln/>
        </p:spPr>
      </p:sp>
      <p:sp>
        <p:nvSpPr>
          <p:cNvPr id="75" name="TextBox 166"/>
          <p:cNvSpPr/>
          <p:nvPr/>
        </p:nvSpPr>
        <p:spPr>
          <a:xfrm>
            <a:off x="6857047" y="2827496"/>
            <a:ext cx="1228309" cy="78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38"/>
              </a:lnSpc>
              <a:buNone/>
            </a:pPr>
            <a:r>
              <a:rPr lang="en-US" sz="425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Circuit breaker</a:t>
            </a:r>
            <a:r>
              <a:rPr lang="en-US" sz="425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3 failures → open → 30′ cooldown</a:t>
            </a:r>
            <a:endParaRPr lang="en-US" sz="425" dirty="0"/>
          </a:p>
        </p:txBody>
      </p:sp>
      <p:sp>
        <p:nvSpPr>
          <p:cNvPr id="76" name="Shape 169"/>
          <p:cNvSpPr/>
          <p:nvPr/>
        </p:nvSpPr>
        <p:spPr>
          <a:xfrm>
            <a:off x="6799897" y="2954893"/>
            <a:ext cx="28575" cy="28575"/>
          </a:xfrm>
          <a:prstGeom prst="ellipse">
            <a:avLst/>
          </a:prstGeom>
          <a:solidFill>
            <a:srgbClr val="1779E1"/>
          </a:solidFill>
          <a:ln/>
        </p:spPr>
      </p:sp>
      <p:sp>
        <p:nvSpPr>
          <p:cNvPr id="77" name="TextBox 170"/>
          <p:cNvSpPr/>
          <p:nvPr/>
        </p:nvSpPr>
        <p:spPr>
          <a:xfrm>
            <a:off x="6857047" y="2929890"/>
            <a:ext cx="1314212" cy="78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38"/>
              </a:lnSpc>
              <a:buNone/>
            </a:pPr>
            <a:r>
              <a:rPr lang="en-US" sz="425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Autonomy L1–L3</a:t>
            </a:r>
            <a:r>
              <a:rPr lang="en-US" sz="425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supervised → semi-auto → full auto</a:t>
            </a:r>
            <a:endParaRPr lang="en-US" sz="425" dirty="0"/>
          </a:p>
        </p:txBody>
      </p:sp>
      <p:pic>
        <p:nvPicPr>
          <p:cNvPr id="78" name="Picture 177" descr="__type_image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" y="3752850"/>
            <a:ext cx="4076700" cy="1047750"/>
          </a:xfrm>
          <a:prstGeom prst="rect">
            <a:avLst/>
          </a:prstGeom>
        </p:spPr>
      </p:pic>
      <p:pic>
        <p:nvPicPr>
          <p:cNvPr id="79" name="Picture 179" descr="__type_image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10099" y="3752850"/>
            <a:ext cx="4076700" cy="1047750"/>
          </a:xfrm>
          <a:prstGeom prst="rect">
            <a:avLst/>
          </a:prstGeom>
        </p:spPr>
      </p:pic>
      <p:sp>
        <p:nvSpPr>
          <p:cNvPr id="80" name="Shape 182"/>
          <p:cNvSpPr/>
          <p:nvPr/>
        </p:nvSpPr>
        <p:spPr>
          <a:xfrm>
            <a:off x="457200" y="4730115"/>
            <a:ext cx="8229600" cy="184785"/>
          </a:xfrm>
          <a:prstGeom prst="rect">
            <a:avLst/>
          </a:prstGeom>
          <a:noFill/>
          <a:ln/>
        </p:spPr>
      </p:sp>
      <p:pic>
        <p:nvPicPr>
          <p:cNvPr id="81" name="Picture 182" descr="__type_image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57200" y="4730115"/>
            <a:ext cx="8229600" cy="184785"/>
          </a:xfrm>
          <a:prstGeom prst="rect">
            <a:avLst/>
          </a:prstGeom>
        </p:spPr>
      </p:pic>
      <p:sp>
        <p:nvSpPr>
          <p:cNvPr id="82" name="TextBox 184"/>
          <p:cNvSpPr/>
          <p:nvPr/>
        </p:nvSpPr>
        <p:spPr>
          <a:xfrm>
            <a:off x="457200" y="4848225"/>
            <a:ext cx="80170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41"/>
              </a:lnSpc>
              <a:buNone/>
            </a:pPr>
            <a:r>
              <a:rPr lang="en-US" sz="541" dirty="0">
                <a:solidFill>
                  <a:srgbClr val="9A9FA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SDLC Agents For Enterprise</a:t>
            </a:r>
            <a:endParaRPr lang="en-US" sz="541" dirty="0"/>
          </a:p>
        </p:txBody>
      </p:sp>
      <p:sp>
        <p:nvSpPr>
          <p:cNvPr id="83" name="TextBox 186"/>
          <p:cNvSpPr/>
          <p:nvPr/>
        </p:nvSpPr>
        <p:spPr>
          <a:xfrm>
            <a:off x="7988558" y="4850606"/>
            <a:ext cx="698242" cy="61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02"/>
              </a:lnSpc>
              <a:buNone/>
            </a:pPr>
            <a:r>
              <a:rPr lang="en-US" sz="502" spc="35" kern="0" dirty="0">
                <a:solidFill>
                  <a:srgbClr val="1779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SOLUTION OVERVIEW</a:t>
            </a:r>
            <a:endParaRPr lang="en-US" sz="50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D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D"/>
          </a:solidFill>
          <a:ln/>
        </p:spPr>
      </p:sp>
      <p:sp>
        <p:nvSpPr>
          <p:cNvPr id="4" name="TextBox 6"/>
          <p:cNvSpPr/>
          <p:nvPr/>
        </p:nvSpPr>
        <p:spPr>
          <a:xfrm>
            <a:off x="457200" y="342900"/>
            <a:ext cx="434935" cy="93345"/>
          </a:xfrm>
          <a:prstGeom prst="roundRect">
            <a:avLst>
              <a:gd name="adj" fmla="val 26289"/>
            </a:avLst>
          </a:prstGeom>
          <a:solidFill>
            <a:srgbClr val="1779E1"/>
          </a:solidFill>
          <a:ln w="3926">
            <a:solidFill>
              <a:srgbClr val="1779E1"/>
            </a:solidFill>
            <a:prstDash val="solid"/>
          </a:ln>
        </p:spPr>
        <p:txBody>
          <a:bodyPr wrap="square" lIns="49079" tIns="14724" rIns="49079" bIns="14724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 Languages</a:t>
            </a:r>
            <a:endParaRPr lang="en-US" sz="464" dirty="0"/>
          </a:p>
        </p:txBody>
      </p:sp>
      <p:sp>
        <p:nvSpPr>
          <p:cNvPr id="5" name="TextBox 8"/>
          <p:cNvSpPr/>
          <p:nvPr/>
        </p:nvSpPr>
        <p:spPr>
          <a:xfrm>
            <a:off x="949285" y="342900"/>
            <a:ext cx="544592" cy="93345"/>
          </a:xfrm>
          <a:prstGeom prst="roundRect">
            <a:avLst>
              <a:gd name="adj" fmla="val 26289"/>
            </a:avLst>
          </a:prstGeom>
          <a:solidFill>
            <a:srgbClr val="008B1D"/>
          </a:solidFill>
          <a:ln w="3926">
            <a:solidFill>
              <a:srgbClr val="008B1D"/>
            </a:solidFill>
            <a:prstDash val="solid"/>
          </a:ln>
        </p:spPr>
        <p:txBody>
          <a:bodyPr wrap="square" lIns="49079" tIns="14724" rIns="49079" bIns="14724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 Graph Services</a:t>
            </a:r>
            <a:endParaRPr lang="en-US" sz="464" dirty="0"/>
          </a:p>
        </p:txBody>
      </p:sp>
      <p:sp>
        <p:nvSpPr>
          <p:cNvPr id="6" name="TextBox 10"/>
          <p:cNvSpPr/>
          <p:nvPr/>
        </p:nvSpPr>
        <p:spPr>
          <a:xfrm>
            <a:off x="1551027" y="342900"/>
            <a:ext cx="588942" cy="93345"/>
          </a:xfrm>
          <a:prstGeom prst="roundRect">
            <a:avLst>
              <a:gd name="adj" fmla="val 26289"/>
            </a:avLst>
          </a:prstGeom>
          <a:solidFill>
            <a:srgbClr val="C08200"/>
          </a:solidFill>
          <a:ln w="3926">
            <a:solidFill>
              <a:srgbClr val="C08200"/>
            </a:solidFill>
            <a:prstDash val="solid"/>
          </a:ln>
        </p:spPr>
        <p:txBody>
          <a:bodyPr wrap="square" lIns="49079" tIns="14724" rIns="49079" bIns="14724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 Intent Strategies</a:t>
            </a:r>
            <a:endParaRPr lang="en-US" sz="464" dirty="0"/>
          </a:p>
        </p:txBody>
      </p:sp>
      <p:sp>
        <p:nvSpPr>
          <p:cNvPr id="7" name="TextBox 13"/>
          <p:cNvSpPr/>
          <p:nvPr/>
        </p:nvSpPr>
        <p:spPr>
          <a:xfrm>
            <a:off x="457200" y="474345"/>
            <a:ext cx="822960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855" b="1" spc="-37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Code Intelligence Engine</a:t>
            </a:r>
            <a:endParaRPr lang="en-US" sz="1855" dirty="0"/>
          </a:p>
        </p:txBody>
      </p:sp>
      <p:sp>
        <p:nvSpPr>
          <p:cNvPr id="8" name="TextBox 15"/>
          <p:cNvSpPr/>
          <p:nvPr/>
        </p:nvSpPr>
        <p:spPr>
          <a:xfrm>
            <a:off x="457200" y="813435"/>
            <a:ext cx="4191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Tree-sitter AST parsing engine supporting 9 languages with cross-file call graph, impact analysis, symbol resolution, and AI-aware context assembly for developer agents.</a:t>
            </a:r>
            <a:endParaRPr lang="en-US" sz="850" dirty="0"/>
          </a:p>
        </p:txBody>
      </p:sp>
      <p:sp>
        <p:nvSpPr>
          <p:cNvPr id="9" name="Shape 21"/>
          <p:cNvSpPr/>
          <p:nvPr/>
        </p:nvSpPr>
        <p:spPr>
          <a:xfrm>
            <a:off x="457200" y="1318260"/>
            <a:ext cx="4057650" cy="1195387"/>
          </a:xfrm>
          <a:prstGeom prst="roundRect">
            <a:avLst>
              <a:gd name="adj" fmla="val 4927"/>
            </a:avLst>
          </a:prstGeom>
          <a:solidFill>
            <a:srgbClr val="FFFFFF"/>
          </a:solidFill>
          <a:ln/>
        </p:spPr>
      </p:sp>
      <p:pic>
        <p:nvPicPr>
          <p:cNvPr id="10" name="Picture 21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318260"/>
            <a:ext cx="4057650" cy="1195387"/>
          </a:xfrm>
          <a:prstGeom prst="rect">
            <a:avLst/>
          </a:prstGeom>
        </p:spPr>
      </p:pic>
      <p:sp>
        <p:nvSpPr>
          <p:cNvPr id="11" name="TextBox 23"/>
          <p:cNvSpPr/>
          <p:nvPr/>
        </p:nvSpPr>
        <p:spPr>
          <a:xfrm>
            <a:off x="556260" y="1424940"/>
            <a:ext cx="38595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5"/>
              </a:lnSpc>
              <a:buNone/>
            </a:pPr>
            <a:r>
              <a:rPr lang="en-US" sz="773" b="1" spc="-8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Tree-sitter AST Parsing</a:t>
            </a:r>
            <a:endParaRPr lang="en-US" sz="773" dirty="0"/>
          </a:p>
        </p:txBody>
      </p:sp>
      <p:sp>
        <p:nvSpPr>
          <p:cNvPr id="12" name="TextBox 25"/>
          <p:cNvSpPr/>
          <p:nvPr/>
        </p:nvSpPr>
        <p:spPr>
          <a:xfrm>
            <a:off x="556260" y="1596390"/>
            <a:ext cx="385953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541" b="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GrammarRegistry</a:t>
            </a: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loads WASM grammars lazily. </a:t>
            </a:r>
            <a:r>
              <a:rPr lang="en-US" sz="541" b="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IndexingEngine</a:t>
            </a: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orchestrates: scan workspace → register files (batch 200) → index symbols (batch 50) → resolve cross-file references → sync graph nodes.</a:t>
            </a:r>
            <a:endParaRPr lang="en-US" sz="541" dirty="0"/>
          </a:p>
        </p:txBody>
      </p:sp>
      <p:sp>
        <p:nvSpPr>
          <p:cNvPr id="13" name="TextBox 29"/>
          <p:cNvSpPr/>
          <p:nvPr/>
        </p:nvSpPr>
        <p:spPr>
          <a:xfrm>
            <a:off x="556260" y="1857375"/>
            <a:ext cx="3859530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502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 Languages:</a:t>
            </a:r>
            <a:r>
              <a:rPr lang="en-US" sz="502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TypeScript, JavaScript, Python, Kotlin, Java, Go, Rust, Apex, Salesforce Metadata</a:t>
            </a:r>
            <a:endParaRPr lang="en-US" sz="502" dirty="0"/>
          </a:p>
        </p:txBody>
      </p:sp>
      <p:sp>
        <p:nvSpPr>
          <p:cNvPr id="14" name="TextBox 31"/>
          <p:cNvSpPr/>
          <p:nvPr/>
        </p:nvSpPr>
        <p:spPr>
          <a:xfrm>
            <a:off x="556260" y="1969294"/>
            <a:ext cx="3859530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502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Max file size:</a:t>
            </a:r>
            <a:r>
              <a:rPr lang="en-US" sz="502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1MB (1,048,576 bytes)</a:t>
            </a:r>
            <a:endParaRPr lang="en-US" sz="502" dirty="0"/>
          </a:p>
        </p:txBody>
      </p:sp>
      <p:sp>
        <p:nvSpPr>
          <p:cNvPr id="15" name="TextBox 33"/>
          <p:cNvSpPr/>
          <p:nvPr/>
        </p:nvSpPr>
        <p:spPr>
          <a:xfrm>
            <a:off x="556260" y="2081212"/>
            <a:ext cx="3859530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502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Methods:</a:t>
            </a:r>
            <a:r>
              <a:rPr lang="en-US" sz="502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tree-sitter (primary) / regex-fallback (secondary)</a:t>
            </a:r>
            <a:endParaRPr lang="en-US" sz="502" dirty="0"/>
          </a:p>
        </p:txBody>
      </p:sp>
      <p:sp>
        <p:nvSpPr>
          <p:cNvPr id="16" name="TextBox 35"/>
          <p:cNvSpPr/>
          <p:nvPr/>
        </p:nvSpPr>
        <p:spPr>
          <a:xfrm>
            <a:off x="556260" y="2193131"/>
            <a:ext cx="3859530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502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File watcher:</a:t>
            </a:r>
            <a:r>
              <a:rPr lang="en-US" sz="502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chokidar-based incremental index</a:t>
            </a:r>
            <a:endParaRPr lang="en-US" sz="502" dirty="0"/>
          </a:p>
        </p:txBody>
      </p:sp>
      <p:sp>
        <p:nvSpPr>
          <p:cNvPr id="17" name="TextBox 40"/>
          <p:cNvSpPr/>
          <p:nvPr/>
        </p:nvSpPr>
        <p:spPr>
          <a:xfrm>
            <a:off x="556260" y="2324100"/>
            <a:ext cx="527506" cy="90488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TreeSitterIndexer</a:t>
            </a:r>
            <a:endParaRPr lang="en-US" sz="425" dirty="0"/>
          </a:p>
        </p:txBody>
      </p:sp>
      <p:sp>
        <p:nvSpPr>
          <p:cNvPr id="18" name="TextBox 42"/>
          <p:cNvSpPr/>
          <p:nvPr/>
        </p:nvSpPr>
        <p:spPr>
          <a:xfrm>
            <a:off x="1102816" y="2324100"/>
            <a:ext cx="490299" cy="90488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IndexingEngine</a:t>
            </a:r>
            <a:endParaRPr lang="en-US" sz="425" dirty="0"/>
          </a:p>
        </p:txBody>
      </p:sp>
      <p:sp>
        <p:nvSpPr>
          <p:cNvPr id="19" name="TextBox 44"/>
          <p:cNvSpPr/>
          <p:nvPr/>
        </p:nvSpPr>
        <p:spPr>
          <a:xfrm>
            <a:off x="1612166" y="2324100"/>
            <a:ext cx="538936" cy="90488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GrammarRegistry</a:t>
            </a:r>
            <a:endParaRPr lang="en-US" sz="425" dirty="0"/>
          </a:p>
        </p:txBody>
      </p:sp>
      <p:sp>
        <p:nvSpPr>
          <p:cNvPr id="20" name="TextBox 46"/>
          <p:cNvSpPr/>
          <p:nvPr/>
        </p:nvSpPr>
        <p:spPr>
          <a:xfrm>
            <a:off x="2170152" y="2324100"/>
            <a:ext cx="398324" cy="90488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FileWatcher</a:t>
            </a:r>
            <a:endParaRPr lang="en-US" sz="425" dirty="0"/>
          </a:p>
        </p:txBody>
      </p:sp>
      <p:sp>
        <p:nvSpPr>
          <p:cNvPr id="21" name="TextBox 48"/>
          <p:cNvSpPr/>
          <p:nvPr/>
        </p:nvSpPr>
        <p:spPr>
          <a:xfrm>
            <a:off x="2587526" y="2324100"/>
            <a:ext cx="477619" cy="90488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web-tree-sitter</a:t>
            </a:r>
            <a:endParaRPr lang="en-US" sz="425" dirty="0"/>
          </a:p>
        </p:txBody>
      </p:sp>
      <p:sp>
        <p:nvSpPr>
          <p:cNvPr id="22" name="Shape 52"/>
          <p:cNvSpPr/>
          <p:nvPr/>
        </p:nvSpPr>
        <p:spPr>
          <a:xfrm>
            <a:off x="457200" y="2589848"/>
            <a:ext cx="4057650" cy="1248727"/>
          </a:xfrm>
          <a:prstGeom prst="roundRect">
            <a:avLst>
              <a:gd name="adj" fmla="val 4716"/>
            </a:avLst>
          </a:prstGeom>
          <a:solidFill>
            <a:srgbClr val="FFFFFF"/>
          </a:solidFill>
          <a:ln/>
        </p:spPr>
      </p:sp>
      <p:pic>
        <p:nvPicPr>
          <p:cNvPr id="23" name="Picture 52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2589848"/>
            <a:ext cx="4057650" cy="1248727"/>
          </a:xfrm>
          <a:prstGeom prst="rect">
            <a:avLst/>
          </a:prstGeom>
        </p:spPr>
      </p:pic>
      <p:sp>
        <p:nvSpPr>
          <p:cNvPr id="24" name="TextBox 54"/>
          <p:cNvSpPr/>
          <p:nvPr/>
        </p:nvSpPr>
        <p:spPr>
          <a:xfrm>
            <a:off x="556260" y="2696527"/>
            <a:ext cx="38595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5"/>
              </a:lnSpc>
              <a:buNone/>
            </a:pPr>
            <a:r>
              <a:rPr lang="en-US" sz="773" b="1" spc="-8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Context Assembly</a:t>
            </a:r>
            <a:endParaRPr lang="en-US" sz="773" dirty="0"/>
          </a:p>
        </p:txBody>
      </p:sp>
      <p:sp>
        <p:nvSpPr>
          <p:cNvPr id="25" name="TextBox 56"/>
          <p:cNvSpPr/>
          <p:nvPr/>
        </p:nvSpPr>
        <p:spPr>
          <a:xfrm>
            <a:off x="556260" y="2867977"/>
            <a:ext cx="385953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541" b="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AIContextService</a:t>
            </a: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assembles developer intent-aware context with </a:t>
            </a:r>
            <a:r>
              <a:rPr lang="en-US" sz="541" b="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TokenBudgetManager</a:t>
            </a: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(default 4,000 tokens, min 500). 4 intents with 7 context sections each.</a:t>
            </a:r>
            <a:endParaRPr lang="en-US" sz="541" dirty="0"/>
          </a:p>
        </p:txBody>
      </p:sp>
      <p:sp>
        <p:nvSpPr>
          <p:cNvPr id="26" name="TextBox 60"/>
          <p:cNvSpPr/>
          <p:nvPr/>
        </p:nvSpPr>
        <p:spPr>
          <a:xfrm>
            <a:off x="556260" y="3119437"/>
            <a:ext cx="1915477" cy="236220"/>
          </a:xfrm>
          <a:prstGeom prst="roundRect">
            <a:avLst>
              <a:gd name="adj" fmla="val 12466"/>
            </a:avLst>
          </a:prstGeom>
          <a:solidFill>
            <a:srgbClr val="FAFCFD"/>
          </a:solidFill>
          <a:ln w="3926">
            <a:solidFill>
              <a:srgbClr val="E2E5E8"/>
            </a:solidFill>
            <a:prstDash val="solid"/>
          </a:ln>
        </p:spPr>
        <p:txBody>
          <a:bodyPr wrap="square" lIns="49079" tIns="29448" rIns="49079" bIns="29448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explain</a:t>
            </a:r>
            <a:endParaRPr lang="en-US" sz="464" dirty="0"/>
          </a:p>
          <a:p>
            <a:pPr algn="l"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Understand existing code</a:t>
            </a:r>
            <a:endParaRPr lang="en-US" sz="464" dirty="0"/>
          </a:p>
        </p:txBody>
      </p:sp>
      <p:sp>
        <p:nvSpPr>
          <p:cNvPr id="27" name="TextBox 62"/>
          <p:cNvSpPr/>
          <p:nvPr/>
        </p:nvSpPr>
        <p:spPr>
          <a:xfrm>
            <a:off x="2500312" y="3119437"/>
            <a:ext cx="1915477" cy="236220"/>
          </a:xfrm>
          <a:prstGeom prst="roundRect">
            <a:avLst>
              <a:gd name="adj" fmla="val 12466"/>
            </a:avLst>
          </a:prstGeom>
          <a:solidFill>
            <a:srgbClr val="FAFCFD"/>
          </a:solidFill>
          <a:ln w="3926">
            <a:solidFill>
              <a:srgbClr val="E2E5E8"/>
            </a:solidFill>
            <a:prstDash val="solid"/>
          </a:ln>
        </p:spPr>
        <p:txBody>
          <a:bodyPr wrap="square" lIns="49079" tIns="29448" rIns="49079" bIns="29448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modify</a:t>
            </a:r>
            <a:endParaRPr lang="en-US" sz="464" dirty="0"/>
          </a:p>
          <a:p>
            <a:pPr algn="l"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Edit with safety context</a:t>
            </a:r>
            <a:endParaRPr lang="en-US" sz="464" dirty="0"/>
          </a:p>
        </p:txBody>
      </p:sp>
      <p:sp>
        <p:nvSpPr>
          <p:cNvPr id="28" name="TextBox 64"/>
          <p:cNvSpPr/>
          <p:nvPr/>
        </p:nvSpPr>
        <p:spPr>
          <a:xfrm>
            <a:off x="556260" y="3384232"/>
            <a:ext cx="1915477" cy="236220"/>
          </a:xfrm>
          <a:prstGeom prst="roundRect">
            <a:avLst>
              <a:gd name="adj" fmla="val 12466"/>
            </a:avLst>
          </a:prstGeom>
          <a:solidFill>
            <a:srgbClr val="FAFCFD"/>
          </a:solidFill>
          <a:ln w="3926">
            <a:solidFill>
              <a:srgbClr val="E2E5E8"/>
            </a:solidFill>
            <a:prstDash val="solid"/>
          </a:ln>
        </p:spPr>
        <p:txBody>
          <a:bodyPr wrap="square" lIns="49079" tIns="29448" rIns="49079" bIns="29448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debug</a:t>
            </a:r>
            <a:endParaRPr lang="en-US" sz="464" dirty="0"/>
          </a:p>
          <a:p>
            <a:pPr algn="l"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Root cause analysis</a:t>
            </a:r>
            <a:endParaRPr lang="en-US" sz="464" dirty="0"/>
          </a:p>
        </p:txBody>
      </p:sp>
      <p:sp>
        <p:nvSpPr>
          <p:cNvPr id="29" name="TextBox 66"/>
          <p:cNvSpPr/>
          <p:nvPr/>
        </p:nvSpPr>
        <p:spPr>
          <a:xfrm>
            <a:off x="2500312" y="3384232"/>
            <a:ext cx="1915477" cy="236220"/>
          </a:xfrm>
          <a:prstGeom prst="roundRect">
            <a:avLst>
              <a:gd name="adj" fmla="val 12466"/>
            </a:avLst>
          </a:prstGeom>
          <a:solidFill>
            <a:srgbClr val="FAFCFD"/>
          </a:solidFill>
          <a:ln w="3926">
            <a:solidFill>
              <a:srgbClr val="E2E5E8"/>
            </a:solidFill>
            <a:prstDash val="solid"/>
          </a:ln>
        </p:spPr>
        <p:txBody>
          <a:bodyPr wrap="square" lIns="49079" tIns="29448" rIns="49079" bIns="29448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test</a:t>
            </a:r>
            <a:endParaRPr lang="en-US" sz="464" dirty="0"/>
          </a:p>
          <a:p>
            <a:pPr algn="l"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Test generation context</a:t>
            </a:r>
            <a:endParaRPr lang="en-US" sz="464" dirty="0"/>
          </a:p>
        </p:txBody>
      </p:sp>
      <p:sp>
        <p:nvSpPr>
          <p:cNvPr id="30" name="TextBox 71"/>
          <p:cNvSpPr/>
          <p:nvPr/>
        </p:nvSpPr>
        <p:spPr>
          <a:xfrm>
            <a:off x="556260" y="3649027"/>
            <a:ext cx="550842" cy="90488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 context sections</a:t>
            </a:r>
            <a:endParaRPr lang="en-US" sz="425" dirty="0"/>
          </a:p>
        </p:txBody>
      </p:sp>
      <p:sp>
        <p:nvSpPr>
          <p:cNvPr id="31" name="TextBox 73"/>
          <p:cNvSpPr/>
          <p:nvPr/>
        </p:nvSpPr>
        <p:spPr>
          <a:xfrm>
            <a:off x="1126153" y="3649027"/>
            <a:ext cx="1413688" cy="90488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 + callers + callees + tests + siblings + imports</a:t>
            </a:r>
            <a:endParaRPr lang="en-US" sz="425" dirty="0"/>
          </a:p>
        </p:txBody>
      </p:sp>
      <p:sp>
        <p:nvSpPr>
          <p:cNvPr id="32" name="TextBox 75"/>
          <p:cNvSpPr/>
          <p:nvPr/>
        </p:nvSpPr>
        <p:spPr>
          <a:xfrm>
            <a:off x="2558891" y="3649027"/>
            <a:ext cx="1041499" cy="90488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Tenant isolation via CodeIntelIsolation</a:t>
            </a:r>
            <a:endParaRPr lang="en-US" sz="425" dirty="0"/>
          </a:p>
        </p:txBody>
      </p:sp>
      <p:sp>
        <p:nvSpPr>
          <p:cNvPr id="33" name="Shape 82"/>
          <p:cNvSpPr/>
          <p:nvPr/>
        </p:nvSpPr>
        <p:spPr>
          <a:xfrm>
            <a:off x="4629150" y="1318260"/>
            <a:ext cx="4057650" cy="1198245"/>
          </a:xfrm>
          <a:prstGeom prst="roundRect">
            <a:avLst>
              <a:gd name="adj" fmla="val 4915"/>
            </a:avLst>
          </a:prstGeom>
          <a:solidFill>
            <a:srgbClr val="FFFFFF"/>
          </a:solidFill>
          <a:ln/>
        </p:spPr>
      </p:sp>
      <p:pic>
        <p:nvPicPr>
          <p:cNvPr id="34" name="Picture 82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29150" y="1318260"/>
            <a:ext cx="4057650" cy="1198245"/>
          </a:xfrm>
          <a:prstGeom prst="rect">
            <a:avLst/>
          </a:prstGeom>
        </p:spPr>
      </p:pic>
      <p:sp>
        <p:nvSpPr>
          <p:cNvPr id="35" name="TextBox 84"/>
          <p:cNvSpPr/>
          <p:nvPr/>
        </p:nvSpPr>
        <p:spPr>
          <a:xfrm>
            <a:off x="4728210" y="1424940"/>
            <a:ext cx="38595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5"/>
              </a:lnSpc>
              <a:buNone/>
            </a:pPr>
            <a:r>
              <a:rPr lang="en-US" sz="773" b="1" spc="-8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Call Graph &amp; Impact Analysis</a:t>
            </a:r>
            <a:endParaRPr lang="en-US" sz="773" dirty="0"/>
          </a:p>
        </p:txBody>
      </p:sp>
      <p:sp>
        <p:nvSpPr>
          <p:cNvPr id="36" name="TextBox 86"/>
          <p:cNvSpPr/>
          <p:nvPr/>
        </p:nvSpPr>
        <p:spPr>
          <a:xfrm>
            <a:off x="4728210" y="1596390"/>
            <a:ext cx="3859531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BFS traversal engine with configurable depth, file/kind filters, and blast radius prediction across 5 severity levels.</a:t>
            </a:r>
            <a:endParaRPr lang="en-US" sz="541" dirty="0"/>
          </a:p>
        </p:txBody>
      </p:sp>
      <p:sp>
        <p:nvSpPr>
          <p:cNvPr id="37" name="TextBox 93"/>
          <p:cNvSpPr/>
          <p:nvPr/>
        </p:nvSpPr>
        <p:spPr>
          <a:xfrm>
            <a:off x="5279826" y="1744980"/>
            <a:ext cx="1430893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754"/>
              </a:lnSpc>
              <a:buNone/>
            </a:pPr>
            <a:r>
              <a:rPr lang="en-US" sz="502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BFS depth 1-5 (default 1), limit 20, file/kind filters</a:t>
            </a:r>
            <a:endParaRPr lang="en-US" sz="502" dirty="0"/>
          </a:p>
        </p:txBody>
      </p:sp>
      <p:sp>
        <p:nvSpPr>
          <p:cNvPr id="38" name="Shape 91"/>
          <p:cNvSpPr/>
          <p:nvPr/>
        </p:nvSpPr>
        <p:spPr>
          <a:xfrm>
            <a:off x="4728210" y="1784985"/>
            <a:ext cx="28575" cy="28575"/>
          </a:xfrm>
          <a:prstGeom prst="ellipse">
            <a:avLst/>
          </a:prstGeom>
          <a:solidFill>
            <a:srgbClr val="1779E1"/>
          </a:solidFill>
          <a:ln/>
        </p:spPr>
      </p:sp>
      <p:sp>
        <p:nvSpPr>
          <p:cNvPr id="39" name="TextBox 92"/>
          <p:cNvSpPr/>
          <p:nvPr/>
        </p:nvSpPr>
        <p:spPr>
          <a:xfrm>
            <a:off x="4785360" y="1744980"/>
            <a:ext cx="494467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502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CallGraphService</a:t>
            </a:r>
            <a:endParaRPr lang="en-US" sz="502" dirty="0"/>
          </a:p>
        </p:txBody>
      </p:sp>
      <p:sp>
        <p:nvSpPr>
          <p:cNvPr id="40" name="TextBox 98"/>
          <p:cNvSpPr/>
          <p:nvPr/>
        </p:nvSpPr>
        <p:spPr>
          <a:xfrm>
            <a:off x="5433595" y="1861661"/>
            <a:ext cx="1404997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754"/>
              </a:lnSpc>
              <a:buNone/>
            </a:pPr>
            <a:r>
              <a:rPr lang="en-US" sz="502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call graph + dependency graph + test detection</a:t>
            </a:r>
            <a:endParaRPr lang="en-US" sz="502" dirty="0"/>
          </a:p>
        </p:txBody>
      </p:sp>
      <p:sp>
        <p:nvSpPr>
          <p:cNvPr id="41" name="Shape 96"/>
          <p:cNvSpPr/>
          <p:nvPr/>
        </p:nvSpPr>
        <p:spPr>
          <a:xfrm>
            <a:off x="4728210" y="1901666"/>
            <a:ext cx="28575" cy="28575"/>
          </a:xfrm>
          <a:prstGeom prst="ellipse">
            <a:avLst/>
          </a:prstGeom>
          <a:solidFill>
            <a:srgbClr val="1779E1"/>
          </a:solidFill>
          <a:ln/>
        </p:spPr>
      </p:sp>
      <p:sp>
        <p:nvSpPr>
          <p:cNvPr id="42" name="TextBox 97"/>
          <p:cNvSpPr/>
          <p:nvPr/>
        </p:nvSpPr>
        <p:spPr>
          <a:xfrm>
            <a:off x="4785360" y="1861661"/>
            <a:ext cx="648236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502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ImpactAnalysisService</a:t>
            </a:r>
            <a:endParaRPr lang="en-US" sz="502" dirty="0"/>
          </a:p>
        </p:txBody>
      </p:sp>
      <p:sp>
        <p:nvSpPr>
          <p:cNvPr id="43" name="TextBox 103"/>
          <p:cNvSpPr/>
          <p:nvPr/>
        </p:nvSpPr>
        <p:spPr>
          <a:xfrm>
            <a:off x="5261371" y="1978342"/>
            <a:ext cx="958692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754"/>
              </a:lnSpc>
              <a:buNone/>
            </a:pPr>
            <a:r>
              <a:rPr lang="en-US" sz="502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low, medium, high, critical, blocker</a:t>
            </a:r>
            <a:endParaRPr lang="en-US" sz="502" dirty="0"/>
          </a:p>
        </p:txBody>
      </p:sp>
      <p:sp>
        <p:nvSpPr>
          <p:cNvPr id="44" name="Shape 101"/>
          <p:cNvSpPr/>
          <p:nvPr/>
        </p:nvSpPr>
        <p:spPr>
          <a:xfrm>
            <a:off x="4728210" y="2018347"/>
            <a:ext cx="28575" cy="28575"/>
          </a:xfrm>
          <a:prstGeom prst="ellipse">
            <a:avLst/>
          </a:prstGeom>
          <a:solidFill>
            <a:srgbClr val="1779E1"/>
          </a:solidFill>
          <a:ln/>
        </p:spPr>
      </p:sp>
      <p:sp>
        <p:nvSpPr>
          <p:cNvPr id="45" name="TextBox 102"/>
          <p:cNvSpPr/>
          <p:nvPr/>
        </p:nvSpPr>
        <p:spPr>
          <a:xfrm>
            <a:off x="4785360" y="1978342"/>
            <a:ext cx="476012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502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 severity levels:</a:t>
            </a:r>
            <a:endParaRPr lang="en-US" sz="502" dirty="0"/>
          </a:p>
        </p:txBody>
      </p:sp>
      <p:sp>
        <p:nvSpPr>
          <p:cNvPr id="46" name="TextBox 108"/>
          <p:cNvSpPr/>
          <p:nvPr/>
        </p:nvSpPr>
        <p:spPr>
          <a:xfrm>
            <a:off x="5248573" y="2095024"/>
            <a:ext cx="1340703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754"/>
              </a:lnSpc>
              <a:buNone/>
            </a:pPr>
            <a:r>
              <a:rPr lang="en-US" sz="502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3 strategies: exact, qualified name, file:symbol</a:t>
            </a:r>
            <a:endParaRPr lang="en-US" sz="502" dirty="0"/>
          </a:p>
        </p:txBody>
      </p:sp>
      <p:sp>
        <p:nvSpPr>
          <p:cNvPr id="47" name="Shape 106"/>
          <p:cNvSpPr/>
          <p:nvPr/>
        </p:nvSpPr>
        <p:spPr>
          <a:xfrm>
            <a:off x="4728210" y="2135029"/>
            <a:ext cx="28575" cy="28575"/>
          </a:xfrm>
          <a:prstGeom prst="ellipse">
            <a:avLst/>
          </a:prstGeom>
          <a:solidFill>
            <a:srgbClr val="1779E1"/>
          </a:solidFill>
          <a:ln/>
        </p:spPr>
      </p:sp>
      <p:sp>
        <p:nvSpPr>
          <p:cNvPr id="48" name="TextBox 107"/>
          <p:cNvSpPr/>
          <p:nvPr/>
        </p:nvSpPr>
        <p:spPr>
          <a:xfrm>
            <a:off x="4785360" y="2095024"/>
            <a:ext cx="463213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502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SymbolResolver</a:t>
            </a:r>
            <a:endParaRPr lang="en-US" sz="502" dirty="0"/>
          </a:p>
        </p:txBody>
      </p:sp>
      <p:sp>
        <p:nvSpPr>
          <p:cNvPr id="49" name="TextBox 113"/>
          <p:cNvSpPr/>
          <p:nvPr/>
        </p:nvSpPr>
        <p:spPr>
          <a:xfrm>
            <a:off x="5533489" y="2211705"/>
            <a:ext cx="1022568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754"/>
              </a:lnSpc>
              <a:buNone/>
            </a:pPr>
            <a:r>
              <a:rPr lang="en-US" sz="502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incoming/outgoing file-level deps</a:t>
            </a:r>
            <a:endParaRPr lang="en-US" sz="502" dirty="0"/>
          </a:p>
        </p:txBody>
      </p:sp>
      <p:sp>
        <p:nvSpPr>
          <p:cNvPr id="50" name="Shape 111"/>
          <p:cNvSpPr/>
          <p:nvPr/>
        </p:nvSpPr>
        <p:spPr>
          <a:xfrm>
            <a:off x="4728210" y="2251710"/>
            <a:ext cx="28575" cy="28575"/>
          </a:xfrm>
          <a:prstGeom prst="ellipse">
            <a:avLst/>
          </a:prstGeom>
          <a:solidFill>
            <a:srgbClr val="1779E1"/>
          </a:solidFill>
          <a:ln/>
        </p:spPr>
      </p:sp>
      <p:sp>
        <p:nvSpPr>
          <p:cNvPr id="51" name="TextBox 112"/>
          <p:cNvSpPr/>
          <p:nvPr/>
        </p:nvSpPr>
        <p:spPr>
          <a:xfrm>
            <a:off x="4785360" y="2211705"/>
            <a:ext cx="748129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502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DependencyGraphService</a:t>
            </a:r>
            <a:endParaRPr lang="en-US" sz="502" dirty="0"/>
          </a:p>
        </p:txBody>
      </p:sp>
      <p:sp>
        <p:nvSpPr>
          <p:cNvPr id="52" name="TextBox 118"/>
          <p:cNvSpPr/>
          <p:nvPr/>
        </p:nvSpPr>
        <p:spPr>
          <a:xfrm>
            <a:off x="5153501" y="2328386"/>
            <a:ext cx="826293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754"/>
              </a:lnSpc>
              <a:buNone/>
            </a:pPr>
            <a:r>
              <a:rPr lang="en-US" sz="502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auto-finds related test files</a:t>
            </a:r>
            <a:endParaRPr lang="en-US" sz="502" dirty="0"/>
          </a:p>
        </p:txBody>
      </p:sp>
      <p:sp>
        <p:nvSpPr>
          <p:cNvPr id="53" name="Shape 116"/>
          <p:cNvSpPr/>
          <p:nvPr/>
        </p:nvSpPr>
        <p:spPr>
          <a:xfrm>
            <a:off x="4728210" y="2368391"/>
            <a:ext cx="28575" cy="28575"/>
          </a:xfrm>
          <a:prstGeom prst="ellipse">
            <a:avLst/>
          </a:prstGeom>
          <a:solidFill>
            <a:srgbClr val="1779E1"/>
          </a:solidFill>
          <a:ln/>
        </p:spPr>
      </p:sp>
      <p:sp>
        <p:nvSpPr>
          <p:cNvPr id="54" name="TextBox 117"/>
          <p:cNvSpPr/>
          <p:nvPr/>
        </p:nvSpPr>
        <p:spPr>
          <a:xfrm>
            <a:off x="4785360" y="2328386"/>
            <a:ext cx="368141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502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TestDetector</a:t>
            </a:r>
            <a:endParaRPr lang="en-US" sz="502" dirty="0"/>
          </a:p>
        </p:txBody>
      </p:sp>
      <p:sp>
        <p:nvSpPr>
          <p:cNvPr id="55" name="Shape 122"/>
          <p:cNvSpPr/>
          <p:nvPr/>
        </p:nvSpPr>
        <p:spPr>
          <a:xfrm>
            <a:off x="4629150" y="2592705"/>
            <a:ext cx="4057650" cy="982027"/>
          </a:xfrm>
          <a:prstGeom prst="roundRect">
            <a:avLst>
              <a:gd name="adj" fmla="val 5997"/>
            </a:avLst>
          </a:prstGeom>
          <a:solidFill>
            <a:srgbClr val="FFFFFF"/>
          </a:solidFill>
          <a:ln/>
        </p:spPr>
      </p:sp>
      <p:pic>
        <p:nvPicPr>
          <p:cNvPr id="56" name="Picture 122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29150" y="2592705"/>
            <a:ext cx="4057650" cy="982027"/>
          </a:xfrm>
          <a:prstGeom prst="rect">
            <a:avLst/>
          </a:prstGeom>
        </p:spPr>
      </p:pic>
      <p:sp>
        <p:nvSpPr>
          <p:cNvPr id="57" name="TextBox 124"/>
          <p:cNvSpPr/>
          <p:nvPr/>
        </p:nvSpPr>
        <p:spPr>
          <a:xfrm>
            <a:off x="4728210" y="2699385"/>
            <a:ext cx="38595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5"/>
              </a:lnSpc>
              <a:buNone/>
            </a:pPr>
            <a:r>
              <a:rPr lang="en-US" sz="773" b="1" spc="-8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Pipeline Architecture</a:t>
            </a:r>
            <a:endParaRPr lang="en-US" sz="773" dirty="0"/>
          </a:p>
        </p:txBody>
      </p:sp>
      <p:sp>
        <p:nvSpPr>
          <p:cNvPr id="58" name="TextBox 126"/>
          <p:cNvSpPr/>
          <p:nvPr/>
        </p:nvSpPr>
        <p:spPr>
          <a:xfrm>
            <a:off x="4728210" y="2870835"/>
            <a:ext cx="3859531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Multi-layered pipeline from parsing to AI-ready context, wired through </a:t>
            </a:r>
            <a:r>
              <a:rPr lang="en-US" sz="541" b="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CodeIntelModule</a:t>
            </a: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with </a:t>
            </a:r>
            <a:r>
              <a:rPr lang="en-US" sz="464" dirty="0">
                <a:solidFill>
                  <a:srgbClr val="6A6F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code_*</a:t>
            </a: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MCP tools.</a:t>
            </a:r>
            <a:endParaRPr lang="en-US" sz="541" dirty="0"/>
          </a:p>
        </p:txBody>
      </p:sp>
      <p:sp>
        <p:nvSpPr>
          <p:cNvPr id="59" name="TextBox 132"/>
          <p:cNvSpPr/>
          <p:nvPr/>
        </p:nvSpPr>
        <p:spPr>
          <a:xfrm>
            <a:off x="4956214" y="3221355"/>
            <a:ext cx="25485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603"/>
              </a:lnSpc>
              <a:buNone/>
            </a:pPr>
            <a:r>
              <a:rPr lang="en-US" sz="464" dirty="0">
                <a:solidFill>
                  <a:srgbClr val="1779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AST Parse</a:t>
            </a:r>
            <a:endParaRPr lang="en-US" sz="464" dirty="0"/>
          </a:p>
        </p:txBody>
      </p:sp>
      <p:sp>
        <p:nvSpPr>
          <p:cNvPr id="60" name="TextBox 131"/>
          <p:cNvSpPr/>
          <p:nvPr/>
        </p:nvSpPr>
        <p:spPr>
          <a:xfrm>
            <a:off x="5016996" y="3063240"/>
            <a:ext cx="133350" cy="133350"/>
          </a:xfrm>
          <a:prstGeom prst="ellipse">
            <a:avLst/>
          </a:prstGeom>
          <a:solidFill>
            <a:srgbClr val="1779E1"/>
          </a:solidFill>
          <a:ln w="3926">
            <a:solidFill>
              <a:srgbClr val="1779E1"/>
            </a:solidFill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82"/>
              </a:lnSpc>
              <a:buNone/>
            </a:pPr>
            <a:r>
              <a:rPr lang="en-US" sz="464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</a:t>
            </a:r>
            <a:endParaRPr lang="en-US" sz="464" dirty="0"/>
          </a:p>
        </p:txBody>
      </p:sp>
      <p:sp>
        <p:nvSpPr>
          <p:cNvPr id="61" name="Shape 134"/>
          <p:cNvSpPr/>
          <p:nvPr/>
        </p:nvSpPr>
        <p:spPr>
          <a:xfrm>
            <a:off x="5439132" y="3177778"/>
            <a:ext cx="76200" cy="7144"/>
          </a:xfrm>
          <a:prstGeom prst="rect">
            <a:avLst/>
          </a:prstGeom>
          <a:solidFill>
            <a:srgbClr val="E2E5E8"/>
          </a:solidFill>
          <a:ln/>
        </p:spPr>
      </p:sp>
      <p:sp>
        <p:nvSpPr>
          <p:cNvPr id="62" name="TextBox 138"/>
          <p:cNvSpPr/>
          <p:nvPr/>
        </p:nvSpPr>
        <p:spPr>
          <a:xfrm>
            <a:off x="5799058" y="3221355"/>
            <a:ext cx="14347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603"/>
              </a:lnSpc>
              <a:buNone/>
            </a:pPr>
            <a:r>
              <a:rPr lang="en-US" sz="464" dirty="0">
                <a:solidFill>
                  <a:srgbClr val="1779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Index</a:t>
            </a:r>
            <a:endParaRPr lang="en-US" sz="464" dirty="0"/>
          </a:p>
        </p:txBody>
      </p:sp>
      <p:sp>
        <p:nvSpPr>
          <p:cNvPr id="63" name="TextBox 137"/>
          <p:cNvSpPr/>
          <p:nvPr/>
        </p:nvSpPr>
        <p:spPr>
          <a:xfrm>
            <a:off x="5804118" y="3063240"/>
            <a:ext cx="133350" cy="133350"/>
          </a:xfrm>
          <a:prstGeom prst="ellipse">
            <a:avLst/>
          </a:prstGeom>
          <a:solidFill>
            <a:srgbClr val="1779E1"/>
          </a:solidFill>
          <a:ln w="3926">
            <a:solidFill>
              <a:srgbClr val="1779E1"/>
            </a:solidFill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82"/>
              </a:lnSpc>
              <a:buNone/>
            </a:pPr>
            <a:r>
              <a:rPr lang="en-US" sz="464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</a:t>
            </a:r>
            <a:endParaRPr lang="en-US" sz="464" dirty="0"/>
          </a:p>
        </p:txBody>
      </p:sp>
      <p:sp>
        <p:nvSpPr>
          <p:cNvPr id="64" name="Shape 140"/>
          <p:cNvSpPr/>
          <p:nvPr/>
        </p:nvSpPr>
        <p:spPr>
          <a:xfrm>
            <a:off x="6226313" y="3177778"/>
            <a:ext cx="76200" cy="7144"/>
          </a:xfrm>
          <a:prstGeom prst="rect">
            <a:avLst/>
          </a:prstGeom>
          <a:solidFill>
            <a:srgbClr val="E2E5E8"/>
          </a:solidFill>
          <a:ln/>
        </p:spPr>
      </p:sp>
      <p:sp>
        <p:nvSpPr>
          <p:cNvPr id="65" name="TextBox 144"/>
          <p:cNvSpPr/>
          <p:nvPr/>
        </p:nvSpPr>
        <p:spPr>
          <a:xfrm>
            <a:off x="6559450" y="3221355"/>
            <a:ext cx="19704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603"/>
              </a:lnSpc>
              <a:buNone/>
            </a:pPr>
            <a:r>
              <a:rPr lang="en-US" sz="464" dirty="0">
                <a:solidFill>
                  <a:srgbClr val="1779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Resolve</a:t>
            </a:r>
            <a:endParaRPr lang="en-US" sz="464" dirty="0"/>
          </a:p>
        </p:txBody>
      </p:sp>
      <p:sp>
        <p:nvSpPr>
          <p:cNvPr id="66" name="TextBox 143"/>
          <p:cNvSpPr/>
          <p:nvPr/>
        </p:nvSpPr>
        <p:spPr>
          <a:xfrm>
            <a:off x="6591300" y="3063240"/>
            <a:ext cx="133350" cy="133350"/>
          </a:xfrm>
          <a:prstGeom prst="ellipse">
            <a:avLst/>
          </a:prstGeom>
          <a:solidFill>
            <a:srgbClr val="1779E1"/>
          </a:solidFill>
          <a:ln w="3926">
            <a:solidFill>
              <a:srgbClr val="1779E1"/>
            </a:solidFill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82"/>
              </a:lnSpc>
              <a:buNone/>
            </a:pPr>
            <a:r>
              <a:rPr lang="en-US" sz="464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</a:t>
            </a:r>
            <a:endParaRPr lang="en-US" sz="464" dirty="0"/>
          </a:p>
        </p:txBody>
      </p:sp>
      <p:sp>
        <p:nvSpPr>
          <p:cNvPr id="67" name="Shape 146"/>
          <p:cNvSpPr/>
          <p:nvPr/>
        </p:nvSpPr>
        <p:spPr>
          <a:xfrm>
            <a:off x="7013436" y="3177778"/>
            <a:ext cx="76200" cy="7144"/>
          </a:xfrm>
          <a:prstGeom prst="rect">
            <a:avLst/>
          </a:prstGeom>
          <a:solidFill>
            <a:srgbClr val="E2E5E8"/>
          </a:solidFill>
          <a:ln/>
        </p:spPr>
      </p:sp>
      <p:sp>
        <p:nvSpPr>
          <p:cNvPr id="68" name="TextBox 150"/>
          <p:cNvSpPr/>
          <p:nvPr/>
        </p:nvSpPr>
        <p:spPr>
          <a:xfrm>
            <a:off x="7365861" y="3221355"/>
            <a:ext cx="15853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603"/>
              </a:lnSpc>
              <a:buNone/>
            </a:pPr>
            <a:r>
              <a:rPr lang="en-US" sz="464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Graph</a:t>
            </a:r>
            <a:endParaRPr lang="en-US" sz="464" dirty="0"/>
          </a:p>
        </p:txBody>
      </p:sp>
      <p:sp>
        <p:nvSpPr>
          <p:cNvPr id="69" name="TextBox 149"/>
          <p:cNvSpPr/>
          <p:nvPr/>
        </p:nvSpPr>
        <p:spPr>
          <a:xfrm>
            <a:off x="7378422" y="3063240"/>
            <a:ext cx="133350" cy="133350"/>
          </a:xfrm>
          <a:prstGeom prst="ellipse">
            <a:avLst/>
          </a:prstGeom>
          <a:solidFill>
            <a:srgbClr val="FAFCFD"/>
          </a:solidFill>
          <a:ln w="3926">
            <a:solidFill>
              <a:srgbClr val="E2E5E8"/>
            </a:solidFill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82"/>
              </a:lnSpc>
              <a:buNone/>
            </a:pPr>
            <a:r>
              <a:rPr lang="en-US" sz="464" b="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</a:t>
            </a:r>
            <a:endParaRPr lang="en-US" sz="464" dirty="0"/>
          </a:p>
        </p:txBody>
      </p:sp>
      <p:sp>
        <p:nvSpPr>
          <p:cNvPr id="70" name="Shape 152"/>
          <p:cNvSpPr/>
          <p:nvPr/>
        </p:nvSpPr>
        <p:spPr>
          <a:xfrm>
            <a:off x="7800617" y="3177778"/>
            <a:ext cx="76200" cy="7144"/>
          </a:xfrm>
          <a:prstGeom prst="rect">
            <a:avLst/>
          </a:prstGeom>
          <a:solidFill>
            <a:srgbClr val="E2E5E8"/>
          </a:solidFill>
          <a:ln/>
        </p:spPr>
      </p:sp>
      <p:sp>
        <p:nvSpPr>
          <p:cNvPr id="71" name="TextBox 156"/>
          <p:cNvSpPr/>
          <p:nvPr/>
        </p:nvSpPr>
        <p:spPr>
          <a:xfrm>
            <a:off x="8130778" y="3221355"/>
            <a:ext cx="20294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603"/>
              </a:lnSpc>
              <a:buNone/>
            </a:pPr>
            <a:r>
              <a:rPr lang="en-US" sz="464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Context</a:t>
            </a:r>
            <a:endParaRPr lang="en-US" sz="464" dirty="0"/>
          </a:p>
        </p:txBody>
      </p:sp>
      <p:sp>
        <p:nvSpPr>
          <p:cNvPr id="72" name="TextBox 155"/>
          <p:cNvSpPr/>
          <p:nvPr/>
        </p:nvSpPr>
        <p:spPr>
          <a:xfrm>
            <a:off x="8165603" y="3063240"/>
            <a:ext cx="133351" cy="133350"/>
          </a:xfrm>
          <a:prstGeom prst="ellipse">
            <a:avLst/>
          </a:prstGeom>
          <a:solidFill>
            <a:srgbClr val="FAFCFD"/>
          </a:solidFill>
          <a:ln w="3926">
            <a:solidFill>
              <a:srgbClr val="E2E5E8"/>
            </a:solidFill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82"/>
              </a:lnSpc>
              <a:buNone/>
            </a:pPr>
            <a:r>
              <a:rPr lang="en-US" sz="464" b="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</a:t>
            </a:r>
            <a:endParaRPr lang="en-US" sz="464" dirty="0"/>
          </a:p>
        </p:txBody>
      </p:sp>
      <p:sp>
        <p:nvSpPr>
          <p:cNvPr id="73" name="TextBox 161"/>
          <p:cNvSpPr/>
          <p:nvPr/>
        </p:nvSpPr>
        <p:spPr>
          <a:xfrm>
            <a:off x="4728210" y="3385185"/>
            <a:ext cx="534710" cy="90487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CodeIntelModule</a:t>
            </a:r>
            <a:endParaRPr lang="en-US" sz="425" dirty="0"/>
          </a:p>
        </p:txBody>
      </p:sp>
      <p:sp>
        <p:nvSpPr>
          <p:cNvPr id="74" name="TextBox 163"/>
          <p:cNvSpPr/>
          <p:nvPr/>
        </p:nvSpPr>
        <p:spPr>
          <a:xfrm>
            <a:off x="5281969" y="3385185"/>
            <a:ext cx="547687" cy="90487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GraphSyncService</a:t>
            </a:r>
            <a:endParaRPr lang="en-US" sz="425" dirty="0"/>
          </a:p>
        </p:txBody>
      </p:sp>
      <p:sp>
        <p:nvSpPr>
          <p:cNvPr id="75" name="TextBox 165"/>
          <p:cNvSpPr/>
          <p:nvPr/>
        </p:nvSpPr>
        <p:spPr>
          <a:xfrm>
            <a:off x="5848707" y="3385185"/>
            <a:ext cx="499229" cy="90487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Tenant isolation</a:t>
            </a:r>
            <a:endParaRPr lang="en-US" sz="425" dirty="0"/>
          </a:p>
        </p:txBody>
      </p:sp>
      <p:sp>
        <p:nvSpPr>
          <p:cNvPr id="76" name="TextBox 167"/>
          <p:cNvSpPr/>
          <p:nvPr/>
        </p:nvSpPr>
        <p:spPr>
          <a:xfrm>
            <a:off x="6366986" y="3385185"/>
            <a:ext cx="540365" cy="90487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code_* MCP tools</a:t>
            </a:r>
            <a:endParaRPr lang="en-US" sz="425" dirty="0"/>
          </a:p>
        </p:txBody>
      </p:sp>
      <p:sp>
        <p:nvSpPr>
          <p:cNvPr id="77" name="Shape 173"/>
          <p:cNvSpPr/>
          <p:nvPr/>
        </p:nvSpPr>
        <p:spPr>
          <a:xfrm>
            <a:off x="457200" y="4730115"/>
            <a:ext cx="8229600" cy="184785"/>
          </a:xfrm>
          <a:prstGeom prst="rect">
            <a:avLst/>
          </a:prstGeom>
          <a:noFill/>
          <a:ln/>
        </p:spPr>
      </p:sp>
      <p:pic>
        <p:nvPicPr>
          <p:cNvPr id="78" name="Picture 173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7200" y="4730115"/>
            <a:ext cx="8229600" cy="184785"/>
          </a:xfrm>
          <a:prstGeom prst="rect">
            <a:avLst/>
          </a:prstGeom>
        </p:spPr>
      </p:pic>
      <p:sp>
        <p:nvSpPr>
          <p:cNvPr id="79" name="TextBox 175"/>
          <p:cNvSpPr/>
          <p:nvPr/>
        </p:nvSpPr>
        <p:spPr>
          <a:xfrm>
            <a:off x="457200" y="4848225"/>
            <a:ext cx="80170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41"/>
              </a:lnSpc>
              <a:buNone/>
            </a:pPr>
            <a:r>
              <a:rPr lang="en-US" sz="541" dirty="0">
                <a:solidFill>
                  <a:srgbClr val="9A9FA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SDLC Agents For Enterprise</a:t>
            </a:r>
            <a:endParaRPr lang="en-US" sz="541" dirty="0"/>
          </a:p>
        </p:txBody>
      </p:sp>
      <p:sp>
        <p:nvSpPr>
          <p:cNvPr id="80" name="TextBox 177"/>
          <p:cNvSpPr/>
          <p:nvPr/>
        </p:nvSpPr>
        <p:spPr>
          <a:xfrm>
            <a:off x="7764006" y="4850606"/>
            <a:ext cx="922794" cy="61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02"/>
              </a:lnSpc>
              <a:buNone/>
            </a:pPr>
            <a:r>
              <a:rPr lang="en-US" sz="502" spc="35" kern="0" dirty="0">
                <a:solidFill>
                  <a:srgbClr val="1779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CODE INTELLIGENCE ENGINE</a:t>
            </a:r>
            <a:endParaRPr lang="en-US" sz="50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D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D"/>
          </a:solidFill>
          <a:ln/>
        </p:spPr>
      </p:sp>
      <p:sp>
        <p:nvSpPr>
          <p:cNvPr id="4" name="TextBox 6"/>
          <p:cNvSpPr/>
          <p:nvPr/>
        </p:nvSpPr>
        <p:spPr>
          <a:xfrm>
            <a:off x="457200" y="342900"/>
            <a:ext cx="619661" cy="93345"/>
          </a:xfrm>
          <a:prstGeom prst="roundRect">
            <a:avLst>
              <a:gd name="adj" fmla="val 26289"/>
            </a:avLst>
          </a:prstGeom>
          <a:solidFill>
            <a:srgbClr val="1779E1"/>
          </a:solidFill>
          <a:ln w="3926">
            <a:solidFill>
              <a:srgbClr val="1779E1"/>
            </a:solidFill>
            <a:prstDash val="solid"/>
          </a:ln>
        </p:spPr>
        <p:txBody>
          <a:bodyPr wrap="square" lIns="49079" tIns="14724" rIns="49079" bIns="14724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LangGraph Pipeline</a:t>
            </a:r>
            <a:endParaRPr lang="en-US" sz="464" dirty="0"/>
          </a:p>
        </p:txBody>
      </p:sp>
      <p:sp>
        <p:nvSpPr>
          <p:cNvPr id="5" name="TextBox 8"/>
          <p:cNvSpPr/>
          <p:nvPr/>
        </p:nvSpPr>
        <p:spPr>
          <a:xfrm>
            <a:off x="1134011" y="342900"/>
            <a:ext cx="433447" cy="93345"/>
          </a:xfrm>
          <a:prstGeom prst="roundRect">
            <a:avLst>
              <a:gd name="adj" fmla="val 26289"/>
            </a:avLst>
          </a:prstGeom>
          <a:solidFill>
            <a:srgbClr val="008B1D"/>
          </a:solidFill>
          <a:ln w="3926">
            <a:solidFill>
              <a:srgbClr val="008B1D"/>
            </a:solidFill>
            <a:prstDash val="solid"/>
          </a:ln>
        </p:spPr>
        <p:txBody>
          <a:bodyPr wrap="square" lIns="49079" tIns="14724" rIns="49079" bIns="14724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 Subgraphs</a:t>
            </a:r>
            <a:endParaRPr lang="en-US" sz="464" dirty="0"/>
          </a:p>
        </p:txBody>
      </p:sp>
      <p:sp>
        <p:nvSpPr>
          <p:cNvPr id="6" name="TextBox 10"/>
          <p:cNvSpPr/>
          <p:nvPr/>
        </p:nvSpPr>
        <p:spPr>
          <a:xfrm>
            <a:off x="1624608" y="342900"/>
            <a:ext cx="613589" cy="93345"/>
          </a:xfrm>
          <a:prstGeom prst="roundRect">
            <a:avLst>
              <a:gd name="adj" fmla="val 26289"/>
            </a:avLst>
          </a:prstGeom>
          <a:solidFill>
            <a:srgbClr val="C08200"/>
          </a:solidFill>
          <a:ln w="3926">
            <a:solidFill>
              <a:srgbClr val="C08200"/>
            </a:solidFill>
            <a:prstDash val="solid"/>
          </a:ln>
        </p:spPr>
        <p:txBody>
          <a:bodyPr wrap="square" lIns="49079" tIns="14724" rIns="49079" bIns="14724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30+ State Channels</a:t>
            </a:r>
            <a:endParaRPr lang="en-US" sz="464" dirty="0"/>
          </a:p>
        </p:txBody>
      </p:sp>
      <p:sp>
        <p:nvSpPr>
          <p:cNvPr id="7" name="TextBox 13"/>
          <p:cNvSpPr/>
          <p:nvPr/>
        </p:nvSpPr>
        <p:spPr>
          <a:xfrm>
            <a:off x="457200" y="474345"/>
            <a:ext cx="822960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855" b="1" spc="-37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 AI Agents</a:t>
            </a:r>
            <a:endParaRPr lang="en-US" sz="1855" dirty="0"/>
          </a:p>
        </p:txBody>
      </p:sp>
      <p:sp>
        <p:nvSpPr>
          <p:cNvPr id="8" name="TextBox 15"/>
          <p:cNvSpPr/>
          <p:nvPr/>
        </p:nvSpPr>
        <p:spPr>
          <a:xfrm>
            <a:off x="457200" y="813435"/>
            <a:ext cx="419100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Multi-agent architecture orchestrating the full SDLC lifecycle — from requirements to deployment. Each agent specializes in a distinct domain, collaborating through LangGraph state machine with 6 subgraphs and 30+ shared state channels.</a:t>
            </a:r>
            <a:endParaRPr lang="en-US" sz="850" dirty="0"/>
          </a:p>
        </p:txBody>
      </p:sp>
      <p:sp>
        <p:nvSpPr>
          <p:cNvPr id="9" name="Shape 19"/>
          <p:cNvSpPr/>
          <p:nvPr/>
        </p:nvSpPr>
        <p:spPr>
          <a:xfrm>
            <a:off x="457200" y="1824514"/>
            <a:ext cx="2692360" cy="782003"/>
          </a:xfrm>
          <a:prstGeom prst="roundRect">
            <a:avLst>
              <a:gd name="adj" fmla="val 7531"/>
            </a:avLst>
          </a:prstGeom>
          <a:solidFill>
            <a:srgbClr val="FFFFFF"/>
          </a:solidFill>
          <a:ln/>
        </p:spPr>
      </p:sp>
      <p:pic>
        <p:nvPicPr>
          <p:cNvPr id="10" name="Picture 19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824514"/>
            <a:ext cx="2692360" cy="782003"/>
          </a:xfrm>
          <a:prstGeom prst="rect">
            <a:avLst/>
          </a:prstGeom>
        </p:spPr>
      </p:pic>
      <p:sp>
        <p:nvSpPr>
          <p:cNvPr id="11" name="TextBox 23"/>
          <p:cNvSpPr/>
          <p:nvPr/>
        </p:nvSpPr>
        <p:spPr>
          <a:xfrm>
            <a:off x="537210" y="1926431"/>
            <a:ext cx="171450" cy="171450"/>
          </a:xfrm>
          <a:prstGeom prst="roundRect">
            <a:avLst>
              <a:gd name="adj" fmla="val 22901"/>
            </a:avLst>
          </a:prstGeom>
          <a:solidFill>
            <a:srgbClr val="286BD7">
              <a:alpha val="14902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541"/>
              </a:lnSpc>
              <a:buNone/>
            </a:pPr>
            <a:r>
              <a:rPr lang="en-US" sz="541" b="1" dirty="0">
                <a:solidFill>
                  <a:srgbClr val="296CD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SM</a:t>
            </a:r>
            <a:endParaRPr lang="en-US" sz="541" dirty="0"/>
          </a:p>
        </p:txBody>
      </p:sp>
      <p:sp>
        <p:nvSpPr>
          <p:cNvPr id="12" name="TextBox 26"/>
          <p:cNvSpPr/>
          <p:nvPr/>
        </p:nvSpPr>
        <p:spPr>
          <a:xfrm>
            <a:off x="756285" y="1912144"/>
            <a:ext cx="722888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80"/>
              </a:lnSpc>
              <a:buNone/>
            </a:pPr>
            <a:r>
              <a:rPr lang="en-US" sz="580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Scrum Master</a:t>
            </a:r>
            <a:endParaRPr lang="en-US" sz="580" dirty="0"/>
          </a:p>
        </p:txBody>
      </p:sp>
      <p:sp>
        <p:nvSpPr>
          <p:cNvPr id="13" name="TextBox 27"/>
          <p:cNvSpPr/>
          <p:nvPr/>
        </p:nvSpPr>
        <p:spPr>
          <a:xfrm>
            <a:off x="756285" y="1983581"/>
            <a:ext cx="722888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Sprint Orchestrator</a:t>
            </a:r>
            <a:endParaRPr lang="en-US" sz="696" dirty="0"/>
          </a:p>
        </p:txBody>
      </p:sp>
      <p:sp>
        <p:nvSpPr>
          <p:cNvPr id="14" name="TextBox 30"/>
          <p:cNvSpPr/>
          <p:nvPr/>
        </p:nvSpPr>
        <p:spPr>
          <a:xfrm>
            <a:off x="537210" y="2140744"/>
            <a:ext cx="2532340" cy="385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Manages sprint lifecycle — backlog grooming, sprint planning, daily standups, retrospectives. Tracks ticket progress across 8 SDLC phases, triggers retry logic up to 2 attempts per phase.</a:t>
            </a:r>
            <a:endParaRPr lang="en-US" sz="696" dirty="0"/>
          </a:p>
        </p:txBody>
      </p:sp>
      <p:sp>
        <p:nvSpPr>
          <p:cNvPr id="15" name="Shape 33"/>
          <p:cNvSpPr/>
          <p:nvPr/>
        </p:nvSpPr>
        <p:spPr>
          <a:xfrm>
            <a:off x="3225760" y="1824514"/>
            <a:ext cx="2692420" cy="782003"/>
          </a:xfrm>
          <a:prstGeom prst="roundRect">
            <a:avLst>
              <a:gd name="adj" fmla="val 7531"/>
            </a:avLst>
          </a:prstGeom>
          <a:solidFill>
            <a:srgbClr val="FFFFFF"/>
          </a:solidFill>
          <a:ln/>
        </p:spPr>
      </p:sp>
      <p:pic>
        <p:nvPicPr>
          <p:cNvPr id="16" name="Picture 33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5760" y="1824514"/>
            <a:ext cx="2692420" cy="782003"/>
          </a:xfrm>
          <a:prstGeom prst="rect">
            <a:avLst/>
          </a:prstGeom>
        </p:spPr>
      </p:pic>
      <p:sp>
        <p:nvSpPr>
          <p:cNvPr id="17" name="TextBox 37"/>
          <p:cNvSpPr/>
          <p:nvPr/>
        </p:nvSpPr>
        <p:spPr>
          <a:xfrm>
            <a:off x="3305770" y="1926431"/>
            <a:ext cx="171450" cy="171450"/>
          </a:xfrm>
          <a:prstGeom prst="roundRect">
            <a:avLst>
              <a:gd name="adj" fmla="val 22901"/>
            </a:avLst>
          </a:prstGeom>
          <a:solidFill>
            <a:srgbClr val="00AE65">
              <a:alpha val="14902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541"/>
              </a:lnSpc>
              <a:buNone/>
            </a:pPr>
            <a:r>
              <a:rPr lang="en-US" sz="541" b="1" dirty="0">
                <a:solidFill>
                  <a:srgbClr val="00AF6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</a:t>
            </a:r>
            <a:endParaRPr lang="en-US" sz="541" dirty="0"/>
          </a:p>
        </p:txBody>
      </p:sp>
      <p:sp>
        <p:nvSpPr>
          <p:cNvPr id="18" name="TextBox 40"/>
          <p:cNvSpPr/>
          <p:nvPr/>
        </p:nvSpPr>
        <p:spPr>
          <a:xfrm>
            <a:off x="3524845" y="1912144"/>
            <a:ext cx="842962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80"/>
              </a:lnSpc>
              <a:buNone/>
            </a:pPr>
            <a:r>
              <a:rPr lang="en-US" sz="580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Business Analyst</a:t>
            </a:r>
            <a:endParaRPr lang="en-US" sz="580" dirty="0"/>
          </a:p>
        </p:txBody>
      </p:sp>
      <p:sp>
        <p:nvSpPr>
          <p:cNvPr id="19" name="TextBox 41"/>
          <p:cNvSpPr/>
          <p:nvPr/>
        </p:nvSpPr>
        <p:spPr>
          <a:xfrm>
            <a:off x="3524845" y="1983581"/>
            <a:ext cx="842962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Requirements Handler</a:t>
            </a:r>
            <a:endParaRPr lang="en-US" sz="696" dirty="0"/>
          </a:p>
        </p:txBody>
      </p:sp>
      <p:sp>
        <p:nvSpPr>
          <p:cNvPr id="20" name="TextBox 44"/>
          <p:cNvSpPr/>
          <p:nvPr/>
        </p:nvSpPr>
        <p:spPr>
          <a:xfrm>
            <a:off x="3305770" y="2140744"/>
            <a:ext cx="2532400" cy="385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Analyzes business requirements, transforms them into structured user stories and acceptance criteria. Outputs requirements documentation consumed by TA and SA in subsequent phases.</a:t>
            </a:r>
            <a:endParaRPr lang="en-US" sz="696" dirty="0"/>
          </a:p>
        </p:txBody>
      </p:sp>
      <p:sp>
        <p:nvSpPr>
          <p:cNvPr id="21" name="Shape 47"/>
          <p:cNvSpPr/>
          <p:nvPr/>
        </p:nvSpPr>
        <p:spPr>
          <a:xfrm>
            <a:off x="5994380" y="1824514"/>
            <a:ext cx="2692420" cy="782003"/>
          </a:xfrm>
          <a:prstGeom prst="roundRect">
            <a:avLst>
              <a:gd name="adj" fmla="val 7531"/>
            </a:avLst>
          </a:prstGeom>
          <a:solidFill>
            <a:srgbClr val="FFFFFF"/>
          </a:solidFill>
          <a:ln/>
        </p:spPr>
      </p:sp>
      <p:pic>
        <p:nvPicPr>
          <p:cNvPr id="22" name="Picture 47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94380" y="1824514"/>
            <a:ext cx="2692420" cy="782003"/>
          </a:xfrm>
          <a:prstGeom prst="rect">
            <a:avLst/>
          </a:prstGeom>
        </p:spPr>
      </p:pic>
      <p:sp>
        <p:nvSpPr>
          <p:cNvPr id="23" name="TextBox 51"/>
          <p:cNvSpPr/>
          <p:nvPr/>
        </p:nvSpPr>
        <p:spPr>
          <a:xfrm>
            <a:off x="6074390" y="1926431"/>
            <a:ext cx="171450" cy="171450"/>
          </a:xfrm>
          <a:prstGeom prst="roundRect">
            <a:avLst>
              <a:gd name="adj" fmla="val 22901"/>
            </a:avLst>
          </a:prstGeom>
          <a:solidFill>
            <a:srgbClr val="8065E4">
              <a:alpha val="14902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541"/>
              </a:lnSpc>
              <a:buNone/>
            </a:pPr>
            <a:r>
              <a:rPr lang="en-US" sz="541" b="1" dirty="0">
                <a:solidFill>
                  <a:srgbClr val="8267E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TA</a:t>
            </a:r>
            <a:endParaRPr lang="en-US" sz="541" dirty="0"/>
          </a:p>
        </p:txBody>
      </p:sp>
      <p:sp>
        <p:nvSpPr>
          <p:cNvPr id="24" name="TextBox 54"/>
          <p:cNvSpPr/>
          <p:nvPr/>
        </p:nvSpPr>
        <p:spPr>
          <a:xfrm>
            <a:off x="6293465" y="1912144"/>
            <a:ext cx="595312" cy="71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80"/>
              </a:lnSpc>
              <a:buNone/>
            </a:pPr>
            <a:r>
              <a:rPr lang="en-US" sz="580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Technical Analyst</a:t>
            </a:r>
            <a:endParaRPr lang="en-US" sz="580" dirty="0"/>
          </a:p>
        </p:txBody>
      </p:sp>
      <p:sp>
        <p:nvSpPr>
          <p:cNvPr id="25" name="TextBox 55"/>
          <p:cNvSpPr/>
          <p:nvPr/>
        </p:nvSpPr>
        <p:spPr>
          <a:xfrm>
            <a:off x="6293465" y="1983581"/>
            <a:ext cx="595312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System Analysis</a:t>
            </a:r>
            <a:endParaRPr lang="en-US" sz="696" dirty="0"/>
          </a:p>
        </p:txBody>
      </p:sp>
      <p:sp>
        <p:nvSpPr>
          <p:cNvPr id="26" name="TextBox 58"/>
          <p:cNvSpPr/>
          <p:nvPr/>
        </p:nvSpPr>
        <p:spPr>
          <a:xfrm>
            <a:off x="6074390" y="2140744"/>
            <a:ext cx="2532400" cy="385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Performs technical feasibility analysis, identifies system dependencies, data flow impacts, and API contracts. Produces technical specification documents for the SA and DEV agents.</a:t>
            </a:r>
            <a:endParaRPr lang="en-US" sz="696" dirty="0"/>
          </a:p>
        </p:txBody>
      </p:sp>
      <p:sp>
        <p:nvSpPr>
          <p:cNvPr id="27" name="Shape 61"/>
          <p:cNvSpPr/>
          <p:nvPr/>
        </p:nvSpPr>
        <p:spPr>
          <a:xfrm>
            <a:off x="457200" y="2682716"/>
            <a:ext cx="2692360" cy="910590"/>
          </a:xfrm>
          <a:prstGeom prst="roundRect">
            <a:avLst>
              <a:gd name="adj" fmla="val 6468"/>
            </a:avLst>
          </a:prstGeom>
          <a:solidFill>
            <a:srgbClr val="FFFFFF"/>
          </a:solidFill>
          <a:ln/>
        </p:spPr>
      </p:sp>
      <p:pic>
        <p:nvPicPr>
          <p:cNvPr id="28" name="Picture 61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" y="2682716"/>
            <a:ext cx="2692360" cy="910590"/>
          </a:xfrm>
          <a:prstGeom prst="rect">
            <a:avLst/>
          </a:prstGeom>
        </p:spPr>
      </p:pic>
      <p:sp>
        <p:nvSpPr>
          <p:cNvPr id="29" name="TextBox 65"/>
          <p:cNvSpPr/>
          <p:nvPr/>
        </p:nvSpPr>
        <p:spPr>
          <a:xfrm>
            <a:off x="537210" y="2784634"/>
            <a:ext cx="171450" cy="171450"/>
          </a:xfrm>
          <a:prstGeom prst="roundRect">
            <a:avLst>
              <a:gd name="adj" fmla="val 22901"/>
            </a:avLst>
          </a:prstGeom>
          <a:solidFill>
            <a:srgbClr val="D78D00">
              <a:alpha val="14902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541"/>
              </a:lnSpc>
              <a:buNone/>
            </a:pPr>
            <a:r>
              <a:rPr lang="en-US" sz="541" b="1" dirty="0">
                <a:solidFill>
                  <a:srgbClr val="D78E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</a:t>
            </a:r>
            <a:endParaRPr lang="en-US" sz="541" dirty="0"/>
          </a:p>
        </p:txBody>
      </p:sp>
      <p:sp>
        <p:nvSpPr>
          <p:cNvPr id="30" name="TextBox 68"/>
          <p:cNvSpPr/>
          <p:nvPr/>
        </p:nvSpPr>
        <p:spPr>
          <a:xfrm>
            <a:off x="756285" y="2770346"/>
            <a:ext cx="744200" cy="71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80"/>
              </a:lnSpc>
              <a:buNone/>
            </a:pPr>
            <a:r>
              <a:rPr lang="en-US" sz="580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Solution Architect</a:t>
            </a:r>
            <a:endParaRPr lang="en-US" sz="580" dirty="0"/>
          </a:p>
        </p:txBody>
      </p:sp>
      <p:sp>
        <p:nvSpPr>
          <p:cNvPr id="31" name="TextBox 69"/>
          <p:cNvSpPr/>
          <p:nvPr/>
        </p:nvSpPr>
        <p:spPr>
          <a:xfrm>
            <a:off x="756285" y="2841783"/>
            <a:ext cx="744200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Architecture Design</a:t>
            </a:r>
            <a:endParaRPr lang="en-US" sz="696" dirty="0"/>
          </a:p>
        </p:txBody>
      </p:sp>
      <p:sp>
        <p:nvSpPr>
          <p:cNvPr id="32" name="TextBox 72"/>
          <p:cNvSpPr/>
          <p:nvPr/>
        </p:nvSpPr>
        <p:spPr>
          <a:xfrm>
            <a:off x="537210" y="2998946"/>
            <a:ext cx="25323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Designs system architecture, component diagrams, tech stack decisions, and data models. Outputs architecture documentation and guides DEV implementation with design constraints.</a:t>
            </a:r>
            <a:endParaRPr lang="en-US" sz="696" dirty="0"/>
          </a:p>
        </p:txBody>
      </p:sp>
      <p:sp>
        <p:nvSpPr>
          <p:cNvPr id="33" name="Shape 75"/>
          <p:cNvSpPr/>
          <p:nvPr/>
        </p:nvSpPr>
        <p:spPr>
          <a:xfrm>
            <a:off x="3225760" y="2682716"/>
            <a:ext cx="2692420" cy="910590"/>
          </a:xfrm>
          <a:prstGeom prst="roundRect">
            <a:avLst>
              <a:gd name="adj" fmla="val 6468"/>
            </a:avLst>
          </a:prstGeom>
          <a:solidFill>
            <a:srgbClr val="FFFFFF"/>
          </a:solidFill>
          <a:ln/>
        </p:spPr>
      </p:sp>
      <p:pic>
        <p:nvPicPr>
          <p:cNvPr id="34" name="Picture 75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25760" y="2682716"/>
            <a:ext cx="2692420" cy="910590"/>
          </a:xfrm>
          <a:prstGeom prst="rect">
            <a:avLst/>
          </a:prstGeom>
        </p:spPr>
      </p:pic>
      <p:sp>
        <p:nvSpPr>
          <p:cNvPr id="35" name="TextBox 79"/>
          <p:cNvSpPr/>
          <p:nvPr/>
        </p:nvSpPr>
        <p:spPr>
          <a:xfrm>
            <a:off x="3305770" y="2784634"/>
            <a:ext cx="171450" cy="171450"/>
          </a:xfrm>
          <a:prstGeom prst="roundRect">
            <a:avLst>
              <a:gd name="adj" fmla="val 22901"/>
            </a:avLst>
          </a:prstGeom>
          <a:solidFill>
            <a:srgbClr val="008D9A">
              <a:alpha val="14902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541"/>
              </a:lnSpc>
              <a:buNone/>
            </a:pPr>
            <a:r>
              <a:rPr lang="en-US" sz="541" b="1" dirty="0">
                <a:solidFill>
                  <a:srgbClr val="008D9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DEV</a:t>
            </a:r>
            <a:endParaRPr lang="en-US" sz="541" dirty="0"/>
          </a:p>
        </p:txBody>
      </p:sp>
      <p:sp>
        <p:nvSpPr>
          <p:cNvPr id="36" name="TextBox 82"/>
          <p:cNvSpPr/>
          <p:nvPr/>
        </p:nvSpPr>
        <p:spPr>
          <a:xfrm>
            <a:off x="3524845" y="2770346"/>
            <a:ext cx="601087" cy="71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80"/>
              </a:lnSpc>
              <a:buNone/>
            </a:pPr>
            <a:r>
              <a:rPr lang="en-US" sz="580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Developer</a:t>
            </a:r>
            <a:endParaRPr lang="en-US" sz="580" dirty="0"/>
          </a:p>
        </p:txBody>
      </p:sp>
      <p:sp>
        <p:nvSpPr>
          <p:cNvPr id="37" name="TextBox 83"/>
          <p:cNvSpPr/>
          <p:nvPr/>
        </p:nvSpPr>
        <p:spPr>
          <a:xfrm>
            <a:off x="3524845" y="2841783"/>
            <a:ext cx="601087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Implementation</a:t>
            </a:r>
            <a:endParaRPr lang="en-US" sz="696" dirty="0"/>
          </a:p>
        </p:txBody>
      </p:sp>
      <p:sp>
        <p:nvSpPr>
          <p:cNvPr id="38" name="TextBox 86"/>
          <p:cNvSpPr/>
          <p:nvPr/>
        </p:nvSpPr>
        <p:spPr>
          <a:xfrm>
            <a:off x="3305770" y="2998946"/>
            <a:ext cx="25324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Writes production code following SA architecture and TA specifications. Implements features, unit tests, and integrates with existing codebase. Outputs code diff and test results to QA gate.</a:t>
            </a:r>
            <a:endParaRPr lang="en-US" sz="696" dirty="0"/>
          </a:p>
        </p:txBody>
      </p:sp>
      <p:sp>
        <p:nvSpPr>
          <p:cNvPr id="39" name="Shape 89"/>
          <p:cNvSpPr/>
          <p:nvPr/>
        </p:nvSpPr>
        <p:spPr>
          <a:xfrm>
            <a:off x="5994380" y="2682716"/>
            <a:ext cx="2692420" cy="910590"/>
          </a:xfrm>
          <a:prstGeom prst="roundRect">
            <a:avLst>
              <a:gd name="adj" fmla="val 6468"/>
            </a:avLst>
          </a:prstGeom>
          <a:solidFill>
            <a:srgbClr val="FFFFFF"/>
          </a:solidFill>
          <a:ln/>
        </p:spPr>
      </p:sp>
      <p:pic>
        <p:nvPicPr>
          <p:cNvPr id="40" name="Picture 89" descr="__type_imag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94380" y="2682716"/>
            <a:ext cx="2692420" cy="910590"/>
          </a:xfrm>
          <a:prstGeom prst="rect">
            <a:avLst/>
          </a:prstGeom>
        </p:spPr>
      </p:pic>
      <p:sp>
        <p:nvSpPr>
          <p:cNvPr id="41" name="TextBox 93"/>
          <p:cNvSpPr/>
          <p:nvPr/>
        </p:nvSpPr>
        <p:spPr>
          <a:xfrm>
            <a:off x="6074390" y="2784634"/>
            <a:ext cx="171450" cy="171450"/>
          </a:xfrm>
          <a:prstGeom prst="roundRect">
            <a:avLst>
              <a:gd name="adj" fmla="val 22901"/>
            </a:avLst>
          </a:prstGeom>
          <a:solidFill>
            <a:srgbClr val="EB574A">
              <a:alpha val="14902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541"/>
              </a:lnSpc>
              <a:buNone/>
            </a:pPr>
            <a:r>
              <a:rPr lang="en-US" sz="541" b="1" dirty="0">
                <a:solidFill>
                  <a:srgbClr val="E85A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QA</a:t>
            </a:r>
            <a:endParaRPr lang="en-US" sz="541" dirty="0"/>
          </a:p>
        </p:txBody>
      </p:sp>
      <p:sp>
        <p:nvSpPr>
          <p:cNvPr id="42" name="TextBox 96"/>
          <p:cNvSpPr/>
          <p:nvPr/>
        </p:nvSpPr>
        <p:spPr>
          <a:xfrm>
            <a:off x="6293465" y="2770346"/>
            <a:ext cx="725924" cy="71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80"/>
              </a:lnSpc>
              <a:buNone/>
            </a:pPr>
            <a:r>
              <a:rPr lang="en-US" sz="580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Quality Assurance</a:t>
            </a:r>
            <a:endParaRPr lang="en-US" sz="580" dirty="0"/>
          </a:p>
        </p:txBody>
      </p:sp>
      <p:sp>
        <p:nvSpPr>
          <p:cNvPr id="43" name="TextBox 97"/>
          <p:cNvSpPr/>
          <p:nvPr/>
        </p:nvSpPr>
        <p:spPr>
          <a:xfrm>
            <a:off x="6293465" y="2841783"/>
            <a:ext cx="725924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Quality Gatekeeper</a:t>
            </a:r>
            <a:endParaRPr lang="en-US" sz="696" dirty="0"/>
          </a:p>
        </p:txBody>
      </p:sp>
      <p:sp>
        <p:nvSpPr>
          <p:cNvPr id="44" name="TextBox 100"/>
          <p:cNvSpPr/>
          <p:nvPr/>
        </p:nvSpPr>
        <p:spPr>
          <a:xfrm>
            <a:off x="6074390" y="2998946"/>
            <a:ext cx="25324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Runs automated test suites, validates acceptance criteria, performs quality scoring. Enforces Quality Gate: max 2 retries per phase, automatic strategy switch on failure, human intervention escalation.</a:t>
            </a:r>
            <a:endParaRPr lang="en-US" sz="696" dirty="0"/>
          </a:p>
        </p:txBody>
      </p:sp>
      <p:sp>
        <p:nvSpPr>
          <p:cNvPr id="45" name="Shape 103"/>
          <p:cNvSpPr/>
          <p:nvPr/>
        </p:nvSpPr>
        <p:spPr>
          <a:xfrm>
            <a:off x="457200" y="3669506"/>
            <a:ext cx="2692360" cy="782003"/>
          </a:xfrm>
          <a:prstGeom prst="roundRect">
            <a:avLst>
              <a:gd name="adj" fmla="val 7531"/>
            </a:avLst>
          </a:prstGeom>
          <a:solidFill>
            <a:srgbClr val="FFFFFF"/>
          </a:solidFill>
          <a:ln/>
        </p:spPr>
      </p:sp>
      <p:pic>
        <p:nvPicPr>
          <p:cNvPr id="46" name="Picture 103" descr="__type_image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7200" y="3669506"/>
            <a:ext cx="2692360" cy="782003"/>
          </a:xfrm>
          <a:prstGeom prst="rect">
            <a:avLst/>
          </a:prstGeom>
        </p:spPr>
      </p:pic>
      <p:sp>
        <p:nvSpPr>
          <p:cNvPr id="47" name="TextBox 107"/>
          <p:cNvSpPr/>
          <p:nvPr/>
        </p:nvSpPr>
        <p:spPr>
          <a:xfrm>
            <a:off x="537210" y="3771423"/>
            <a:ext cx="171450" cy="171450"/>
          </a:xfrm>
          <a:prstGeom prst="roundRect">
            <a:avLst>
              <a:gd name="adj" fmla="val 22901"/>
            </a:avLst>
          </a:prstGeom>
          <a:solidFill>
            <a:srgbClr val="C08200">
              <a:alpha val="15000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541"/>
              </a:lnSpc>
              <a:buNone/>
            </a:pPr>
            <a:r>
              <a:rPr lang="en-US" sz="541" b="1" dirty="0">
                <a:solidFill>
                  <a:srgbClr val="C08200">
                    <a:alpha val="1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</a:t>
            </a:r>
            <a:endParaRPr lang="en-US" sz="541" dirty="0"/>
          </a:p>
        </p:txBody>
      </p:sp>
      <p:sp>
        <p:nvSpPr>
          <p:cNvPr id="48" name="TextBox 110"/>
          <p:cNvSpPr/>
          <p:nvPr/>
        </p:nvSpPr>
        <p:spPr>
          <a:xfrm>
            <a:off x="756285" y="3757136"/>
            <a:ext cx="464046" cy="71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80"/>
              </a:lnSpc>
              <a:buNone/>
            </a:pPr>
            <a:r>
              <a:rPr lang="en-US" sz="580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DevOps</a:t>
            </a:r>
            <a:endParaRPr lang="en-US" sz="580" dirty="0"/>
          </a:p>
        </p:txBody>
      </p:sp>
      <p:sp>
        <p:nvSpPr>
          <p:cNvPr id="49" name="TextBox 111"/>
          <p:cNvSpPr/>
          <p:nvPr/>
        </p:nvSpPr>
        <p:spPr>
          <a:xfrm>
            <a:off x="756285" y="3828574"/>
            <a:ext cx="464046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Deployment</a:t>
            </a:r>
            <a:endParaRPr lang="en-US" sz="696" dirty="0"/>
          </a:p>
        </p:txBody>
      </p:sp>
      <p:sp>
        <p:nvSpPr>
          <p:cNvPr id="50" name="TextBox 114"/>
          <p:cNvSpPr/>
          <p:nvPr/>
        </p:nvSpPr>
        <p:spPr>
          <a:xfrm>
            <a:off x="537210" y="3985736"/>
            <a:ext cx="2532340" cy="385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Manages CI/CD pipeline, build configuration, containerization, environment provisioning. Handles deployment artifacts generation, rollback procedures, and release note creation.</a:t>
            </a:r>
            <a:endParaRPr lang="en-US" sz="696" dirty="0"/>
          </a:p>
        </p:txBody>
      </p:sp>
      <p:sp>
        <p:nvSpPr>
          <p:cNvPr id="51" name="Shape 117"/>
          <p:cNvSpPr/>
          <p:nvPr/>
        </p:nvSpPr>
        <p:spPr>
          <a:xfrm>
            <a:off x="3225760" y="3669506"/>
            <a:ext cx="2692420" cy="782003"/>
          </a:xfrm>
          <a:prstGeom prst="roundRect">
            <a:avLst>
              <a:gd name="adj" fmla="val 7531"/>
            </a:avLst>
          </a:prstGeom>
          <a:solidFill>
            <a:srgbClr val="FFFFFF"/>
          </a:solidFill>
          <a:ln/>
        </p:spPr>
      </p:sp>
      <p:pic>
        <p:nvPicPr>
          <p:cNvPr id="52" name="Picture 117" descr="__type_image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25760" y="3669506"/>
            <a:ext cx="2692420" cy="782003"/>
          </a:xfrm>
          <a:prstGeom prst="rect">
            <a:avLst/>
          </a:prstGeom>
        </p:spPr>
      </p:pic>
      <p:sp>
        <p:nvSpPr>
          <p:cNvPr id="53" name="TextBox 121"/>
          <p:cNvSpPr/>
          <p:nvPr/>
        </p:nvSpPr>
        <p:spPr>
          <a:xfrm>
            <a:off x="3305770" y="3771423"/>
            <a:ext cx="171450" cy="171450"/>
          </a:xfrm>
          <a:prstGeom prst="roundRect">
            <a:avLst>
              <a:gd name="adj" fmla="val 22901"/>
            </a:avLst>
          </a:prstGeom>
          <a:solidFill>
            <a:srgbClr val="BC366B">
              <a:alpha val="14902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541"/>
              </a:lnSpc>
              <a:buNone/>
            </a:pPr>
            <a:r>
              <a:rPr lang="en-US" sz="541" b="1" dirty="0">
                <a:solidFill>
                  <a:srgbClr val="BE346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SEC</a:t>
            </a:r>
            <a:endParaRPr lang="en-US" sz="541" dirty="0"/>
          </a:p>
        </p:txBody>
      </p:sp>
      <p:sp>
        <p:nvSpPr>
          <p:cNvPr id="54" name="TextBox 124"/>
          <p:cNvSpPr/>
          <p:nvPr/>
        </p:nvSpPr>
        <p:spPr>
          <a:xfrm>
            <a:off x="3524845" y="3757136"/>
            <a:ext cx="527209" cy="71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80"/>
              </a:lnSpc>
              <a:buNone/>
            </a:pPr>
            <a:r>
              <a:rPr lang="en-US" sz="580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Security</a:t>
            </a:r>
            <a:endParaRPr lang="en-US" sz="580" dirty="0"/>
          </a:p>
        </p:txBody>
      </p:sp>
      <p:sp>
        <p:nvSpPr>
          <p:cNvPr id="55" name="TextBox 125"/>
          <p:cNvSpPr/>
          <p:nvPr/>
        </p:nvSpPr>
        <p:spPr>
          <a:xfrm>
            <a:off x="3524845" y="3828574"/>
            <a:ext cx="527209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Security Audit</a:t>
            </a:r>
            <a:endParaRPr lang="en-US" sz="696" dirty="0"/>
          </a:p>
        </p:txBody>
      </p:sp>
      <p:sp>
        <p:nvSpPr>
          <p:cNvPr id="56" name="TextBox 128"/>
          <p:cNvSpPr/>
          <p:nvPr/>
        </p:nvSpPr>
        <p:spPr>
          <a:xfrm>
            <a:off x="3305770" y="3985736"/>
            <a:ext cx="2532400" cy="385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Performs security vulnerability scanning, dependency auditing, threat modeling, and compliance checks. Generates security audit reports and recommends remediation steps.</a:t>
            </a:r>
            <a:endParaRPr lang="en-US" sz="696" dirty="0"/>
          </a:p>
        </p:txBody>
      </p:sp>
      <p:sp>
        <p:nvSpPr>
          <p:cNvPr id="57" name="Shape 131"/>
          <p:cNvSpPr/>
          <p:nvPr/>
        </p:nvSpPr>
        <p:spPr>
          <a:xfrm>
            <a:off x="5994380" y="3669506"/>
            <a:ext cx="2692420" cy="782003"/>
          </a:xfrm>
          <a:prstGeom prst="roundRect">
            <a:avLst>
              <a:gd name="adj" fmla="val 7531"/>
            </a:avLst>
          </a:prstGeom>
          <a:solidFill>
            <a:srgbClr val="FFFFFF"/>
          </a:solidFill>
          <a:ln/>
        </p:spPr>
      </p:sp>
      <p:pic>
        <p:nvPicPr>
          <p:cNvPr id="58" name="Picture 131" descr="__type_image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994380" y="3669506"/>
            <a:ext cx="2692420" cy="782003"/>
          </a:xfrm>
          <a:prstGeom prst="rect">
            <a:avLst/>
          </a:prstGeom>
        </p:spPr>
      </p:pic>
      <p:sp>
        <p:nvSpPr>
          <p:cNvPr id="59" name="TextBox 135"/>
          <p:cNvSpPr/>
          <p:nvPr/>
        </p:nvSpPr>
        <p:spPr>
          <a:xfrm>
            <a:off x="6074390" y="3771423"/>
            <a:ext cx="171450" cy="171450"/>
          </a:xfrm>
          <a:prstGeom prst="roundRect">
            <a:avLst>
              <a:gd name="adj" fmla="val 22901"/>
            </a:avLst>
          </a:prstGeom>
          <a:solidFill>
            <a:srgbClr val="AE6BDD">
              <a:alpha val="14902"/>
            </a:srgbClr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541"/>
              </a:lnSpc>
              <a:buNone/>
            </a:pPr>
            <a:r>
              <a:rPr lang="en-US" sz="541" b="1" dirty="0">
                <a:solidFill>
                  <a:srgbClr val="B16AE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UI</a:t>
            </a:r>
            <a:endParaRPr lang="en-US" sz="541" dirty="0"/>
          </a:p>
        </p:txBody>
      </p:sp>
      <p:sp>
        <p:nvSpPr>
          <p:cNvPr id="60" name="TextBox 138"/>
          <p:cNvSpPr/>
          <p:nvPr/>
        </p:nvSpPr>
        <p:spPr>
          <a:xfrm>
            <a:off x="6293465" y="3757136"/>
            <a:ext cx="614482" cy="71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80"/>
              </a:lnSpc>
              <a:buNone/>
            </a:pPr>
            <a:r>
              <a:rPr lang="en-US" sz="580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UI/UX Designer</a:t>
            </a:r>
            <a:endParaRPr lang="en-US" sz="580" dirty="0"/>
          </a:p>
        </p:txBody>
      </p:sp>
      <p:sp>
        <p:nvSpPr>
          <p:cNvPr id="61" name="TextBox 139"/>
          <p:cNvSpPr/>
          <p:nvPr/>
        </p:nvSpPr>
        <p:spPr>
          <a:xfrm>
            <a:off x="6293465" y="3828574"/>
            <a:ext cx="614482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Interface Design</a:t>
            </a:r>
            <a:endParaRPr lang="en-US" sz="696" dirty="0"/>
          </a:p>
        </p:txBody>
      </p:sp>
      <p:sp>
        <p:nvSpPr>
          <p:cNvPr id="62" name="TextBox 142"/>
          <p:cNvSpPr/>
          <p:nvPr/>
        </p:nvSpPr>
        <p:spPr>
          <a:xfrm>
            <a:off x="6074390" y="3985736"/>
            <a:ext cx="2532400" cy="385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Designs user interfaces, wireframes, and user experience flows. Produces UI specifications, component mockups, and accessibility guidelines consumed by DEV during implementation.</a:t>
            </a:r>
            <a:endParaRPr lang="en-US" sz="696" dirty="0"/>
          </a:p>
        </p:txBody>
      </p:sp>
      <p:sp>
        <p:nvSpPr>
          <p:cNvPr id="63" name="Shape 146"/>
          <p:cNvSpPr/>
          <p:nvPr/>
        </p:nvSpPr>
        <p:spPr>
          <a:xfrm>
            <a:off x="457200" y="4730115"/>
            <a:ext cx="8229600" cy="184785"/>
          </a:xfrm>
          <a:prstGeom prst="rect">
            <a:avLst/>
          </a:prstGeom>
          <a:noFill/>
          <a:ln/>
        </p:spPr>
      </p:sp>
      <p:pic>
        <p:nvPicPr>
          <p:cNvPr id="64" name="Picture 146" descr="__type_image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57200" y="4730115"/>
            <a:ext cx="8229600" cy="184785"/>
          </a:xfrm>
          <a:prstGeom prst="rect">
            <a:avLst/>
          </a:prstGeom>
        </p:spPr>
      </p:pic>
      <p:sp>
        <p:nvSpPr>
          <p:cNvPr id="65" name="TextBox 148"/>
          <p:cNvSpPr/>
          <p:nvPr/>
        </p:nvSpPr>
        <p:spPr>
          <a:xfrm>
            <a:off x="457200" y="4848225"/>
            <a:ext cx="80170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41"/>
              </a:lnSpc>
              <a:buNone/>
            </a:pPr>
            <a:r>
              <a:rPr lang="en-US" sz="541" dirty="0">
                <a:solidFill>
                  <a:srgbClr val="9A9FA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SDLC Agents For Enterprise</a:t>
            </a:r>
            <a:endParaRPr lang="en-US" sz="541" dirty="0"/>
          </a:p>
        </p:txBody>
      </p:sp>
      <p:sp>
        <p:nvSpPr>
          <p:cNvPr id="66" name="TextBox 150"/>
          <p:cNvSpPr/>
          <p:nvPr/>
        </p:nvSpPr>
        <p:spPr>
          <a:xfrm>
            <a:off x="8279487" y="4850606"/>
            <a:ext cx="407312" cy="61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02"/>
              </a:lnSpc>
              <a:buNone/>
            </a:pPr>
            <a:r>
              <a:rPr lang="en-US" sz="502" spc="35" kern="0" dirty="0">
                <a:solidFill>
                  <a:srgbClr val="1779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 AI AGENTS</a:t>
            </a:r>
            <a:endParaRPr lang="en-US" sz="50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D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D"/>
          </a:solidFill>
          <a:ln/>
        </p:spPr>
      </p:sp>
      <p:sp>
        <p:nvSpPr>
          <p:cNvPr id="4" name="TextBox 6"/>
          <p:cNvSpPr/>
          <p:nvPr/>
        </p:nvSpPr>
        <p:spPr>
          <a:xfrm>
            <a:off x="457200" y="342900"/>
            <a:ext cx="560725" cy="93345"/>
          </a:xfrm>
          <a:prstGeom prst="roundRect">
            <a:avLst>
              <a:gd name="adj" fmla="val 26289"/>
            </a:avLst>
          </a:prstGeom>
          <a:solidFill>
            <a:srgbClr val="1779E1"/>
          </a:solidFill>
          <a:ln w="3926">
            <a:solidFill>
              <a:srgbClr val="1779E1"/>
            </a:solidFill>
            <a:prstDash val="solid"/>
          </a:ln>
        </p:spPr>
        <p:txBody>
          <a:bodyPr wrap="square" lIns="49079" tIns="14724" rIns="49079" bIns="14724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35 Steering Rules</a:t>
            </a:r>
            <a:endParaRPr lang="en-US" sz="464" dirty="0"/>
          </a:p>
        </p:txBody>
      </p:sp>
      <p:sp>
        <p:nvSpPr>
          <p:cNvPr id="5" name="TextBox 8"/>
          <p:cNvSpPr/>
          <p:nvPr/>
        </p:nvSpPr>
        <p:spPr>
          <a:xfrm>
            <a:off x="1075075" y="342900"/>
            <a:ext cx="540187" cy="93345"/>
          </a:xfrm>
          <a:prstGeom prst="roundRect">
            <a:avLst>
              <a:gd name="adj" fmla="val 26289"/>
            </a:avLst>
          </a:prstGeom>
          <a:solidFill>
            <a:srgbClr val="008B1D"/>
          </a:solidFill>
          <a:ln w="3926">
            <a:solidFill>
              <a:srgbClr val="008B1D"/>
            </a:solidFill>
            <a:prstDash val="solid"/>
          </a:ln>
        </p:spPr>
        <p:txBody>
          <a:bodyPr wrap="square" lIns="49079" tIns="14724" rIns="49079" bIns="14724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8 Pattern Guides</a:t>
            </a:r>
            <a:endParaRPr lang="en-US" sz="464" dirty="0"/>
          </a:p>
        </p:txBody>
      </p:sp>
      <p:sp>
        <p:nvSpPr>
          <p:cNvPr id="6" name="TextBox 10"/>
          <p:cNvSpPr/>
          <p:nvPr/>
        </p:nvSpPr>
        <p:spPr>
          <a:xfrm>
            <a:off x="1672411" y="342900"/>
            <a:ext cx="605849" cy="93345"/>
          </a:xfrm>
          <a:prstGeom prst="roundRect">
            <a:avLst>
              <a:gd name="adj" fmla="val 26289"/>
            </a:avLst>
          </a:prstGeom>
          <a:solidFill>
            <a:srgbClr val="C08200"/>
          </a:solidFill>
          <a:ln w="3926">
            <a:solidFill>
              <a:srgbClr val="C08200"/>
            </a:solidFill>
            <a:prstDash val="solid"/>
          </a:ln>
        </p:spPr>
        <p:txBody>
          <a:bodyPr wrap="square" lIns="49079" tIns="14724" rIns="49079" bIns="14724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 Autonomy Levels</a:t>
            </a:r>
            <a:endParaRPr lang="en-US" sz="464" dirty="0"/>
          </a:p>
        </p:txBody>
      </p:sp>
      <p:sp>
        <p:nvSpPr>
          <p:cNvPr id="7" name="TextBox 13"/>
          <p:cNvSpPr/>
          <p:nvPr/>
        </p:nvSpPr>
        <p:spPr>
          <a:xfrm>
            <a:off x="457200" y="474345"/>
            <a:ext cx="822960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855" b="1" spc="-37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Steering Rules &amp; Guardrails</a:t>
            </a:r>
            <a:endParaRPr lang="en-US" sz="1855" dirty="0"/>
          </a:p>
        </p:txBody>
      </p:sp>
      <p:sp>
        <p:nvSpPr>
          <p:cNvPr id="8" name="TextBox 15"/>
          <p:cNvSpPr/>
          <p:nvPr/>
        </p:nvSpPr>
        <p:spPr>
          <a:xfrm>
            <a:off x="457200" y="813435"/>
            <a:ext cx="419100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Hierarchical steering system governing agent behavior: 35 rules with front-matter metadata, circuit breaker for failure handling, token budget enforcement, and 3-tier autonomy levels (L1–L3).</a:t>
            </a:r>
            <a:endParaRPr lang="en-US" sz="850" dirty="0"/>
          </a:p>
        </p:txBody>
      </p:sp>
      <p:sp>
        <p:nvSpPr>
          <p:cNvPr id="9" name="Shape 19"/>
          <p:cNvSpPr/>
          <p:nvPr/>
        </p:nvSpPr>
        <p:spPr>
          <a:xfrm>
            <a:off x="457200" y="2377916"/>
            <a:ext cx="2692360" cy="1405890"/>
          </a:xfrm>
          <a:prstGeom prst="roundRect">
            <a:avLst>
              <a:gd name="adj" fmla="val 3491"/>
            </a:avLst>
          </a:prstGeom>
          <a:solidFill>
            <a:srgbClr val="FFFFFF"/>
          </a:solidFill>
          <a:ln/>
        </p:spPr>
      </p:sp>
      <p:pic>
        <p:nvPicPr>
          <p:cNvPr id="10" name="Picture 19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2377916"/>
            <a:ext cx="2692360" cy="1405890"/>
          </a:xfrm>
          <a:prstGeom prst="rect">
            <a:avLst/>
          </a:prstGeom>
        </p:spPr>
      </p:pic>
      <p:sp>
        <p:nvSpPr>
          <p:cNvPr id="11" name="TextBox 21"/>
          <p:cNvSpPr/>
          <p:nvPr/>
        </p:nvSpPr>
        <p:spPr>
          <a:xfrm>
            <a:off x="556260" y="2484596"/>
            <a:ext cx="2494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91"/>
              </a:lnSpc>
              <a:buNone/>
            </a:pPr>
            <a:r>
              <a:rPr lang="en-US" sz="1391" b="1" spc="-28" kern="0" dirty="0">
                <a:solidFill>
                  <a:srgbClr val="1779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35</a:t>
            </a:r>
            <a:endParaRPr lang="en-US" sz="1391" dirty="0"/>
          </a:p>
        </p:txBody>
      </p:sp>
      <p:sp>
        <p:nvSpPr>
          <p:cNvPr id="12" name="TextBox 23"/>
          <p:cNvSpPr/>
          <p:nvPr/>
        </p:nvSpPr>
        <p:spPr>
          <a:xfrm>
            <a:off x="556260" y="2675096"/>
            <a:ext cx="2494240" cy="7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03"/>
              </a:lnSpc>
              <a:buNone/>
            </a:pPr>
            <a:r>
              <a:rPr lang="en-US" sz="464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STEERING RULES</a:t>
            </a:r>
            <a:endParaRPr lang="en-US" sz="464" dirty="0"/>
          </a:p>
        </p:txBody>
      </p:sp>
      <p:sp>
        <p:nvSpPr>
          <p:cNvPr id="13" name="TextBox 25"/>
          <p:cNvSpPr/>
          <p:nvPr/>
        </p:nvSpPr>
        <p:spPr>
          <a:xfrm>
            <a:off x="556260" y="2797016"/>
            <a:ext cx="2494240" cy="111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4"/>
              </a:lnSpc>
              <a:buNone/>
            </a:pPr>
            <a:r>
              <a:rPr lang="en-US" sz="696" b="1" spc="-7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Rule System</a:t>
            </a:r>
            <a:endParaRPr lang="en-US" sz="696" dirty="0"/>
          </a:p>
        </p:txBody>
      </p:sp>
      <p:sp>
        <p:nvSpPr>
          <p:cNvPr id="14" name="TextBox 27"/>
          <p:cNvSpPr/>
          <p:nvPr/>
        </p:nvSpPr>
        <p:spPr>
          <a:xfrm>
            <a:off x="556260" y="2927509"/>
            <a:ext cx="2494240" cy="633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Front-matter metadata: targets, inclusion, priority</a:t>
            </a:r>
            <a:endParaRPr lang="en-US" sz="464" dirty="0"/>
          </a:p>
          <a:p>
            <a:pPr algn="l"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Auto-injected (~4000 chars / ~1000 tokens budget)</a:t>
            </a:r>
            <a:endParaRPr lang="en-US" sz="464" dirty="0"/>
          </a:p>
          <a:p>
            <a:pPr algn="l"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 phase-specific rules (requirements through deployment)</a:t>
            </a:r>
            <a:endParaRPr lang="en-US" sz="464" dirty="0"/>
          </a:p>
          <a:p>
            <a:pPr algn="l"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8 shared rules: Jira, quality gates, diagrams, etc.</a:t>
            </a:r>
            <a:endParaRPr lang="en-US" sz="464" dirty="0"/>
          </a:p>
          <a:p>
            <a:pPr algn="l"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8 architectural pattern guides (microservice, monolith, etc.)</a:t>
            </a:r>
            <a:endParaRPr lang="en-US" sz="464" dirty="0"/>
          </a:p>
          <a:p>
            <a:pPr algn="l"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Rules sorted by priority descending</a:t>
            </a:r>
            <a:endParaRPr lang="en-US" sz="464" dirty="0"/>
          </a:p>
        </p:txBody>
      </p:sp>
      <p:sp>
        <p:nvSpPr>
          <p:cNvPr id="15" name="TextBox 31"/>
          <p:cNvSpPr/>
          <p:nvPr/>
        </p:nvSpPr>
        <p:spPr>
          <a:xfrm>
            <a:off x="556260" y="3599021"/>
            <a:ext cx="447258" cy="85725"/>
          </a:xfrm>
          <a:prstGeom prst="roundRect">
            <a:avLst>
              <a:gd name="adj" fmla="val 34351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386"/>
              </a:lnSpc>
              <a:buNone/>
            </a:pPr>
            <a:r>
              <a:rPr lang="en-US" sz="386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SteeringLoader</a:t>
            </a:r>
            <a:endParaRPr lang="en-US" sz="386" dirty="0"/>
          </a:p>
        </p:txBody>
      </p:sp>
      <p:sp>
        <p:nvSpPr>
          <p:cNvPr id="16" name="TextBox 33"/>
          <p:cNvSpPr/>
          <p:nvPr/>
        </p:nvSpPr>
        <p:spPr>
          <a:xfrm>
            <a:off x="1022568" y="3599021"/>
            <a:ext cx="449818" cy="85725"/>
          </a:xfrm>
          <a:prstGeom prst="roundRect">
            <a:avLst>
              <a:gd name="adj" fmla="val 34351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386"/>
              </a:lnSpc>
              <a:buNone/>
            </a:pPr>
            <a:r>
              <a:rPr lang="en-US" sz="386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injectSteering()</a:t>
            </a:r>
            <a:endParaRPr lang="en-US" sz="386" dirty="0"/>
          </a:p>
        </p:txBody>
      </p:sp>
      <p:sp>
        <p:nvSpPr>
          <p:cNvPr id="17" name="TextBox 35"/>
          <p:cNvSpPr/>
          <p:nvPr/>
        </p:nvSpPr>
        <p:spPr>
          <a:xfrm>
            <a:off x="1491436" y="3599021"/>
            <a:ext cx="376654" cy="85725"/>
          </a:xfrm>
          <a:prstGeom prst="roundRect">
            <a:avLst>
              <a:gd name="adj" fmla="val 34351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386"/>
              </a:lnSpc>
              <a:buNone/>
            </a:pPr>
            <a:r>
              <a:rPr lang="en-US" sz="386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sm-core.md</a:t>
            </a:r>
            <a:endParaRPr lang="en-US" sz="386" dirty="0"/>
          </a:p>
        </p:txBody>
      </p:sp>
      <p:sp>
        <p:nvSpPr>
          <p:cNvPr id="18" name="Shape 39"/>
          <p:cNvSpPr/>
          <p:nvPr/>
        </p:nvSpPr>
        <p:spPr>
          <a:xfrm>
            <a:off x="3225760" y="2377916"/>
            <a:ext cx="2692420" cy="1405890"/>
          </a:xfrm>
          <a:prstGeom prst="roundRect">
            <a:avLst>
              <a:gd name="adj" fmla="val 3491"/>
            </a:avLst>
          </a:prstGeom>
          <a:solidFill>
            <a:srgbClr val="FFFFFF"/>
          </a:solidFill>
          <a:ln/>
        </p:spPr>
      </p:sp>
      <p:pic>
        <p:nvPicPr>
          <p:cNvPr id="19" name="Picture 39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5760" y="2377916"/>
            <a:ext cx="2692420" cy="1405890"/>
          </a:xfrm>
          <a:prstGeom prst="rect">
            <a:avLst/>
          </a:prstGeom>
        </p:spPr>
      </p:pic>
      <p:sp>
        <p:nvSpPr>
          <p:cNvPr id="20" name="TextBox 41"/>
          <p:cNvSpPr/>
          <p:nvPr/>
        </p:nvSpPr>
        <p:spPr>
          <a:xfrm>
            <a:off x="3324820" y="2484596"/>
            <a:ext cx="2494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91"/>
              </a:lnSpc>
              <a:buNone/>
            </a:pPr>
            <a:r>
              <a:rPr lang="en-US" sz="1391" b="1" spc="-28" kern="0" dirty="0">
                <a:solidFill>
                  <a:srgbClr val="008B1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</a:t>
            </a:r>
            <a:endParaRPr lang="en-US" sz="1391" dirty="0"/>
          </a:p>
        </p:txBody>
      </p:sp>
      <p:sp>
        <p:nvSpPr>
          <p:cNvPr id="21" name="TextBox 43"/>
          <p:cNvSpPr/>
          <p:nvPr/>
        </p:nvSpPr>
        <p:spPr>
          <a:xfrm>
            <a:off x="3324820" y="2675096"/>
            <a:ext cx="2494300" cy="7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03"/>
              </a:lnSpc>
              <a:buNone/>
            </a:pPr>
            <a:r>
              <a:rPr lang="en-US" sz="464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CIRCUIT BREAKER STATES</a:t>
            </a:r>
            <a:endParaRPr lang="en-US" sz="464" dirty="0"/>
          </a:p>
        </p:txBody>
      </p:sp>
      <p:sp>
        <p:nvSpPr>
          <p:cNvPr id="22" name="TextBox 45"/>
          <p:cNvSpPr/>
          <p:nvPr/>
        </p:nvSpPr>
        <p:spPr>
          <a:xfrm>
            <a:off x="3324820" y="2797016"/>
            <a:ext cx="2494300" cy="111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4"/>
              </a:lnSpc>
              <a:buNone/>
            </a:pPr>
            <a:r>
              <a:rPr lang="en-US" sz="696" b="1" spc="-7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Circuit Breaker</a:t>
            </a:r>
            <a:endParaRPr lang="en-US" sz="696" dirty="0"/>
          </a:p>
        </p:txBody>
      </p:sp>
      <p:sp>
        <p:nvSpPr>
          <p:cNvPr id="23" name="TextBox 47"/>
          <p:cNvSpPr/>
          <p:nvPr/>
        </p:nvSpPr>
        <p:spPr>
          <a:xfrm>
            <a:off x="3324820" y="2927509"/>
            <a:ext cx="2494300" cy="633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closed</a:t>
            </a:r>
            <a:r>
              <a:rPr lang="en-US" sz="464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Normal execution flow</a:t>
            </a:r>
            <a:endParaRPr lang="en-US" sz="464" dirty="0"/>
          </a:p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open</a:t>
            </a:r>
            <a:r>
              <a:rPr lang="en-US" sz="464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Hard stop after 3 failures/phase, report user, no retry</a:t>
            </a:r>
            <a:endParaRPr lang="en-US" sz="464" dirty="0"/>
          </a:p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half-open</a:t>
            </a:r>
            <a:r>
              <a:rPr lang="en-US" sz="464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Allow 1 retry after 30 min cooldown</a:t>
            </a:r>
            <a:endParaRPr lang="en-US" sz="464" dirty="0"/>
          </a:p>
          <a:p>
            <a:pPr algn="l"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User override: "retry {phase}" or "reset circuit breaker"</a:t>
            </a:r>
            <a:endParaRPr lang="en-US" sz="464" dirty="0"/>
          </a:p>
          <a:p>
            <a:pPr algn="l"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Token Budget: dailyCap 500K, 3 modes (normal/report-only/stopped)</a:t>
            </a:r>
            <a:endParaRPr lang="en-US" sz="464" dirty="0"/>
          </a:p>
          <a:p>
            <a:pPr algn="l"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Per-action estimates: BRD 50K, FSD 60K, Implementation 100K</a:t>
            </a:r>
            <a:endParaRPr lang="en-US" sz="464" dirty="0"/>
          </a:p>
        </p:txBody>
      </p:sp>
      <p:sp>
        <p:nvSpPr>
          <p:cNvPr id="24" name="TextBox 51"/>
          <p:cNvSpPr/>
          <p:nvPr/>
        </p:nvSpPr>
        <p:spPr>
          <a:xfrm>
            <a:off x="3324820" y="3599021"/>
            <a:ext cx="599837" cy="85725"/>
          </a:xfrm>
          <a:prstGeom prst="roundRect">
            <a:avLst>
              <a:gd name="adj" fmla="val 34351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386"/>
              </a:lnSpc>
              <a:buNone/>
            </a:pPr>
            <a:r>
              <a:rPr lang="en-US" sz="386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TokenBudgetManager</a:t>
            </a:r>
            <a:endParaRPr lang="en-US" sz="386" dirty="0"/>
          </a:p>
        </p:txBody>
      </p:sp>
      <p:sp>
        <p:nvSpPr>
          <p:cNvPr id="25" name="TextBox 53"/>
          <p:cNvSpPr/>
          <p:nvPr/>
        </p:nvSpPr>
        <p:spPr>
          <a:xfrm>
            <a:off x="3943707" y="3599021"/>
            <a:ext cx="502920" cy="85725"/>
          </a:xfrm>
          <a:prstGeom prst="roundRect">
            <a:avLst>
              <a:gd name="adj" fmla="val 34351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386"/>
              </a:lnSpc>
              <a:buNone/>
            </a:pPr>
            <a:r>
              <a:rPr lang="en-US" sz="386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dailyCap: 500,000</a:t>
            </a:r>
            <a:endParaRPr lang="en-US" sz="386" dirty="0"/>
          </a:p>
        </p:txBody>
      </p:sp>
      <p:sp>
        <p:nvSpPr>
          <p:cNvPr id="26" name="TextBox 55"/>
          <p:cNvSpPr/>
          <p:nvPr/>
        </p:nvSpPr>
        <p:spPr>
          <a:xfrm>
            <a:off x="4465677" y="3599021"/>
            <a:ext cx="615553" cy="85725"/>
          </a:xfrm>
          <a:prstGeom prst="roundRect">
            <a:avLst>
              <a:gd name="adj" fmla="val 34351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386"/>
              </a:lnSpc>
              <a:buNone/>
            </a:pPr>
            <a:r>
              <a:rPr lang="en-US" sz="386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exhaustion &lt;50 tokens</a:t>
            </a:r>
            <a:endParaRPr lang="en-US" sz="386" dirty="0"/>
          </a:p>
        </p:txBody>
      </p:sp>
      <p:sp>
        <p:nvSpPr>
          <p:cNvPr id="27" name="Shape 59"/>
          <p:cNvSpPr/>
          <p:nvPr/>
        </p:nvSpPr>
        <p:spPr>
          <a:xfrm>
            <a:off x="5994380" y="2377916"/>
            <a:ext cx="2692420" cy="1405890"/>
          </a:xfrm>
          <a:prstGeom prst="roundRect">
            <a:avLst>
              <a:gd name="adj" fmla="val 3491"/>
            </a:avLst>
          </a:prstGeom>
          <a:solidFill>
            <a:srgbClr val="FFFFFF"/>
          </a:solidFill>
          <a:ln/>
        </p:spPr>
      </p:sp>
      <p:pic>
        <p:nvPicPr>
          <p:cNvPr id="28" name="Picture 59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94380" y="2377916"/>
            <a:ext cx="2692420" cy="1405890"/>
          </a:xfrm>
          <a:prstGeom prst="rect">
            <a:avLst/>
          </a:prstGeom>
        </p:spPr>
      </p:pic>
      <p:sp>
        <p:nvSpPr>
          <p:cNvPr id="29" name="TextBox 61"/>
          <p:cNvSpPr/>
          <p:nvPr/>
        </p:nvSpPr>
        <p:spPr>
          <a:xfrm>
            <a:off x="6093440" y="2484596"/>
            <a:ext cx="24943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91"/>
              </a:lnSpc>
              <a:buNone/>
            </a:pPr>
            <a:r>
              <a:rPr lang="en-US" sz="1391" b="1" spc="-28" kern="0" dirty="0">
                <a:solidFill>
                  <a:srgbClr val="C082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L1–L3</a:t>
            </a:r>
            <a:endParaRPr lang="en-US" sz="1391" dirty="0"/>
          </a:p>
        </p:txBody>
      </p:sp>
      <p:sp>
        <p:nvSpPr>
          <p:cNvPr id="30" name="TextBox 63"/>
          <p:cNvSpPr/>
          <p:nvPr/>
        </p:nvSpPr>
        <p:spPr>
          <a:xfrm>
            <a:off x="6093440" y="2675096"/>
            <a:ext cx="2494301" cy="7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03"/>
              </a:lnSpc>
              <a:buNone/>
            </a:pPr>
            <a:r>
              <a:rPr lang="en-US" sz="464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AUTONOMY LEVELS</a:t>
            </a:r>
            <a:endParaRPr lang="en-US" sz="464" dirty="0"/>
          </a:p>
        </p:txBody>
      </p:sp>
      <p:sp>
        <p:nvSpPr>
          <p:cNvPr id="31" name="TextBox 65"/>
          <p:cNvSpPr/>
          <p:nvPr/>
        </p:nvSpPr>
        <p:spPr>
          <a:xfrm>
            <a:off x="6093440" y="2797016"/>
            <a:ext cx="2494301" cy="111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4"/>
              </a:lnSpc>
              <a:buNone/>
            </a:pPr>
            <a:r>
              <a:rPr lang="en-US" sz="696" b="1" spc="-7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Autonomy Model</a:t>
            </a:r>
            <a:endParaRPr lang="en-US" sz="696" dirty="0"/>
          </a:p>
        </p:txBody>
      </p:sp>
      <p:sp>
        <p:nvSpPr>
          <p:cNvPr id="32" name="TextBox 67"/>
          <p:cNvSpPr/>
          <p:nvPr/>
        </p:nvSpPr>
        <p:spPr>
          <a:xfrm>
            <a:off x="6093440" y="2927509"/>
            <a:ext cx="2494301" cy="633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L1 Report</a:t>
            </a:r>
            <a:r>
              <a:rPr lang="en-US" sz="464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No agent invocations, no Jira transitions. Observes and reports only.</a:t>
            </a:r>
            <a:endParaRPr lang="en-US" sz="464" dirty="0"/>
          </a:p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L2 Assisted</a:t>
            </a:r>
            <a:r>
              <a:rPr lang="en-US" sz="464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(default) — Invoke agents + ask user before each phase transition</a:t>
            </a:r>
            <a:endParaRPr lang="en-US" sz="464" dirty="0"/>
          </a:p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L3 Unattended</a:t>
            </a:r>
            <a:r>
              <a:rPr lang="en-US" sz="464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Full pipeline auto; stops at UAT, Deploy, or circuit breaker open</a:t>
            </a:r>
            <a:endParaRPr lang="en-US" sz="464" dirty="0"/>
          </a:p>
          <a:p>
            <a:pPr algn="l"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17-phase SDLC pipeline including security reviews</a:t>
            </a:r>
            <a:endParaRPr lang="en-US" sz="464" dirty="0"/>
          </a:p>
          <a:p>
            <a:pPr algn="l"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Human gates: uat, deployment, feedback_loop_start</a:t>
            </a:r>
            <a:endParaRPr lang="en-US" sz="464" dirty="0"/>
          </a:p>
          <a:p>
            <a:pPr algn="l"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Failure Mode Catalog for structured error classification</a:t>
            </a:r>
            <a:endParaRPr lang="en-US" sz="464" dirty="0"/>
          </a:p>
        </p:txBody>
      </p:sp>
      <p:sp>
        <p:nvSpPr>
          <p:cNvPr id="33" name="TextBox 71"/>
          <p:cNvSpPr/>
          <p:nvPr/>
        </p:nvSpPr>
        <p:spPr>
          <a:xfrm>
            <a:off x="6093440" y="3599021"/>
            <a:ext cx="476131" cy="85725"/>
          </a:xfrm>
          <a:prstGeom prst="roundRect">
            <a:avLst>
              <a:gd name="adj" fmla="val 34351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386"/>
              </a:lnSpc>
              <a:buNone/>
            </a:pPr>
            <a:r>
              <a:rPr lang="en-US" sz="386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LangGraph state</a:t>
            </a:r>
            <a:endParaRPr lang="en-US" sz="386" dirty="0"/>
          </a:p>
        </p:txBody>
      </p:sp>
      <p:sp>
        <p:nvSpPr>
          <p:cNvPr id="34" name="TextBox 73"/>
          <p:cNvSpPr/>
          <p:nvPr/>
        </p:nvSpPr>
        <p:spPr>
          <a:xfrm>
            <a:off x="6588621" y="3599021"/>
            <a:ext cx="388382" cy="85725"/>
          </a:xfrm>
          <a:prstGeom prst="roundRect">
            <a:avLst>
              <a:gd name="adj" fmla="val 34351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386"/>
              </a:lnSpc>
              <a:buNone/>
            </a:pPr>
            <a:r>
              <a:rPr lang="en-US" sz="386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Quality Gate</a:t>
            </a:r>
            <a:endParaRPr lang="en-US" sz="386" dirty="0"/>
          </a:p>
        </p:txBody>
      </p:sp>
      <p:sp>
        <p:nvSpPr>
          <p:cNvPr id="35" name="TextBox 75"/>
          <p:cNvSpPr/>
          <p:nvPr/>
        </p:nvSpPr>
        <p:spPr>
          <a:xfrm>
            <a:off x="6996053" y="3599021"/>
            <a:ext cx="549354" cy="85725"/>
          </a:xfrm>
          <a:prstGeom prst="roundRect">
            <a:avLst>
              <a:gd name="adj" fmla="val 34351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386"/>
              </a:lnSpc>
              <a:buNone/>
            </a:pPr>
            <a:r>
              <a:rPr lang="en-US" sz="386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max 2 retries/phase</a:t>
            </a:r>
            <a:endParaRPr lang="en-US" sz="386" dirty="0"/>
          </a:p>
        </p:txBody>
      </p:sp>
      <p:sp>
        <p:nvSpPr>
          <p:cNvPr id="36" name="TextBox 82"/>
          <p:cNvSpPr/>
          <p:nvPr/>
        </p:nvSpPr>
        <p:spPr>
          <a:xfrm>
            <a:off x="2197596" y="4705350"/>
            <a:ext cx="1690688" cy="95250"/>
          </a:xfrm>
          <a:prstGeom prst="roundRect">
            <a:avLst>
              <a:gd name="adj" fmla="val 30916"/>
            </a:avLst>
          </a:prstGeom>
          <a:solidFill>
            <a:srgbClr val="1779E1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phase-1-requirements.md through phase-7-deployment.md</a:t>
            </a:r>
            <a:endParaRPr lang="en-US" sz="464" dirty="0"/>
          </a:p>
        </p:txBody>
      </p:sp>
      <p:sp>
        <p:nvSpPr>
          <p:cNvPr id="37" name="TextBox 84"/>
          <p:cNvSpPr/>
          <p:nvPr/>
        </p:nvSpPr>
        <p:spPr>
          <a:xfrm>
            <a:off x="3907333" y="4705350"/>
            <a:ext cx="1804690" cy="95250"/>
          </a:xfrm>
          <a:prstGeom prst="roundRect">
            <a:avLst>
              <a:gd name="adj" fmla="val 30916"/>
            </a:avLst>
          </a:prstGeom>
          <a:solidFill>
            <a:srgbClr val="1779E1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shared-jira.md / shared-quality-gates.md / shared-diagrams.md</a:t>
            </a:r>
            <a:endParaRPr lang="en-US" sz="464" dirty="0"/>
          </a:p>
        </p:txBody>
      </p:sp>
      <p:sp>
        <p:nvSpPr>
          <p:cNvPr id="38" name="TextBox 86"/>
          <p:cNvSpPr/>
          <p:nvPr/>
        </p:nvSpPr>
        <p:spPr>
          <a:xfrm>
            <a:off x="5731073" y="4705350"/>
            <a:ext cx="1215330" cy="95250"/>
          </a:xfrm>
          <a:prstGeom prst="roundRect">
            <a:avLst>
              <a:gd name="adj" fmla="val 30916"/>
            </a:avLst>
          </a:prstGeom>
          <a:solidFill>
            <a:srgbClr val="1779E1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code-standards.md / loop-constraints.md</a:t>
            </a:r>
            <a:endParaRPr lang="en-US" sz="464" dirty="0"/>
          </a:p>
        </p:txBody>
      </p:sp>
      <p:sp>
        <p:nvSpPr>
          <p:cNvPr id="39" name="Shape 89"/>
          <p:cNvSpPr/>
          <p:nvPr/>
        </p:nvSpPr>
        <p:spPr>
          <a:xfrm>
            <a:off x="457200" y="4730115"/>
            <a:ext cx="8229600" cy="184785"/>
          </a:xfrm>
          <a:prstGeom prst="rect">
            <a:avLst/>
          </a:prstGeom>
          <a:noFill/>
          <a:ln/>
        </p:spPr>
      </p:sp>
      <p:pic>
        <p:nvPicPr>
          <p:cNvPr id="40" name="Picture 89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" y="4730115"/>
            <a:ext cx="8229600" cy="184785"/>
          </a:xfrm>
          <a:prstGeom prst="rect">
            <a:avLst/>
          </a:prstGeom>
        </p:spPr>
      </p:pic>
      <p:sp>
        <p:nvSpPr>
          <p:cNvPr id="41" name="TextBox 91"/>
          <p:cNvSpPr/>
          <p:nvPr/>
        </p:nvSpPr>
        <p:spPr>
          <a:xfrm>
            <a:off x="457200" y="4848225"/>
            <a:ext cx="80170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41"/>
              </a:lnSpc>
              <a:buNone/>
            </a:pPr>
            <a:r>
              <a:rPr lang="en-US" sz="541" dirty="0">
                <a:solidFill>
                  <a:srgbClr val="9A9FA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SDLC Agents For Enterprise</a:t>
            </a:r>
            <a:endParaRPr lang="en-US" sz="541" dirty="0"/>
          </a:p>
        </p:txBody>
      </p:sp>
      <p:sp>
        <p:nvSpPr>
          <p:cNvPr id="42" name="TextBox 93"/>
          <p:cNvSpPr/>
          <p:nvPr/>
        </p:nvSpPr>
        <p:spPr>
          <a:xfrm>
            <a:off x="7645062" y="4850606"/>
            <a:ext cx="1041738" cy="61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02"/>
              </a:lnSpc>
              <a:buNone/>
            </a:pPr>
            <a:r>
              <a:rPr lang="en-US" sz="502" spc="35" kern="0" dirty="0">
                <a:solidFill>
                  <a:srgbClr val="1779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STEERING RULES &amp; GUARDRAILS</a:t>
            </a:r>
            <a:endParaRPr lang="en-US" sz="50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D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D"/>
          </a:solidFill>
          <a:ln/>
        </p:spPr>
      </p:sp>
      <p:sp>
        <p:nvSpPr>
          <p:cNvPr id="4" name="TextBox 6"/>
          <p:cNvSpPr/>
          <p:nvPr/>
        </p:nvSpPr>
        <p:spPr>
          <a:xfrm>
            <a:off x="457200" y="342900"/>
            <a:ext cx="503872" cy="93345"/>
          </a:xfrm>
          <a:prstGeom prst="roundRect">
            <a:avLst>
              <a:gd name="adj" fmla="val 26289"/>
            </a:avLst>
          </a:prstGeom>
          <a:solidFill>
            <a:srgbClr val="1779E1"/>
          </a:solidFill>
          <a:ln w="3926">
            <a:solidFill>
              <a:srgbClr val="1779E1"/>
            </a:solidFill>
            <a:prstDash val="solid"/>
          </a:ln>
        </p:spPr>
        <p:txBody>
          <a:bodyPr wrap="square" lIns="49079" tIns="14724" rIns="49079" bIns="14724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VS Code + Kiro</a:t>
            </a:r>
            <a:endParaRPr lang="en-US" sz="464" dirty="0"/>
          </a:p>
        </p:txBody>
      </p:sp>
      <p:sp>
        <p:nvSpPr>
          <p:cNvPr id="5" name="TextBox 8"/>
          <p:cNvSpPr/>
          <p:nvPr/>
        </p:nvSpPr>
        <p:spPr>
          <a:xfrm>
            <a:off x="1018222" y="342900"/>
            <a:ext cx="521732" cy="93345"/>
          </a:xfrm>
          <a:prstGeom prst="roundRect">
            <a:avLst>
              <a:gd name="adj" fmla="val 26289"/>
            </a:avLst>
          </a:prstGeom>
          <a:solidFill>
            <a:srgbClr val="008B1D"/>
          </a:solidFill>
          <a:ln w="3926">
            <a:solidFill>
              <a:srgbClr val="008B1D"/>
            </a:solidFill>
            <a:prstDash val="solid"/>
          </a:ln>
        </p:spPr>
        <p:txBody>
          <a:bodyPr wrap="square" lIns="49079" tIns="14724" rIns="49079" bIns="14724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20+ Commands</a:t>
            </a:r>
            <a:endParaRPr lang="en-US" sz="464" dirty="0"/>
          </a:p>
        </p:txBody>
      </p:sp>
      <p:sp>
        <p:nvSpPr>
          <p:cNvPr id="6" name="TextBox 10"/>
          <p:cNvSpPr/>
          <p:nvPr/>
        </p:nvSpPr>
        <p:spPr>
          <a:xfrm>
            <a:off x="1597104" y="342900"/>
            <a:ext cx="409337" cy="93345"/>
          </a:xfrm>
          <a:prstGeom prst="roundRect">
            <a:avLst>
              <a:gd name="adj" fmla="val 26289"/>
            </a:avLst>
          </a:prstGeom>
          <a:solidFill>
            <a:srgbClr val="C08200"/>
          </a:solidFill>
          <a:ln w="3926">
            <a:solidFill>
              <a:srgbClr val="C08200"/>
            </a:solidFill>
            <a:prstDash val="solid"/>
          </a:ln>
        </p:spPr>
        <p:txBody>
          <a:bodyPr wrap="square" lIns="49079" tIns="14724" rIns="49079" bIns="14724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 AI Agents</a:t>
            </a:r>
            <a:endParaRPr lang="en-US" sz="464" dirty="0"/>
          </a:p>
        </p:txBody>
      </p:sp>
      <p:sp>
        <p:nvSpPr>
          <p:cNvPr id="7" name="TextBox 13"/>
          <p:cNvSpPr/>
          <p:nvPr/>
        </p:nvSpPr>
        <p:spPr>
          <a:xfrm>
            <a:off x="457200" y="474345"/>
            <a:ext cx="822960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855" b="1" spc="-37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IDE Extension</a:t>
            </a:r>
            <a:endParaRPr lang="en-US" sz="1855" dirty="0"/>
          </a:p>
        </p:txBody>
      </p:sp>
      <p:sp>
        <p:nvSpPr>
          <p:cNvPr id="8" name="TextBox 15"/>
          <p:cNvSpPr/>
          <p:nvPr/>
        </p:nvSpPr>
        <p:spPr>
          <a:xfrm>
            <a:off x="457200" y="813435"/>
            <a:ext cx="4191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Thin client connects to backend via MCP StreamableHTTP. McpServerManager on local port 9181. 6 webview panels, LangGraph pipeline engine, 9 SDLC agents.</a:t>
            </a:r>
            <a:endParaRPr lang="en-US" sz="850" dirty="0"/>
          </a:p>
        </p:txBody>
      </p:sp>
      <p:sp>
        <p:nvSpPr>
          <p:cNvPr id="9" name="Shape 21"/>
          <p:cNvSpPr/>
          <p:nvPr/>
        </p:nvSpPr>
        <p:spPr>
          <a:xfrm>
            <a:off x="457200" y="1318260"/>
            <a:ext cx="4057650" cy="1114425"/>
          </a:xfrm>
          <a:prstGeom prst="roundRect">
            <a:avLst>
              <a:gd name="adj" fmla="val 5285"/>
            </a:avLst>
          </a:prstGeom>
          <a:solidFill>
            <a:srgbClr val="FFFFFF"/>
          </a:solidFill>
          <a:ln/>
        </p:spPr>
      </p:sp>
      <p:pic>
        <p:nvPicPr>
          <p:cNvPr id="10" name="Picture 21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318260"/>
            <a:ext cx="4057650" cy="1114425"/>
          </a:xfrm>
          <a:prstGeom prst="rect">
            <a:avLst/>
          </a:prstGeom>
        </p:spPr>
      </p:pic>
      <p:sp>
        <p:nvSpPr>
          <p:cNvPr id="11" name="TextBox 23"/>
          <p:cNvSpPr/>
          <p:nvPr/>
        </p:nvSpPr>
        <p:spPr>
          <a:xfrm>
            <a:off x="556260" y="1424940"/>
            <a:ext cx="38595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5"/>
              </a:lnSpc>
              <a:buNone/>
            </a:pPr>
            <a:r>
              <a:rPr lang="en-US" sz="773" b="1" spc="-8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Extension Architecture</a:t>
            </a:r>
            <a:endParaRPr lang="en-US" sz="773" dirty="0"/>
          </a:p>
        </p:txBody>
      </p:sp>
      <p:sp>
        <p:nvSpPr>
          <p:cNvPr id="12" name="TextBox 27"/>
          <p:cNvSpPr/>
          <p:nvPr/>
        </p:nvSpPr>
        <p:spPr>
          <a:xfrm>
            <a:off x="556260" y="1596390"/>
            <a:ext cx="3859530" cy="9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502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McpServerManager</a:t>
            </a:r>
            <a:r>
              <a:rPr lang="en-US" sz="502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spawn/kill/restart wrapper server on :9181, auto-starts with IDE</a:t>
            </a:r>
            <a:endParaRPr lang="en-US" sz="502" dirty="0"/>
          </a:p>
        </p:txBody>
      </p:sp>
      <p:sp>
        <p:nvSpPr>
          <p:cNvPr id="13" name="TextBox 29"/>
          <p:cNvSpPr/>
          <p:nvPr/>
        </p:nvSpPr>
        <p:spPr>
          <a:xfrm>
            <a:off x="556260" y="1724025"/>
            <a:ext cx="3859530" cy="9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502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RemoteBackendClient</a:t>
            </a:r>
            <a:r>
              <a:rPr lang="en-US" sz="502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HTTP + MCP StreamableHTTP, health check every 30s</a:t>
            </a:r>
            <a:endParaRPr lang="en-US" sz="502" dirty="0"/>
          </a:p>
        </p:txBody>
      </p:sp>
      <p:sp>
        <p:nvSpPr>
          <p:cNvPr id="14" name="TextBox 31"/>
          <p:cNvSpPr/>
          <p:nvPr/>
        </p:nvSpPr>
        <p:spPr>
          <a:xfrm>
            <a:off x="556260" y="1851660"/>
            <a:ext cx="3859530" cy="9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502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AuthManager</a:t>
            </a:r>
            <a:r>
              <a:rPr lang="en-US" sz="502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SSO/PKCE flow, token refresh, auto-reconnect</a:t>
            </a:r>
            <a:endParaRPr lang="en-US" sz="502" dirty="0"/>
          </a:p>
        </p:txBody>
      </p:sp>
      <p:sp>
        <p:nvSpPr>
          <p:cNvPr id="15" name="TextBox 33"/>
          <p:cNvSpPr/>
          <p:nvPr/>
        </p:nvSpPr>
        <p:spPr>
          <a:xfrm>
            <a:off x="556260" y="1979295"/>
            <a:ext cx="3859530" cy="9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502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ConfigWatcher</a:t>
            </a:r>
            <a:r>
              <a:rPr lang="en-US" sz="502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watches kiroSdlc.* changes, auto-restarts server</a:t>
            </a:r>
            <a:endParaRPr lang="en-US" sz="502" dirty="0"/>
          </a:p>
        </p:txBody>
      </p:sp>
      <p:sp>
        <p:nvSpPr>
          <p:cNvPr id="16" name="TextBox 35"/>
          <p:cNvSpPr/>
          <p:nvPr/>
        </p:nvSpPr>
        <p:spPr>
          <a:xfrm>
            <a:off x="556260" y="2106930"/>
            <a:ext cx="3859530" cy="9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502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KbEventBus</a:t>
            </a:r>
            <a:r>
              <a:rPr lang="en-US" sz="502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SSE bridge receives KB change notifications from backend</a:t>
            </a:r>
            <a:endParaRPr lang="en-US" sz="502" dirty="0"/>
          </a:p>
        </p:txBody>
      </p:sp>
      <p:sp>
        <p:nvSpPr>
          <p:cNvPr id="17" name="TextBox 37"/>
          <p:cNvSpPr/>
          <p:nvPr/>
        </p:nvSpPr>
        <p:spPr>
          <a:xfrm>
            <a:off x="556260" y="2234565"/>
            <a:ext cx="3859530" cy="9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502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Platform Swap</a:t>
            </a:r>
            <a:r>
              <a:rPr lang="en-US" sz="502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auto-switches agent config between IDEs (Claude, Roo, GitHub Copilot, OpenCode, Codex)</a:t>
            </a:r>
            <a:endParaRPr lang="en-US" sz="502" dirty="0"/>
          </a:p>
        </p:txBody>
      </p:sp>
      <p:sp>
        <p:nvSpPr>
          <p:cNvPr id="18" name="Shape 41"/>
          <p:cNvSpPr/>
          <p:nvPr/>
        </p:nvSpPr>
        <p:spPr>
          <a:xfrm>
            <a:off x="457200" y="2508885"/>
            <a:ext cx="4057650" cy="1602105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/>
        </p:spPr>
      </p:sp>
      <p:pic>
        <p:nvPicPr>
          <p:cNvPr id="19" name="Picture 41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2508885"/>
            <a:ext cx="4057650" cy="1602105"/>
          </a:xfrm>
          <a:prstGeom prst="rect">
            <a:avLst/>
          </a:prstGeom>
        </p:spPr>
      </p:pic>
      <p:sp>
        <p:nvSpPr>
          <p:cNvPr id="20" name="TextBox 43"/>
          <p:cNvSpPr/>
          <p:nvPr/>
        </p:nvSpPr>
        <p:spPr>
          <a:xfrm>
            <a:off x="556260" y="2615565"/>
            <a:ext cx="38595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5"/>
              </a:lnSpc>
              <a:buNone/>
            </a:pPr>
            <a:r>
              <a:rPr lang="en-US" sz="773" b="1" spc="-8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Webview Panels</a:t>
            </a:r>
            <a:endParaRPr lang="en-US" sz="773" dirty="0"/>
          </a:p>
        </p:txBody>
      </p:sp>
      <p:sp>
        <p:nvSpPr>
          <p:cNvPr id="21" name="TextBox 45"/>
          <p:cNvSpPr/>
          <p:nvPr/>
        </p:nvSpPr>
        <p:spPr>
          <a:xfrm>
            <a:off x="556260" y="2787015"/>
            <a:ext cx="385953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 real-time panels, communicating with backend via SSE + JWT token:</a:t>
            </a:r>
            <a:endParaRPr lang="en-US" sz="541" dirty="0"/>
          </a:p>
        </p:txBody>
      </p:sp>
      <p:sp>
        <p:nvSpPr>
          <p:cNvPr id="22" name="Shape 49"/>
          <p:cNvSpPr/>
          <p:nvPr/>
        </p:nvSpPr>
        <p:spPr>
          <a:xfrm>
            <a:off x="556260" y="2931795"/>
            <a:ext cx="1915477" cy="340995"/>
          </a:xfrm>
          <a:prstGeom prst="roundRect">
            <a:avLst>
              <a:gd name="adj" fmla="val 8636"/>
            </a:avLst>
          </a:prstGeom>
          <a:solidFill>
            <a:srgbClr val="FAFCFD"/>
          </a:solidFill>
          <a:ln w="3926">
            <a:solidFill>
              <a:srgbClr val="E2E5E8"/>
            </a:solidFill>
            <a:prstDash val="solid"/>
          </a:ln>
        </p:spPr>
      </p:sp>
      <p:sp>
        <p:nvSpPr>
          <p:cNvPr id="23" name="TextBox 51"/>
          <p:cNvSpPr/>
          <p:nvPr/>
        </p:nvSpPr>
        <p:spPr>
          <a:xfrm>
            <a:off x="617220" y="2973705"/>
            <a:ext cx="1793557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Dashboard</a:t>
            </a:r>
            <a:endParaRPr lang="en-US" sz="696" dirty="0"/>
          </a:p>
        </p:txBody>
      </p:sp>
      <p:sp>
        <p:nvSpPr>
          <p:cNvPr id="24" name="TextBox 53"/>
          <p:cNvSpPr/>
          <p:nvPr/>
        </p:nvSpPr>
        <p:spPr>
          <a:xfrm>
            <a:off x="617220" y="3102293"/>
            <a:ext cx="1793557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System health overview</a:t>
            </a:r>
            <a:endParaRPr lang="en-US" sz="696" dirty="0"/>
          </a:p>
        </p:txBody>
      </p:sp>
      <p:sp>
        <p:nvSpPr>
          <p:cNvPr id="25" name="Shape 56"/>
          <p:cNvSpPr/>
          <p:nvPr/>
        </p:nvSpPr>
        <p:spPr>
          <a:xfrm>
            <a:off x="2500312" y="2931795"/>
            <a:ext cx="1915477" cy="340995"/>
          </a:xfrm>
          <a:prstGeom prst="roundRect">
            <a:avLst>
              <a:gd name="adj" fmla="val 8636"/>
            </a:avLst>
          </a:prstGeom>
          <a:solidFill>
            <a:srgbClr val="FAFCFD"/>
          </a:solidFill>
          <a:ln w="3926">
            <a:solidFill>
              <a:srgbClr val="E2E5E8"/>
            </a:solidFill>
            <a:prstDash val="solid"/>
          </a:ln>
        </p:spPr>
      </p:sp>
      <p:sp>
        <p:nvSpPr>
          <p:cNvPr id="26" name="TextBox 58"/>
          <p:cNvSpPr/>
          <p:nvPr/>
        </p:nvSpPr>
        <p:spPr>
          <a:xfrm>
            <a:off x="2561272" y="2973705"/>
            <a:ext cx="1793557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Graph 3D</a:t>
            </a:r>
            <a:endParaRPr lang="en-US" sz="696" dirty="0"/>
          </a:p>
        </p:txBody>
      </p:sp>
      <p:sp>
        <p:nvSpPr>
          <p:cNvPr id="27" name="TextBox 60"/>
          <p:cNvSpPr/>
          <p:nvPr/>
        </p:nvSpPr>
        <p:spPr>
          <a:xfrm>
            <a:off x="2561272" y="3102293"/>
            <a:ext cx="1793557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Three.js knowledge graph</a:t>
            </a:r>
            <a:endParaRPr lang="en-US" sz="696" dirty="0"/>
          </a:p>
        </p:txBody>
      </p:sp>
      <p:sp>
        <p:nvSpPr>
          <p:cNvPr id="28" name="Shape 63"/>
          <p:cNvSpPr/>
          <p:nvPr/>
        </p:nvSpPr>
        <p:spPr>
          <a:xfrm>
            <a:off x="556260" y="3301365"/>
            <a:ext cx="1915477" cy="340995"/>
          </a:xfrm>
          <a:prstGeom prst="roundRect">
            <a:avLst>
              <a:gd name="adj" fmla="val 8636"/>
            </a:avLst>
          </a:prstGeom>
          <a:solidFill>
            <a:srgbClr val="FAFCFD"/>
          </a:solidFill>
          <a:ln w="3926">
            <a:solidFill>
              <a:srgbClr val="E2E5E8"/>
            </a:solidFill>
            <a:prstDash val="solid"/>
          </a:ln>
        </p:spPr>
      </p:sp>
      <p:sp>
        <p:nvSpPr>
          <p:cNvPr id="29" name="TextBox 65"/>
          <p:cNvSpPr/>
          <p:nvPr/>
        </p:nvSpPr>
        <p:spPr>
          <a:xfrm>
            <a:off x="617220" y="3343275"/>
            <a:ext cx="1793557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KB Tags</a:t>
            </a:r>
            <a:endParaRPr lang="en-US" sz="696" dirty="0"/>
          </a:p>
        </p:txBody>
      </p:sp>
      <p:sp>
        <p:nvSpPr>
          <p:cNvPr id="30" name="TextBox 67"/>
          <p:cNvSpPr/>
          <p:nvPr/>
        </p:nvSpPr>
        <p:spPr>
          <a:xfrm>
            <a:off x="617220" y="3471862"/>
            <a:ext cx="1793557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Tag CRUD + merge + rename</a:t>
            </a:r>
            <a:endParaRPr lang="en-US" sz="696" dirty="0"/>
          </a:p>
        </p:txBody>
      </p:sp>
      <p:sp>
        <p:nvSpPr>
          <p:cNvPr id="31" name="Shape 70"/>
          <p:cNvSpPr/>
          <p:nvPr/>
        </p:nvSpPr>
        <p:spPr>
          <a:xfrm>
            <a:off x="2500312" y="3301365"/>
            <a:ext cx="1915477" cy="340995"/>
          </a:xfrm>
          <a:prstGeom prst="roundRect">
            <a:avLst>
              <a:gd name="adj" fmla="val 8636"/>
            </a:avLst>
          </a:prstGeom>
          <a:solidFill>
            <a:srgbClr val="FAFCFD"/>
          </a:solidFill>
          <a:ln w="3926">
            <a:solidFill>
              <a:srgbClr val="E2E5E8"/>
            </a:solidFill>
            <a:prstDash val="solid"/>
          </a:ln>
        </p:spPr>
      </p:sp>
      <p:sp>
        <p:nvSpPr>
          <p:cNvPr id="32" name="TextBox 72"/>
          <p:cNvSpPr/>
          <p:nvPr/>
        </p:nvSpPr>
        <p:spPr>
          <a:xfrm>
            <a:off x="2561272" y="3343275"/>
            <a:ext cx="1793557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KB Quality</a:t>
            </a:r>
            <a:endParaRPr lang="en-US" sz="696" dirty="0"/>
          </a:p>
        </p:txBody>
      </p:sp>
      <p:sp>
        <p:nvSpPr>
          <p:cNvPr id="33" name="TextBox 74"/>
          <p:cNvSpPr/>
          <p:nvPr/>
        </p:nvSpPr>
        <p:spPr>
          <a:xfrm>
            <a:off x="2561272" y="3471862"/>
            <a:ext cx="1793557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Score distribution + tier filter</a:t>
            </a:r>
            <a:endParaRPr lang="en-US" sz="696" dirty="0"/>
          </a:p>
        </p:txBody>
      </p:sp>
      <p:sp>
        <p:nvSpPr>
          <p:cNvPr id="34" name="Shape 77"/>
          <p:cNvSpPr/>
          <p:nvPr/>
        </p:nvSpPr>
        <p:spPr>
          <a:xfrm>
            <a:off x="556260" y="3670935"/>
            <a:ext cx="1915477" cy="340995"/>
          </a:xfrm>
          <a:prstGeom prst="roundRect">
            <a:avLst>
              <a:gd name="adj" fmla="val 8636"/>
            </a:avLst>
          </a:prstGeom>
          <a:solidFill>
            <a:srgbClr val="FAFCFD"/>
          </a:solidFill>
          <a:ln w="3926">
            <a:solidFill>
              <a:srgbClr val="E2E5E8"/>
            </a:solidFill>
            <a:prstDash val="solid"/>
          </a:ln>
        </p:spPr>
      </p:sp>
      <p:sp>
        <p:nvSpPr>
          <p:cNvPr id="35" name="TextBox 79"/>
          <p:cNvSpPr/>
          <p:nvPr/>
        </p:nvSpPr>
        <p:spPr>
          <a:xfrm>
            <a:off x="617220" y="3712845"/>
            <a:ext cx="1793557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Analytics</a:t>
            </a:r>
            <a:endParaRPr lang="en-US" sz="696" dirty="0"/>
          </a:p>
        </p:txBody>
      </p:sp>
      <p:sp>
        <p:nvSpPr>
          <p:cNvPr id="36" name="TextBox 81"/>
          <p:cNvSpPr/>
          <p:nvPr/>
        </p:nvSpPr>
        <p:spPr>
          <a:xfrm>
            <a:off x="617220" y="3841432"/>
            <a:ext cx="179355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Charts + usage metrics</a:t>
            </a:r>
            <a:endParaRPr lang="en-US" sz="696" dirty="0"/>
          </a:p>
        </p:txBody>
      </p:sp>
      <p:sp>
        <p:nvSpPr>
          <p:cNvPr id="37" name="Shape 84"/>
          <p:cNvSpPr/>
          <p:nvPr/>
        </p:nvSpPr>
        <p:spPr>
          <a:xfrm>
            <a:off x="2500312" y="3670935"/>
            <a:ext cx="1915477" cy="340995"/>
          </a:xfrm>
          <a:prstGeom prst="roundRect">
            <a:avLst>
              <a:gd name="adj" fmla="val 8636"/>
            </a:avLst>
          </a:prstGeom>
          <a:solidFill>
            <a:srgbClr val="FAFCFD"/>
          </a:solidFill>
          <a:ln w="3926">
            <a:solidFill>
              <a:srgbClr val="E2E5E8"/>
            </a:solidFill>
            <a:prstDash val="solid"/>
          </a:ln>
        </p:spPr>
      </p:sp>
      <p:sp>
        <p:nvSpPr>
          <p:cNvPr id="38" name="TextBox 86"/>
          <p:cNvSpPr/>
          <p:nvPr/>
        </p:nvSpPr>
        <p:spPr>
          <a:xfrm>
            <a:off x="2561272" y="3712845"/>
            <a:ext cx="1793557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Chat Panel</a:t>
            </a:r>
            <a:endParaRPr lang="en-US" sz="696" dirty="0"/>
          </a:p>
        </p:txBody>
      </p:sp>
      <p:sp>
        <p:nvSpPr>
          <p:cNvPr id="39" name="TextBox 88"/>
          <p:cNvSpPr/>
          <p:nvPr/>
        </p:nvSpPr>
        <p:spPr>
          <a:xfrm>
            <a:off x="2561272" y="3841432"/>
            <a:ext cx="179355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Webview chat UI with agent</a:t>
            </a:r>
            <a:endParaRPr lang="en-US" sz="696" dirty="0"/>
          </a:p>
        </p:txBody>
      </p:sp>
      <p:sp>
        <p:nvSpPr>
          <p:cNvPr id="40" name="Shape 96"/>
          <p:cNvSpPr/>
          <p:nvPr/>
        </p:nvSpPr>
        <p:spPr>
          <a:xfrm>
            <a:off x="4629150" y="1318260"/>
            <a:ext cx="4057650" cy="1122045"/>
          </a:xfrm>
          <a:prstGeom prst="roundRect">
            <a:avLst>
              <a:gd name="adj" fmla="val 5249"/>
            </a:avLst>
          </a:prstGeom>
          <a:solidFill>
            <a:srgbClr val="FFFFFF"/>
          </a:solidFill>
          <a:ln/>
        </p:spPr>
      </p:sp>
      <p:pic>
        <p:nvPicPr>
          <p:cNvPr id="41" name="Picture 96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29150" y="1318260"/>
            <a:ext cx="4057650" cy="1122045"/>
          </a:xfrm>
          <a:prstGeom prst="rect">
            <a:avLst/>
          </a:prstGeom>
        </p:spPr>
      </p:pic>
      <p:sp>
        <p:nvSpPr>
          <p:cNvPr id="42" name="TextBox 98"/>
          <p:cNvSpPr/>
          <p:nvPr/>
        </p:nvSpPr>
        <p:spPr>
          <a:xfrm>
            <a:off x="4728210" y="1424940"/>
            <a:ext cx="38595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5"/>
              </a:lnSpc>
              <a:buNone/>
            </a:pPr>
            <a:r>
              <a:rPr lang="en-US" sz="773" b="1" spc="-8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Commands &amp; Features</a:t>
            </a:r>
            <a:endParaRPr lang="en-US" sz="773" dirty="0"/>
          </a:p>
        </p:txBody>
      </p:sp>
      <p:sp>
        <p:nvSpPr>
          <p:cNvPr id="43" name="TextBox 100"/>
          <p:cNvSpPr/>
          <p:nvPr/>
        </p:nvSpPr>
        <p:spPr>
          <a:xfrm>
            <a:off x="4728210" y="1596390"/>
            <a:ext cx="3859531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20+ commands, activity bar icon, sidebar tree view:</a:t>
            </a:r>
            <a:endParaRPr lang="en-US" sz="541" dirty="0"/>
          </a:p>
        </p:txBody>
      </p:sp>
      <p:sp>
        <p:nvSpPr>
          <p:cNvPr id="44" name="TextBox 107"/>
          <p:cNvSpPr/>
          <p:nvPr/>
        </p:nvSpPr>
        <p:spPr>
          <a:xfrm>
            <a:off x="5158144" y="1735455"/>
            <a:ext cx="139118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injectAll / injectSelective (9 agent prompts + hooks)</a:t>
            </a:r>
            <a:endParaRPr lang="en-US" sz="464" dirty="0"/>
          </a:p>
        </p:txBody>
      </p:sp>
      <p:sp>
        <p:nvSpPr>
          <p:cNvPr id="45" name="Shape 105"/>
          <p:cNvSpPr/>
          <p:nvPr/>
        </p:nvSpPr>
        <p:spPr>
          <a:xfrm>
            <a:off x="4728210" y="1758315"/>
            <a:ext cx="38100" cy="38100"/>
          </a:xfrm>
          <a:prstGeom prst="ellipse">
            <a:avLst/>
          </a:prstGeom>
          <a:solidFill>
            <a:srgbClr val="008B1D"/>
          </a:solidFill>
          <a:ln/>
        </p:spPr>
      </p:sp>
      <p:sp>
        <p:nvSpPr>
          <p:cNvPr id="46" name="TextBox 106"/>
          <p:cNvSpPr/>
          <p:nvPr/>
        </p:nvSpPr>
        <p:spPr>
          <a:xfrm>
            <a:off x="4804409" y="1735455"/>
            <a:ext cx="35373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Inject Agents</a:t>
            </a:r>
            <a:endParaRPr lang="en-US" sz="464" dirty="0"/>
          </a:p>
        </p:txBody>
      </p:sp>
      <p:sp>
        <p:nvSpPr>
          <p:cNvPr id="47" name="TextBox 112"/>
          <p:cNvSpPr/>
          <p:nvPr/>
        </p:nvSpPr>
        <p:spPr>
          <a:xfrm>
            <a:off x="5190232" y="1840230"/>
            <a:ext cx="137963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Open KB Graph, Dashboard, Tags, Quality, Analytics</a:t>
            </a:r>
            <a:endParaRPr lang="en-US" sz="464" dirty="0"/>
          </a:p>
        </p:txBody>
      </p:sp>
      <p:sp>
        <p:nvSpPr>
          <p:cNvPr id="48" name="Shape 110"/>
          <p:cNvSpPr/>
          <p:nvPr/>
        </p:nvSpPr>
        <p:spPr>
          <a:xfrm>
            <a:off x="4728210" y="1863090"/>
            <a:ext cx="38100" cy="38100"/>
          </a:xfrm>
          <a:prstGeom prst="ellipse">
            <a:avLst/>
          </a:prstGeom>
          <a:solidFill>
            <a:srgbClr val="008B1D"/>
          </a:solidFill>
          <a:ln/>
        </p:spPr>
      </p:sp>
      <p:sp>
        <p:nvSpPr>
          <p:cNvPr id="49" name="TextBox 111"/>
          <p:cNvSpPr/>
          <p:nvPr/>
        </p:nvSpPr>
        <p:spPr>
          <a:xfrm>
            <a:off x="4804409" y="1840230"/>
            <a:ext cx="38582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KB Operations</a:t>
            </a:r>
            <a:endParaRPr lang="en-US" sz="464" dirty="0"/>
          </a:p>
        </p:txBody>
      </p:sp>
      <p:sp>
        <p:nvSpPr>
          <p:cNvPr id="50" name="TextBox 117"/>
          <p:cNvSpPr/>
          <p:nvPr/>
        </p:nvSpPr>
        <p:spPr>
          <a:xfrm>
            <a:off x="5078968" y="1945005"/>
            <a:ext cx="150465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Symbol Search, Impact Analysis, AI Context, Edit Context</a:t>
            </a:r>
            <a:endParaRPr lang="en-US" sz="464" dirty="0"/>
          </a:p>
        </p:txBody>
      </p:sp>
      <p:sp>
        <p:nvSpPr>
          <p:cNvPr id="51" name="Shape 115"/>
          <p:cNvSpPr/>
          <p:nvPr/>
        </p:nvSpPr>
        <p:spPr>
          <a:xfrm>
            <a:off x="4728210" y="1967865"/>
            <a:ext cx="38100" cy="38100"/>
          </a:xfrm>
          <a:prstGeom prst="ellipse">
            <a:avLst/>
          </a:prstGeom>
          <a:solidFill>
            <a:srgbClr val="008B1D"/>
          </a:solidFill>
          <a:ln/>
        </p:spPr>
      </p:sp>
      <p:sp>
        <p:nvSpPr>
          <p:cNvPr id="52" name="TextBox 116"/>
          <p:cNvSpPr/>
          <p:nvPr/>
        </p:nvSpPr>
        <p:spPr>
          <a:xfrm>
            <a:off x="4804409" y="1945005"/>
            <a:ext cx="27455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Code Intel</a:t>
            </a:r>
            <a:endParaRPr lang="en-US" sz="464" dirty="0"/>
          </a:p>
        </p:txBody>
      </p:sp>
      <p:sp>
        <p:nvSpPr>
          <p:cNvPr id="53" name="TextBox 122"/>
          <p:cNvSpPr/>
          <p:nvPr/>
        </p:nvSpPr>
        <p:spPr>
          <a:xfrm>
            <a:off x="5110519" y="2049780"/>
            <a:ext cx="124479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Login/Logout/Reconnect/Disconnect backend</a:t>
            </a:r>
            <a:endParaRPr lang="en-US" sz="464" dirty="0"/>
          </a:p>
        </p:txBody>
      </p:sp>
      <p:sp>
        <p:nvSpPr>
          <p:cNvPr id="54" name="Shape 120"/>
          <p:cNvSpPr/>
          <p:nvPr/>
        </p:nvSpPr>
        <p:spPr>
          <a:xfrm>
            <a:off x="4728210" y="2072640"/>
            <a:ext cx="38100" cy="38100"/>
          </a:xfrm>
          <a:prstGeom prst="ellipse">
            <a:avLst/>
          </a:prstGeom>
          <a:solidFill>
            <a:srgbClr val="008B1D"/>
          </a:solidFill>
          <a:ln/>
        </p:spPr>
      </p:sp>
      <p:sp>
        <p:nvSpPr>
          <p:cNvPr id="55" name="TextBox 121"/>
          <p:cNvSpPr/>
          <p:nvPr/>
        </p:nvSpPr>
        <p:spPr>
          <a:xfrm>
            <a:off x="4804409" y="2049780"/>
            <a:ext cx="30611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Connection</a:t>
            </a:r>
            <a:endParaRPr lang="en-US" sz="464" dirty="0"/>
          </a:p>
        </p:txBody>
      </p:sp>
      <p:sp>
        <p:nvSpPr>
          <p:cNvPr id="56" name="TextBox 127"/>
          <p:cNvSpPr/>
          <p:nvPr/>
        </p:nvSpPr>
        <p:spPr>
          <a:xfrm>
            <a:off x="5041166" y="2154555"/>
            <a:ext cx="146518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Index Documents, Index Source Code, Sync Workspace</a:t>
            </a:r>
            <a:endParaRPr lang="en-US" sz="464" dirty="0"/>
          </a:p>
        </p:txBody>
      </p:sp>
      <p:sp>
        <p:nvSpPr>
          <p:cNvPr id="57" name="Shape 125"/>
          <p:cNvSpPr/>
          <p:nvPr/>
        </p:nvSpPr>
        <p:spPr>
          <a:xfrm>
            <a:off x="4728210" y="2177415"/>
            <a:ext cx="38100" cy="38100"/>
          </a:xfrm>
          <a:prstGeom prst="ellipse">
            <a:avLst/>
          </a:prstGeom>
          <a:solidFill>
            <a:srgbClr val="008B1D"/>
          </a:solidFill>
          <a:ln/>
        </p:spPr>
      </p:sp>
      <p:sp>
        <p:nvSpPr>
          <p:cNvPr id="58" name="TextBox 126"/>
          <p:cNvSpPr/>
          <p:nvPr/>
        </p:nvSpPr>
        <p:spPr>
          <a:xfrm>
            <a:off x="4804409" y="2154555"/>
            <a:ext cx="23675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Indexing</a:t>
            </a:r>
            <a:endParaRPr lang="en-US" sz="464" dirty="0"/>
          </a:p>
        </p:txBody>
      </p:sp>
      <p:sp>
        <p:nvSpPr>
          <p:cNvPr id="59" name="TextBox 132"/>
          <p:cNvSpPr/>
          <p:nvPr/>
        </p:nvSpPr>
        <p:spPr>
          <a:xfrm>
            <a:off x="5023187" y="2259330"/>
            <a:ext cx="183153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backend.url, mcpServerPort, llmProvider, ssoEnabled, 20+ config keys</a:t>
            </a:r>
            <a:endParaRPr lang="en-US" sz="464" dirty="0"/>
          </a:p>
        </p:txBody>
      </p:sp>
      <p:sp>
        <p:nvSpPr>
          <p:cNvPr id="60" name="Shape 130"/>
          <p:cNvSpPr/>
          <p:nvPr/>
        </p:nvSpPr>
        <p:spPr>
          <a:xfrm>
            <a:off x="4728210" y="2282190"/>
            <a:ext cx="38100" cy="38100"/>
          </a:xfrm>
          <a:prstGeom prst="ellipse">
            <a:avLst/>
          </a:prstGeom>
          <a:solidFill>
            <a:srgbClr val="008B1D"/>
          </a:solidFill>
          <a:ln/>
        </p:spPr>
      </p:sp>
      <p:sp>
        <p:nvSpPr>
          <p:cNvPr id="61" name="TextBox 131"/>
          <p:cNvSpPr/>
          <p:nvPr/>
        </p:nvSpPr>
        <p:spPr>
          <a:xfrm>
            <a:off x="4804409" y="2259330"/>
            <a:ext cx="21877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Settings</a:t>
            </a:r>
            <a:endParaRPr lang="en-US" sz="464" dirty="0"/>
          </a:p>
        </p:txBody>
      </p:sp>
      <p:sp>
        <p:nvSpPr>
          <p:cNvPr id="62" name="Shape 136"/>
          <p:cNvSpPr/>
          <p:nvPr/>
        </p:nvSpPr>
        <p:spPr>
          <a:xfrm>
            <a:off x="4629150" y="2516505"/>
            <a:ext cx="4057650" cy="1017270"/>
          </a:xfrm>
          <a:prstGeom prst="roundRect">
            <a:avLst>
              <a:gd name="adj" fmla="val 5790"/>
            </a:avLst>
          </a:prstGeom>
          <a:solidFill>
            <a:srgbClr val="FFFFFF"/>
          </a:solidFill>
          <a:ln/>
        </p:spPr>
      </p:sp>
      <p:pic>
        <p:nvPicPr>
          <p:cNvPr id="63" name="Picture 136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29150" y="2516505"/>
            <a:ext cx="4057650" cy="1017270"/>
          </a:xfrm>
          <a:prstGeom prst="rect">
            <a:avLst/>
          </a:prstGeom>
        </p:spPr>
      </p:pic>
      <p:sp>
        <p:nvSpPr>
          <p:cNvPr id="64" name="TextBox 138"/>
          <p:cNvSpPr/>
          <p:nvPr/>
        </p:nvSpPr>
        <p:spPr>
          <a:xfrm>
            <a:off x="4728210" y="2623185"/>
            <a:ext cx="38595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5"/>
              </a:lnSpc>
              <a:buNone/>
            </a:pPr>
            <a:r>
              <a:rPr lang="en-US" sz="773" b="1" spc="-8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LangGraph Pipeline Engine</a:t>
            </a:r>
            <a:endParaRPr lang="en-US" sz="773" dirty="0"/>
          </a:p>
        </p:txBody>
      </p:sp>
      <p:sp>
        <p:nvSpPr>
          <p:cNvPr id="65" name="TextBox 140"/>
          <p:cNvSpPr/>
          <p:nvPr/>
        </p:nvSpPr>
        <p:spPr>
          <a:xfrm>
            <a:off x="4728210" y="2794635"/>
            <a:ext cx="3859531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Multi-graph architecture with checkpointing filesystem:</a:t>
            </a:r>
            <a:endParaRPr lang="en-US" sz="541" dirty="0"/>
          </a:p>
        </p:txBody>
      </p:sp>
      <p:sp>
        <p:nvSpPr>
          <p:cNvPr id="66" name="TextBox 147"/>
          <p:cNvSpPr/>
          <p:nvPr/>
        </p:nvSpPr>
        <p:spPr>
          <a:xfrm>
            <a:off x="5165229" y="2933700"/>
            <a:ext cx="94011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classify_intent → 1 of 6 subgraphs</a:t>
            </a:r>
            <a:endParaRPr lang="en-US" sz="464" dirty="0"/>
          </a:p>
        </p:txBody>
      </p:sp>
      <p:sp>
        <p:nvSpPr>
          <p:cNvPr id="67" name="Shape 145"/>
          <p:cNvSpPr/>
          <p:nvPr/>
        </p:nvSpPr>
        <p:spPr>
          <a:xfrm>
            <a:off x="4728210" y="2956560"/>
            <a:ext cx="38100" cy="38100"/>
          </a:xfrm>
          <a:prstGeom prst="ellipse">
            <a:avLst/>
          </a:prstGeom>
          <a:solidFill>
            <a:srgbClr val="1779E1"/>
          </a:solidFill>
          <a:ln/>
        </p:spPr>
      </p:sp>
      <p:sp>
        <p:nvSpPr>
          <p:cNvPr id="68" name="TextBox 146"/>
          <p:cNvSpPr/>
          <p:nvPr/>
        </p:nvSpPr>
        <p:spPr>
          <a:xfrm>
            <a:off x="4804409" y="2933700"/>
            <a:ext cx="36081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Router Graph</a:t>
            </a:r>
            <a:endParaRPr lang="en-US" sz="464" dirty="0"/>
          </a:p>
        </p:txBody>
      </p:sp>
      <p:sp>
        <p:nvSpPr>
          <p:cNvPr id="69" name="TextBox 152"/>
          <p:cNvSpPr/>
          <p:nvPr/>
        </p:nvSpPr>
        <p:spPr>
          <a:xfrm>
            <a:off x="5218628" y="3038475"/>
            <a:ext cx="320301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8 phases: requirements → specification → design → test_planning → implementation → user_guide → testing → deployment</a:t>
            </a:r>
            <a:endParaRPr lang="en-US" sz="464" dirty="0"/>
          </a:p>
        </p:txBody>
      </p:sp>
      <p:sp>
        <p:nvSpPr>
          <p:cNvPr id="70" name="Shape 150"/>
          <p:cNvSpPr/>
          <p:nvPr/>
        </p:nvSpPr>
        <p:spPr>
          <a:xfrm>
            <a:off x="4728210" y="3061335"/>
            <a:ext cx="38100" cy="38100"/>
          </a:xfrm>
          <a:prstGeom prst="ellipse">
            <a:avLst/>
          </a:prstGeom>
          <a:solidFill>
            <a:srgbClr val="1779E1"/>
          </a:solidFill>
          <a:ln/>
        </p:spPr>
      </p:sp>
      <p:sp>
        <p:nvSpPr>
          <p:cNvPr id="71" name="TextBox 151"/>
          <p:cNvSpPr/>
          <p:nvPr/>
        </p:nvSpPr>
        <p:spPr>
          <a:xfrm>
            <a:off x="4804409" y="3038475"/>
            <a:ext cx="41421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SDLC Subgraph</a:t>
            </a:r>
            <a:endParaRPr lang="en-US" sz="464" dirty="0"/>
          </a:p>
        </p:txBody>
      </p:sp>
      <p:sp>
        <p:nvSpPr>
          <p:cNvPr id="72" name="TextBox 157"/>
          <p:cNvSpPr/>
          <p:nvPr/>
        </p:nvSpPr>
        <p:spPr>
          <a:xfrm>
            <a:off x="6015632" y="3143250"/>
            <a:ext cx="96214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specialized subgraphs, lazy-loaded</a:t>
            </a:r>
            <a:endParaRPr lang="en-US" sz="464" dirty="0"/>
          </a:p>
        </p:txBody>
      </p:sp>
      <p:sp>
        <p:nvSpPr>
          <p:cNvPr id="73" name="Shape 155"/>
          <p:cNvSpPr/>
          <p:nvPr/>
        </p:nvSpPr>
        <p:spPr>
          <a:xfrm>
            <a:off x="4728210" y="3166110"/>
            <a:ext cx="38100" cy="38100"/>
          </a:xfrm>
          <a:prstGeom prst="ellipse">
            <a:avLst/>
          </a:prstGeom>
          <a:solidFill>
            <a:srgbClr val="1779E1"/>
          </a:solidFill>
          <a:ln/>
        </p:spPr>
      </p:sp>
      <p:sp>
        <p:nvSpPr>
          <p:cNvPr id="74" name="TextBox 156"/>
          <p:cNvSpPr/>
          <p:nvPr/>
        </p:nvSpPr>
        <p:spPr>
          <a:xfrm>
            <a:off x="4804409" y="3143250"/>
            <a:ext cx="121122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Hotfix / Code Review / Docs / Security / Chat</a:t>
            </a:r>
            <a:endParaRPr lang="en-US" sz="464" dirty="0"/>
          </a:p>
        </p:txBody>
      </p:sp>
      <p:sp>
        <p:nvSpPr>
          <p:cNvPr id="75" name="TextBox 162"/>
          <p:cNvSpPr/>
          <p:nvPr/>
        </p:nvSpPr>
        <p:spPr>
          <a:xfrm>
            <a:off x="5307211" y="3248025"/>
            <a:ext cx="237053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: ticketKey, currentPhase, documents, agentOutputs, verifyPassed, feedbackIterations, toolCalls</a:t>
            </a:r>
            <a:endParaRPr lang="en-US" sz="464" dirty="0"/>
          </a:p>
        </p:txBody>
      </p:sp>
      <p:sp>
        <p:nvSpPr>
          <p:cNvPr id="76" name="Shape 160"/>
          <p:cNvSpPr/>
          <p:nvPr/>
        </p:nvSpPr>
        <p:spPr>
          <a:xfrm>
            <a:off x="4728210" y="3270885"/>
            <a:ext cx="38100" cy="38100"/>
          </a:xfrm>
          <a:prstGeom prst="ellipse">
            <a:avLst/>
          </a:prstGeom>
          <a:solidFill>
            <a:srgbClr val="1779E1"/>
          </a:solidFill>
          <a:ln/>
        </p:spPr>
      </p:sp>
      <p:sp>
        <p:nvSpPr>
          <p:cNvPr id="77" name="TextBox 161"/>
          <p:cNvSpPr/>
          <p:nvPr/>
        </p:nvSpPr>
        <p:spPr>
          <a:xfrm>
            <a:off x="4804409" y="3248025"/>
            <a:ext cx="50280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30+ state channels</a:t>
            </a:r>
            <a:endParaRPr lang="en-US" sz="464" dirty="0"/>
          </a:p>
        </p:txBody>
      </p:sp>
      <p:sp>
        <p:nvSpPr>
          <p:cNvPr id="78" name="TextBox 167"/>
          <p:cNvSpPr/>
          <p:nvPr/>
        </p:nvSpPr>
        <p:spPr>
          <a:xfrm>
            <a:off x="5138678" y="3352800"/>
            <a:ext cx="174629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: verify node → max 2 retries → strategy switch → human intervention</a:t>
            </a:r>
            <a:endParaRPr lang="en-US" sz="464" dirty="0"/>
          </a:p>
        </p:txBody>
      </p:sp>
      <p:sp>
        <p:nvSpPr>
          <p:cNvPr id="79" name="Shape 165"/>
          <p:cNvSpPr/>
          <p:nvPr/>
        </p:nvSpPr>
        <p:spPr>
          <a:xfrm>
            <a:off x="4728210" y="3375660"/>
            <a:ext cx="38100" cy="38100"/>
          </a:xfrm>
          <a:prstGeom prst="ellipse">
            <a:avLst/>
          </a:prstGeom>
          <a:solidFill>
            <a:srgbClr val="1779E1"/>
          </a:solidFill>
          <a:ln/>
        </p:spPr>
      </p:sp>
      <p:sp>
        <p:nvSpPr>
          <p:cNvPr id="80" name="TextBox 166"/>
          <p:cNvSpPr/>
          <p:nvPr/>
        </p:nvSpPr>
        <p:spPr>
          <a:xfrm>
            <a:off x="4804409" y="3352800"/>
            <a:ext cx="33426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Quality Gate</a:t>
            </a:r>
            <a:endParaRPr lang="en-US" sz="464" dirty="0"/>
          </a:p>
        </p:txBody>
      </p:sp>
      <p:sp>
        <p:nvSpPr>
          <p:cNvPr id="81" name="Shape 171"/>
          <p:cNvSpPr/>
          <p:nvPr/>
        </p:nvSpPr>
        <p:spPr>
          <a:xfrm>
            <a:off x="4629150" y="3609975"/>
            <a:ext cx="4057650" cy="1043940"/>
          </a:xfrm>
          <a:prstGeom prst="roundRect">
            <a:avLst>
              <a:gd name="adj" fmla="val 5642"/>
            </a:avLst>
          </a:prstGeom>
          <a:solidFill>
            <a:srgbClr val="FFFFFF"/>
          </a:solidFill>
          <a:ln/>
        </p:spPr>
      </p:sp>
      <p:pic>
        <p:nvPicPr>
          <p:cNvPr id="82" name="Picture 171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29150" y="3609975"/>
            <a:ext cx="4057650" cy="1043940"/>
          </a:xfrm>
          <a:prstGeom prst="rect">
            <a:avLst/>
          </a:prstGeom>
        </p:spPr>
      </p:pic>
      <p:sp>
        <p:nvSpPr>
          <p:cNvPr id="83" name="TextBox 173"/>
          <p:cNvSpPr/>
          <p:nvPr/>
        </p:nvSpPr>
        <p:spPr>
          <a:xfrm>
            <a:off x="4728210" y="3716655"/>
            <a:ext cx="38595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5"/>
              </a:lnSpc>
              <a:buNone/>
            </a:pPr>
            <a:r>
              <a:rPr lang="en-US" sz="773" b="1" spc="-8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 AI Agents</a:t>
            </a:r>
            <a:endParaRPr lang="en-US" sz="773" dirty="0"/>
          </a:p>
        </p:txBody>
      </p:sp>
      <p:sp>
        <p:nvSpPr>
          <p:cNvPr id="84" name="TextBox 177"/>
          <p:cNvSpPr/>
          <p:nvPr/>
        </p:nvSpPr>
        <p:spPr>
          <a:xfrm>
            <a:off x="4728210" y="3888105"/>
            <a:ext cx="1273790" cy="209550"/>
          </a:xfrm>
          <a:prstGeom prst="roundRect">
            <a:avLst>
              <a:gd name="adj" fmla="val 9368"/>
            </a:avLst>
          </a:prstGeom>
          <a:solidFill>
            <a:srgbClr val="FAFCFD"/>
          </a:solidFill>
          <a:ln/>
        </p:spPr>
        <p:txBody>
          <a:bodyPr wrap="square" lIns="39263" tIns="19632" rIns="39263" bIns="19632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SM</a:t>
            </a:r>
            <a:endParaRPr lang="en-US" sz="464" dirty="0"/>
          </a:p>
          <a:p>
            <a:pPr algn="l" indent="0" marL="0">
              <a:lnSpc>
                <a:spcPts val="638"/>
              </a:lnSpc>
              <a:buNone/>
            </a:pPr>
            <a:r>
              <a:rPr lang="en-US" sz="425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Scrum Master</a:t>
            </a:r>
            <a:endParaRPr lang="en-US" sz="464" dirty="0"/>
          </a:p>
        </p:txBody>
      </p:sp>
      <p:sp>
        <p:nvSpPr>
          <p:cNvPr id="85" name="TextBox 179"/>
          <p:cNvSpPr/>
          <p:nvPr/>
        </p:nvSpPr>
        <p:spPr>
          <a:xfrm>
            <a:off x="6021050" y="3888105"/>
            <a:ext cx="1273790" cy="209550"/>
          </a:xfrm>
          <a:prstGeom prst="roundRect">
            <a:avLst>
              <a:gd name="adj" fmla="val 9368"/>
            </a:avLst>
          </a:prstGeom>
          <a:solidFill>
            <a:srgbClr val="FAFCFD"/>
          </a:solidFill>
          <a:ln/>
        </p:spPr>
        <p:txBody>
          <a:bodyPr wrap="square" lIns="39263" tIns="19632" rIns="39263" bIns="19632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</a:t>
            </a:r>
            <a:endParaRPr lang="en-US" sz="464" dirty="0"/>
          </a:p>
          <a:p>
            <a:pPr algn="l" indent="0" marL="0">
              <a:lnSpc>
                <a:spcPts val="638"/>
              </a:lnSpc>
              <a:buNone/>
            </a:pPr>
            <a:r>
              <a:rPr lang="en-US" sz="425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Business Analyst</a:t>
            </a:r>
            <a:endParaRPr lang="en-US" sz="464" dirty="0"/>
          </a:p>
        </p:txBody>
      </p:sp>
      <p:sp>
        <p:nvSpPr>
          <p:cNvPr id="86" name="TextBox 181"/>
          <p:cNvSpPr/>
          <p:nvPr/>
        </p:nvSpPr>
        <p:spPr>
          <a:xfrm>
            <a:off x="7313889" y="3888105"/>
            <a:ext cx="1273851" cy="209550"/>
          </a:xfrm>
          <a:prstGeom prst="roundRect">
            <a:avLst>
              <a:gd name="adj" fmla="val 9368"/>
            </a:avLst>
          </a:prstGeom>
          <a:solidFill>
            <a:srgbClr val="FAFCFD"/>
          </a:solidFill>
          <a:ln/>
        </p:spPr>
        <p:txBody>
          <a:bodyPr wrap="square" lIns="39263" tIns="19632" rIns="39263" bIns="19632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TA</a:t>
            </a:r>
            <a:endParaRPr lang="en-US" sz="464" dirty="0"/>
          </a:p>
          <a:p>
            <a:pPr algn="l" indent="0" marL="0">
              <a:lnSpc>
                <a:spcPts val="638"/>
              </a:lnSpc>
              <a:buNone/>
            </a:pPr>
            <a:r>
              <a:rPr lang="en-US" sz="425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Technical Analyst</a:t>
            </a:r>
            <a:endParaRPr lang="en-US" sz="464" dirty="0"/>
          </a:p>
        </p:txBody>
      </p:sp>
      <p:sp>
        <p:nvSpPr>
          <p:cNvPr id="87" name="TextBox 183"/>
          <p:cNvSpPr/>
          <p:nvPr/>
        </p:nvSpPr>
        <p:spPr>
          <a:xfrm>
            <a:off x="4728210" y="4116704"/>
            <a:ext cx="1273790" cy="209550"/>
          </a:xfrm>
          <a:prstGeom prst="roundRect">
            <a:avLst>
              <a:gd name="adj" fmla="val 9368"/>
            </a:avLst>
          </a:prstGeom>
          <a:solidFill>
            <a:srgbClr val="FAFCFD"/>
          </a:solidFill>
          <a:ln/>
        </p:spPr>
        <p:txBody>
          <a:bodyPr wrap="square" lIns="39263" tIns="19632" rIns="39263" bIns="19632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</a:t>
            </a:r>
            <a:endParaRPr lang="en-US" sz="464" dirty="0"/>
          </a:p>
          <a:p>
            <a:pPr algn="l" indent="0" marL="0">
              <a:lnSpc>
                <a:spcPts val="638"/>
              </a:lnSpc>
              <a:buNone/>
            </a:pPr>
            <a:r>
              <a:rPr lang="en-US" sz="425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Solution Architect</a:t>
            </a:r>
            <a:endParaRPr lang="en-US" sz="464" dirty="0"/>
          </a:p>
        </p:txBody>
      </p:sp>
      <p:sp>
        <p:nvSpPr>
          <p:cNvPr id="88" name="TextBox 185"/>
          <p:cNvSpPr/>
          <p:nvPr/>
        </p:nvSpPr>
        <p:spPr>
          <a:xfrm>
            <a:off x="6021050" y="4116704"/>
            <a:ext cx="1273790" cy="209550"/>
          </a:xfrm>
          <a:prstGeom prst="roundRect">
            <a:avLst>
              <a:gd name="adj" fmla="val 9368"/>
            </a:avLst>
          </a:prstGeom>
          <a:solidFill>
            <a:srgbClr val="FAFCFD"/>
          </a:solidFill>
          <a:ln/>
        </p:spPr>
        <p:txBody>
          <a:bodyPr wrap="square" lIns="39263" tIns="19632" rIns="39263" bIns="19632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DEV</a:t>
            </a:r>
            <a:endParaRPr lang="en-US" sz="464" dirty="0"/>
          </a:p>
          <a:p>
            <a:pPr algn="l" indent="0" marL="0">
              <a:lnSpc>
                <a:spcPts val="638"/>
              </a:lnSpc>
              <a:buNone/>
            </a:pPr>
            <a:r>
              <a:rPr lang="en-US" sz="425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Developer</a:t>
            </a:r>
            <a:endParaRPr lang="en-US" sz="464" dirty="0"/>
          </a:p>
        </p:txBody>
      </p:sp>
      <p:sp>
        <p:nvSpPr>
          <p:cNvPr id="89" name="TextBox 187"/>
          <p:cNvSpPr/>
          <p:nvPr/>
        </p:nvSpPr>
        <p:spPr>
          <a:xfrm>
            <a:off x="7313889" y="4116704"/>
            <a:ext cx="1273851" cy="209550"/>
          </a:xfrm>
          <a:prstGeom prst="roundRect">
            <a:avLst>
              <a:gd name="adj" fmla="val 9368"/>
            </a:avLst>
          </a:prstGeom>
          <a:solidFill>
            <a:srgbClr val="FAFCFD"/>
          </a:solidFill>
          <a:ln/>
        </p:spPr>
        <p:txBody>
          <a:bodyPr wrap="square" lIns="39263" tIns="19632" rIns="39263" bIns="19632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QA</a:t>
            </a:r>
            <a:endParaRPr lang="en-US" sz="464" dirty="0"/>
          </a:p>
          <a:p>
            <a:pPr algn="l" indent="0" marL="0">
              <a:lnSpc>
                <a:spcPts val="638"/>
              </a:lnSpc>
              <a:buNone/>
            </a:pPr>
            <a:r>
              <a:rPr lang="en-US" sz="425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Quality Assurance</a:t>
            </a:r>
            <a:endParaRPr lang="en-US" sz="464" dirty="0"/>
          </a:p>
        </p:txBody>
      </p:sp>
      <p:sp>
        <p:nvSpPr>
          <p:cNvPr id="90" name="TextBox 189"/>
          <p:cNvSpPr/>
          <p:nvPr/>
        </p:nvSpPr>
        <p:spPr>
          <a:xfrm>
            <a:off x="4728210" y="4345305"/>
            <a:ext cx="1273790" cy="209550"/>
          </a:xfrm>
          <a:prstGeom prst="roundRect">
            <a:avLst>
              <a:gd name="adj" fmla="val 9368"/>
            </a:avLst>
          </a:prstGeom>
          <a:solidFill>
            <a:srgbClr val="FAFCFD"/>
          </a:solidFill>
          <a:ln/>
        </p:spPr>
        <p:txBody>
          <a:bodyPr wrap="square" lIns="39263" tIns="19632" rIns="39263" bIns="19632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DevOps</a:t>
            </a:r>
            <a:endParaRPr lang="en-US" sz="464" dirty="0"/>
          </a:p>
          <a:p>
            <a:pPr algn="l" indent="0" marL="0">
              <a:lnSpc>
                <a:spcPts val="638"/>
              </a:lnSpc>
              <a:buNone/>
            </a:pPr>
            <a:r>
              <a:rPr lang="en-US" sz="425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Deployment</a:t>
            </a:r>
            <a:endParaRPr lang="en-US" sz="464" dirty="0"/>
          </a:p>
        </p:txBody>
      </p:sp>
      <p:sp>
        <p:nvSpPr>
          <p:cNvPr id="91" name="TextBox 191"/>
          <p:cNvSpPr/>
          <p:nvPr/>
        </p:nvSpPr>
        <p:spPr>
          <a:xfrm>
            <a:off x="6021050" y="4345305"/>
            <a:ext cx="1273790" cy="209550"/>
          </a:xfrm>
          <a:prstGeom prst="roundRect">
            <a:avLst>
              <a:gd name="adj" fmla="val 9368"/>
            </a:avLst>
          </a:prstGeom>
          <a:solidFill>
            <a:srgbClr val="FAFCFD"/>
          </a:solidFill>
          <a:ln/>
        </p:spPr>
        <p:txBody>
          <a:bodyPr wrap="square" lIns="39263" tIns="19632" rIns="39263" bIns="19632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Security</a:t>
            </a:r>
            <a:endParaRPr lang="en-US" sz="464" dirty="0"/>
          </a:p>
          <a:p>
            <a:pPr algn="l" indent="0" marL="0">
              <a:lnSpc>
                <a:spcPts val="638"/>
              </a:lnSpc>
              <a:buNone/>
            </a:pPr>
            <a:r>
              <a:rPr lang="en-US" sz="425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Security Expert</a:t>
            </a:r>
            <a:endParaRPr lang="en-US" sz="464" dirty="0"/>
          </a:p>
        </p:txBody>
      </p:sp>
      <p:sp>
        <p:nvSpPr>
          <p:cNvPr id="92" name="TextBox 193"/>
          <p:cNvSpPr/>
          <p:nvPr/>
        </p:nvSpPr>
        <p:spPr>
          <a:xfrm>
            <a:off x="7313889" y="4345305"/>
            <a:ext cx="1273851" cy="209550"/>
          </a:xfrm>
          <a:prstGeom prst="roundRect">
            <a:avLst>
              <a:gd name="adj" fmla="val 9368"/>
            </a:avLst>
          </a:prstGeom>
          <a:solidFill>
            <a:srgbClr val="FAFCFD"/>
          </a:solidFill>
          <a:ln/>
        </p:spPr>
        <p:txBody>
          <a:bodyPr wrap="square" lIns="39263" tIns="19632" rIns="39263" bIns="19632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UI</a:t>
            </a:r>
            <a:endParaRPr lang="en-US" sz="464" dirty="0"/>
          </a:p>
          <a:p>
            <a:pPr algn="l" indent="0" marL="0">
              <a:lnSpc>
                <a:spcPts val="638"/>
              </a:lnSpc>
              <a:buNone/>
            </a:pPr>
            <a:r>
              <a:rPr lang="en-US" sz="425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UI/UX Designer</a:t>
            </a:r>
            <a:endParaRPr lang="en-US" sz="464" dirty="0"/>
          </a:p>
        </p:txBody>
      </p:sp>
      <p:sp>
        <p:nvSpPr>
          <p:cNvPr id="93" name="Shape 199"/>
          <p:cNvSpPr/>
          <p:nvPr/>
        </p:nvSpPr>
        <p:spPr>
          <a:xfrm>
            <a:off x="457200" y="4730115"/>
            <a:ext cx="8229600" cy="184785"/>
          </a:xfrm>
          <a:prstGeom prst="rect">
            <a:avLst/>
          </a:prstGeom>
          <a:noFill/>
          <a:ln/>
        </p:spPr>
      </p:sp>
      <p:pic>
        <p:nvPicPr>
          <p:cNvPr id="94" name="Picture 199" descr="__type_imag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7200" y="4730115"/>
            <a:ext cx="8229600" cy="184785"/>
          </a:xfrm>
          <a:prstGeom prst="rect">
            <a:avLst/>
          </a:prstGeom>
        </p:spPr>
      </p:pic>
      <p:sp>
        <p:nvSpPr>
          <p:cNvPr id="95" name="TextBox 201"/>
          <p:cNvSpPr/>
          <p:nvPr/>
        </p:nvSpPr>
        <p:spPr>
          <a:xfrm>
            <a:off x="457200" y="4848225"/>
            <a:ext cx="80170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41"/>
              </a:lnSpc>
              <a:buNone/>
            </a:pPr>
            <a:r>
              <a:rPr lang="en-US" sz="541" dirty="0">
                <a:solidFill>
                  <a:srgbClr val="9A9FA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SDLC Agents For Enterprise</a:t>
            </a:r>
            <a:endParaRPr lang="en-US" sz="541" dirty="0"/>
          </a:p>
        </p:txBody>
      </p:sp>
      <p:sp>
        <p:nvSpPr>
          <p:cNvPr id="96" name="TextBox 203"/>
          <p:cNvSpPr/>
          <p:nvPr/>
        </p:nvSpPr>
        <p:spPr>
          <a:xfrm>
            <a:off x="8186976" y="4850606"/>
            <a:ext cx="499824" cy="61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02"/>
              </a:lnSpc>
              <a:buNone/>
            </a:pPr>
            <a:r>
              <a:rPr lang="en-US" sz="502" spc="35" kern="0" dirty="0">
                <a:solidFill>
                  <a:srgbClr val="1779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IDE EXTENSION</a:t>
            </a:r>
            <a:endParaRPr lang="en-US" sz="50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D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D"/>
          </a:solidFill>
          <a:ln/>
        </p:spPr>
      </p:sp>
      <p:sp>
        <p:nvSpPr>
          <p:cNvPr id="4" name="TextBox 6"/>
          <p:cNvSpPr/>
          <p:nvPr/>
        </p:nvSpPr>
        <p:spPr>
          <a:xfrm>
            <a:off x="457200" y="342900"/>
            <a:ext cx="447437" cy="93345"/>
          </a:xfrm>
          <a:prstGeom prst="roundRect">
            <a:avLst>
              <a:gd name="adj" fmla="val 26289"/>
            </a:avLst>
          </a:prstGeom>
          <a:solidFill>
            <a:srgbClr val="1779E1"/>
          </a:solidFill>
          <a:ln w="3926">
            <a:solidFill>
              <a:srgbClr val="1779E1"/>
            </a:solidFill>
            <a:prstDash val="solid"/>
          </a:ln>
        </p:spPr>
        <p:txBody>
          <a:bodyPr wrap="square" lIns="49079" tIns="14724" rIns="49079" bIns="14724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 IDE Targets</a:t>
            </a:r>
            <a:endParaRPr lang="en-US" sz="464" dirty="0"/>
          </a:p>
        </p:txBody>
      </p:sp>
      <p:sp>
        <p:nvSpPr>
          <p:cNvPr id="5" name="TextBox 8"/>
          <p:cNvSpPr/>
          <p:nvPr/>
        </p:nvSpPr>
        <p:spPr>
          <a:xfrm>
            <a:off x="961787" y="342900"/>
            <a:ext cx="563404" cy="93345"/>
          </a:xfrm>
          <a:prstGeom prst="roundRect">
            <a:avLst>
              <a:gd name="adj" fmla="val 26289"/>
            </a:avLst>
          </a:prstGeom>
          <a:solidFill>
            <a:srgbClr val="008B1D"/>
          </a:solidFill>
          <a:ln w="3926">
            <a:solidFill>
              <a:srgbClr val="008B1D"/>
            </a:solidFill>
            <a:prstDash val="solid"/>
          </a:ln>
        </p:spPr>
        <p:txBody>
          <a:bodyPr wrap="square" lIns="49079" tIns="14724" rIns="49079" bIns="14724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 Swap Platforms</a:t>
            </a:r>
            <a:endParaRPr lang="en-US" sz="464" dirty="0"/>
          </a:p>
        </p:txBody>
      </p:sp>
      <p:sp>
        <p:nvSpPr>
          <p:cNvPr id="6" name="TextBox 10"/>
          <p:cNvSpPr/>
          <p:nvPr/>
        </p:nvSpPr>
        <p:spPr>
          <a:xfrm>
            <a:off x="1582341" y="342900"/>
            <a:ext cx="493276" cy="93345"/>
          </a:xfrm>
          <a:prstGeom prst="roundRect">
            <a:avLst>
              <a:gd name="adj" fmla="val 26289"/>
            </a:avLst>
          </a:prstGeom>
          <a:solidFill>
            <a:srgbClr val="C08200"/>
          </a:solidFill>
          <a:ln w="3926">
            <a:solidFill>
              <a:srgbClr val="C08200"/>
            </a:solidFill>
            <a:prstDash val="solid"/>
          </a:ln>
        </p:spPr>
        <p:txBody>
          <a:bodyPr wrap="square" lIns="49079" tIns="14724" rIns="49079" bIns="14724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 Inject Modes</a:t>
            </a:r>
            <a:endParaRPr lang="en-US" sz="464" dirty="0"/>
          </a:p>
        </p:txBody>
      </p:sp>
      <p:sp>
        <p:nvSpPr>
          <p:cNvPr id="7" name="TextBox 13"/>
          <p:cNvSpPr/>
          <p:nvPr/>
        </p:nvSpPr>
        <p:spPr>
          <a:xfrm>
            <a:off x="457200" y="474345"/>
            <a:ext cx="822960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855" b="1" spc="-37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Multi-IDE Platform Swap</a:t>
            </a:r>
            <a:endParaRPr lang="en-US" sz="1855" dirty="0"/>
          </a:p>
        </p:txBody>
      </p:sp>
      <p:sp>
        <p:nvSpPr>
          <p:cNvPr id="8" name="TextBox 15"/>
          <p:cNvSpPr/>
          <p:nvPr/>
        </p:nvSpPr>
        <p:spPr>
          <a:xfrm>
            <a:off x="457200" y="813435"/>
            <a:ext cx="419100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Inject SDLC Agents into any major IDE. Platform Swap switches agent configs between IDEs seamlessly. Injector installs all 9 agents with hooks, steering rules, and MCP config in one command.</a:t>
            </a:r>
            <a:endParaRPr lang="en-US" sz="850" dirty="0"/>
          </a:p>
        </p:txBody>
      </p:sp>
      <p:sp>
        <p:nvSpPr>
          <p:cNvPr id="9" name="Shape 21"/>
          <p:cNvSpPr/>
          <p:nvPr/>
        </p:nvSpPr>
        <p:spPr>
          <a:xfrm>
            <a:off x="457200" y="1475422"/>
            <a:ext cx="4057650" cy="1472089"/>
          </a:xfrm>
          <a:prstGeom prst="roundRect">
            <a:avLst>
              <a:gd name="adj" fmla="val 4001"/>
            </a:avLst>
          </a:prstGeom>
          <a:solidFill>
            <a:srgbClr val="FFFFFF"/>
          </a:solidFill>
          <a:ln/>
        </p:spPr>
      </p:sp>
      <p:pic>
        <p:nvPicPr>
          <p:cNvPr id="10" name="Picture 21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475422"/>
            <a:ext cx="4057650" cy="1472089"/>
          </a:xfrm>
          <a:prstGeom prst="rect">
            <a:avLst/>
          </a:prstGeom>
        </p:spPr>
      </p:pic>
      <p:sp>
        <p:nvSpPr>
          <p:cNvPr id="11" name="TextBox 23"/>
          <p:cNvSpPr/>
          <p:nvPr/>
        </p:nvSpPr>
        <p:spPr>
          <a:xfrm>
            <a:off x="556260" y="1582102"/>
            <a:ext cx="38595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5"/>
              </a:lnSpc>
              <a:buNone/>
            </a:pPr>
            <a:r>
              <a:rPr lang="en-US" sz="773" b="1" spc="-8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Platform Swap</a:t>
            </a:r>
            <a:endParaRPr lang="en-US" sz="773" dirty="0"/>
          </a:p>
        </p:txBody>
      </p:sp>
      <p:sp>
        <p:nvSpPr>
          <p:cNvPr id="12" name="TextBox 25"/>
          <p:cNvSpPr/>
          <p:nvPr/>
        </p:nvSpPr>
        <p:spPr>
          <a:xfrm>
            <a:off x="556260" y="1753552"/>
            <a:ext cx="385953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Template Method pattern orchestrates swap between 4 IDE platforms. PlatformDetector uses Strategy pattern (appName, extensions, env vars) to identify the active IDE.</a:t>
            </a:r>
            <a:endParaRPr lang="en-US" sz="541" dirty="0"/>
          </a:p>
        </p:txBody>
      </p:sp>
      <p:sp>
        <p:nvSpPr>
          <p:cNvPr id="13" name="TextBox 32"/>
          <p:cNvSpPr/>
          <p:nvPr/>
        </p:nvSpPr>
        <p:spPr>
          <a:xfrm>
            <a:off x="1090136" y="2018347"/>
            <a:ext cx="260092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754"/>
              </a:lnSpc>
              <a:buNone/>
            </a:pPr>
            <a:r>
              <a:rPr lang="en-US" sz="502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validate → backup → delete (3 retry, 500ms delay) → copy → update state → rollback on failure</a:t>
            </a:r>
            <a:endParaRPr lang="en-US" sz="502" dirty="0"/>
          </a:p>
        </p:txBody>
      </p:sp>
      <p:sp>
        <p:nvSpPr>
          <p:cNvPr id="14" name="Shape 30"/>
          <p:cNvSpPr/>
          <p:nvPr/>
        </p:nvSpPr>
        <p:spPr>
          <a:xfrm>
            <a:off x="556260" y="2048827"/>
            <a:ext cx="38100" cy="38100"/>
          </a:xfrm>
          <a:prstGeom prst="ellipse">
            <a:avLst/>
          </a:prstGeom>
          <a:solidFill>
            <a:srgbClr val="008B1D"/>
          </a:solidFill>
          <a:ln/>
        </p:spPr>
      </p:sp>
      <p:sp>
        <p:nvSpPr>
          <p:cNvPr id="15" name="TextBox 31"/>
          <p:cNvSpPr/>
          <p:nvPr/>
        </p:nvSpPr>
        <p:spPr>
          <a:xfrm>
            <a:off x="622935" y="2018347"/>
            <a:ext cx="467201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502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Swap Sequence:</a:t>
            </a:r>
            <a:endParaRPr lang="en-US" sz="502" dirty="0"/>
          </a:p>
        </p:txBody>
      </p:sp>
      <p:sp>
        <p:nvSpPr>
          <p:cNvPr id="16" name="TextBox 37"/>
          <p:cNvSpPr/>
          <p:nvPr/>
        </p:nvSpPr>
        <p:spPr>
          <a:xfrm>
            <a:off x="1099542" y="2130266"/>
            <a:ext cx="205990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754"/>
              </a:lnSpc>
              <a:buNone/>
            </a:pPr>
            <a:r>
              <a:rPr lang="en-US" sz="502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documents/, .code-intel/, backend/, node_modules/, .git/ — never touched</a:t>
            </a:r>
            <a:endParaRPr lang="en-US" sz="502" dirty="0"/>
          </a:p>
        </p:txBody>
      </p:sp>
      <p:sp>
        <p:nvSpPr>
          <p:cNvPr id="17" name="Shape 35"/>
          <p:cNvSpPr/>
          <p:nvPr/>
        </p:nvSpPr>
        <p:spPr>
          <a:xfrm>
            <a:off x="556260" y="2160746"/>
            <a:ext cx="38100" cy="38100"/>
          </a:xfrm>
          <a:prstGeom prst="ellipse">
            <a:avLst/>
          </a:prstGeom>
          <a:solidFill>
            <a:srgbClr val="008B1D"/>
          </a:solidFill>
          <a:ln/>
        </p:spPr>
      </p:sp>
      <p:sp>
        <p:nvSpPr>
          <p:cNvPr id="18" name="TextBox 36"/>
          <p:cNvSpPr/>
          <p:nvPr/>
        </p:nvSpPr>
        <p:spPr>
          <a:xfrm>
            <a:off x="622935" y="2130266"/>
            <a:ext cx="476607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502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Protected paths:</a:t>
            </a:r>
            <a:endParaRPr lang="en-US" sz="502" dirty="0"/>
          </a:p>
        </p:txBody>
      </p:sp>
      <p:sp>
        <p:nvSpPr>
          <p:cNvPr id="19" name="TextBox 42"/>
          <p:cNvSpPr/>
          <p:nvPr/>
        </p:nvSpPr>
        <p:spPr>
          <a:xfrm>
            <a:off x="1058942" y="2242185"/>
            <a:ext cx="2114371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754"/>
              </a:lnSpc>
              <a:buNone/>
            </a:pPr>
            <a:r>
              <a:rPr lang="en-US" sz="502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via .agent-config.json: activePlatform, autoSwap, platformOverride, backups[]</a:t>
            </a:r>
            <a:endParaRPr lang="en-US" sz="502" dirty="0"/>
          </a:p>
        </p:txBody>
      </p:sp>
      <p:sp>
        <p:nvSpPr>
          <p:cNvPr id="20" name="Shape 40"/>
          <p:cNvSpPr/>
          <p:nvPr/>
        </p:nvSpPr>
        <p:spPr>
          <a:xfrm>
            <a:off x="556260" y="2272665"/>
            <a:ext cx="38100" cy="38100"/>
          </a:xfrm>
          <a:prstGeom prst="ellipse">
            <a:avLst/>
          </a:prstGeom>
          <a:solidFill>
            <a:srgbClr val="008B1D"/>
          </a:solidFill>
          <a:ln/>
        </p:spPr>
      </p:sp>
      <p:sp>
        <p:nvSpPr>
          <p:cNvPr id="21" name="TextBox 41"/>
          <p:cNvSpPr/>
          <p:nvPr/>
        </p:nvSpPr>
        <p:spPr>
          <a:xfrm>
            <a:off x="622935" y="2242185"/>
            <a:ext cx="436007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502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State managed</a:t>
            </a:r>
            <a:endParaRPr lang="en-US" sz="502" dirty="0"/>
          </a:p>
        </p:txBody>
      </p:sp>
      <p:sp>
        <p:nvSpPr>
          <p:cNvPr id="22" name="TextBox 49"/>
          <p:cNvSpPr/>
          <p:nvPr/>
        </p:nvSpPr>
        <p:spPr>
          <a:xfrm>
            <a:off x="906542" y="2594134"/>
            <a:ext cx="20716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603"/>
              </a:lnSpc>
              <a:buNone/>
            </a:pPr>
            <a:r>
              <a:rPr lang="en-US" sz="464" dirty="0">
                <a:solidFill>
                  <a:srgbClr val="1779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Validate</a:t>
            </a:r>
            <a:endParaRPr lang="en-US" sz="464" dirty="0"/>
          </a:p>
        </p:txBody>
      </p:sp>
      <p:sp>
        <p:nvSpPr>
          <p:cNvPr id="23" name="TextBox 48"/>
          <p:cNvSpPr/>
          <p:nvPr/>
        </p:nvSpPr>
        <p:spPr>
          <a:xfrm>
            <a:off x="943451" y="2436019"/>
            <a:ext cx="133350" cy="133350"/>
          </a:xfrm>
          <a:prstGeom prst="ellipse">
            <a:avLst/>
          </a:prstGeom>
          <a:solidFill>
            <a:srgbClr val="1779E1"/>
          </a:solidFill>
          <a:ln w="3926">
            <a:solidFill>
              <a:srgbClr val="1779E1"/>
            </a:solidFill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82"/>
              </a:lnSpc>
              <a:buNone/>
            </a:pPr>
            <a:r>
              <a:rPr lang="en-US" sz="464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</a:t>
            </a:r>
            <a:endParaRPr lang="en-US" sz="464" dirty="0"/>
          </a:p>
        </p:txBody>
      </p:sp>
      <p:sp>
        <p:nvSpPr>
          <p:cNvPr id="24" name="Shape 51"/>
          <p:cNvSpPr/>
          <p:nvPr/>
        </p:nvSpPr>
        <p:spPr>
          <a:xfrm>
            <a:off x="1463992" y="2550557"/>
            <a:ext cx="76200" cy="7144"/>
          </a:xfrm>
          <a:prstGeom prst="rect">
            <a:avLst/>
          </a:prstGeom>
          <a:solidFill>
            <a:srgbClr val="E2E5E8"/>
          </a:solidFill>
          <a:ln/>
        </p:spPr>
      </p:sp>
      <p:sp>
        <p:nvSpPr>
          <p:cNvPr id="25" name="TextBox 55"/>
          <p:cNvSpPr/>
          <p:nvPr/>
        </p:nvSpPr>
        <p:spPr>
          <a:xfrm>
            <a:off x="1899523" y="2594134"/>
            <a:ext cx="18901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603"/>
              </a:lnSpc>
              <a:buNone/>
            </a:pPr>
            <a:r>
              <a:rPr lang="en-US" sz="464" dirty="0">
                <a:solidFill>
                  <a:srgbClr val="1779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Backup</a:t>
            </a:r>
            <a:endParaRPr lang="en-US" sz="464" dirty="0"/>
          </a:p>
        </p:txBody>
      </p:sp>
      <p:sp>
        <p:nvSpPr>
          <p:cNvPr id="26" name="TextBox 54"/>
          <p:cNvSpPr/>
          <p:nvPr/>
        </p:nvSpPr>
        <p:spPr>
          <a:xfrm>
            <a:off x="1927384" y="2436019"/>
            <a:ext cx="133350" cy="133350"/>
          </a:xfrm>
          <a:prstGeom prst="ellipse">
            <a:avLst/>
          </a:prstGeom>
          <a:solidFill>
            <a:srgbClr val="1779E1"/>
          </a:solidFill>
          <a:ln w="3926">
            <a:solidFill>
              <a:srgbClr val="1779E1"/>
            </a:solidFill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82"/>
              </a:lnSpc>
              <a:buNone/>
            </a:pPr>
            <a:r>
              <a:rPr lang="en-US" sz="464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</a:t>
            </a:r>
            <a:endParaRPr lang="en-US" sz="464" dirty="0"/>
          </a:p>
        </p:txBody>
      </p:sp>
      <p:sp>
        <p:nvSpPr>
          <p:cNvPr id="27" name="Shape 57"/>
          <p:cNvSpPr/>
          <p:nvPr/>
        </p:nvSpPr>
        <p:spPr>
          <a:xfrm>
            <a:off x="2447925" y="2550557"/>
            <a:ext cx="76200" cy="7144"/>
          </a:xfrm>
          <a:prstGeom prst="rect">
            <a:avLst/>
          </a:prstGeom>
          <a:solidFill>
            <a:srgbClr val="E2E5E8"/>
          </a:solidFill>
          <a:ln/>
        </p:spPr>
      </p:sp>
      <p:sp>
        <p:nvSpPr>
          <p:cNvPr id="28" name="TextBox 61"/>
          <p:cNvSpPr/>
          <p:nvPr/>
        </p:nvSpPr>
        <p:spPr>
          <a:xfrm>
            <a:off x="2886015" y="2594134"/>
            <a:ext cx="18395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603"/>
              </a:lnSpc>
              <a:buNone/>
            </a:pPr>
            <a:r>
              <a:rPr lang="en-US" sz="464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Deploy</a:t>
            </a:r>
            <a:endParaRPr lang="en-US" sz="464" dirty="0"/>
          </a:p>
        </p:txBody>
      </p:sp>
      <p:sp>
        <p:nvSpPr>
          <p:cNvPr id="29" name="TextBox 60"/>
          <p:cNvSpPr/>
          <p:nvPr/>
        </p:nvSpPr>
        <p:spPr>
          <a:xfrm>
            <a:off x="2911316" y="2436019"/>
            <a:ext cx="133350" cy="133350"/>
          </a:xfrm>
          <a:prstGeom prst="ellipse">
            <a:avLst/>
          </a:prstGeom>
          <a:solidFill>
            <a:srgbClr val="FAFCFD"/>
          </a:solidFill>
          <a:ln w="3926">
            <a:solidFill>
              <a:srgbClr val="E2E5E8"/>
            </a:solidFill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82"/>
              </a:lnSpc>
              <a:buNone/>
            </a:pPr>
            <a:r>
              <a:rPr lang="en-US" sz="464" b="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</a:t>
            </a:r>
            <a:endParaRPr lang="en-US" sz="464" dirty="0"/>
          </a:p>
        </p:txBody>
      </p:sp>
      <p:sp>
        <p:nvSpPr>
          <p:cNvPr id="30" name="Shape 63"/>
          <p:cNvSpPr/>
          <p:nvPr/>
        </p:nvSpPr>
        <p:spPr>
          <a:xfrm>
            <a:off x="3431857" y="2550557"/>
            <a:ext cx="76200" cy="7144"/>
          </a:xfrm>
          <a:prstGeom prst="rect">
            <a:avLst/>
          </a:prstGeom>
          <a:solidFill>
            <a:srgbClr val="E2E5E8"/>
          </a:solidFill>
          <a:ln/>
        </p:spPr>
      </p:sp>
      <p:sp>
        <p:nvSpPr>
          <p:cNvPr id="31" name="TextBox 67"/>
          <p:cNvSpPr/>
          <p:nvPr/>
        </p:nvSpPr>
        <p:spPr>
          <a:xfrm>
            <a:off x="3887271" y="2594134"/>
            <a:ext cx="14924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603"/>
              </a:lnSpc>
              <a:buNone/>
            </a:pPr>
            <a:r>
              <a:rPr lang="en-US" sz="464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Verify</a:t>
            </a:r>
            <a:endParaRPr lang="en-US" sz="464" dirty="0"/>
          </a:p>
        </p:txBody>
      </p:sp>
      <p:sp>
        <p:nvSpPr>
          <p:cNvPr id="32" name="TextBox 66"/>
          <p:cNvSpPr/>
          <p:nvPr/>
        </p:nvSpPr>
        <p:spPr>
          <a:xfrm>
            <a:off x="3895248" y="2436019"/>
            <a:ext cx="133350" cy="133350"/>
          </a:xfrm>
          <a:prstGeom prst="ellipse">
            <a:avLst/>
          </a:prstGeom>
          <a:solidFill>
            <a:srgbClr val="FAFCFD"/>
          </a:solidFill>
          <a:ln w="3926">
            <a:solidFill>
              <a:srgbClr val="E2E5E8"/>
            </a:solidFill>
            <a:prstDash val="solid"/>
          </a:ln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82"/>
              </a:lnSpc>
              <a:buNone/>
            </a:pPr>
            <a:r>
              <a:rPr lang="en-US" sz="464" b="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</a:t>
            </a:r>
            <a:endParaRPr lang="en-US" sz="464" dirty="0"/>
          </a:p>
        </p:txBody>
      </p:sp>
      <p:sp>
        <p:nvSpPr>
          <p:cNvPr id="33" name="TextBox 72"/>
          <p:cNvSpPr/>
          <p:nvPr/>
        </p:nvSpPr>
        <p:spPr>
          <a:xfrm>
            <a:off x="556260" y="2757964"/>
            <a:ext cx="452080" cy="90488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SwapExecutor</a:t>
            </a:r>
            <a:endParaRPr lang="en-US" sz="425" dirty="0"/>
          </a:p>
        </p:txBody>
      </p:sp>
      <p:sp>
        <p:nvSpPr>
          <p:cNvPr id="34" name="TextBox 74"/>
          <p:cNvSpPr/>
          <p:nvPr/>
        </p:nvSpPr>
        <p:spPr>
          <a:xfrm>
            <a:off x="1027390" y="2757964"/>
            <a:ext cx="534234" cy="90488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PlatformDetector</a:t>
            </a:r>
            <a:endParaRPr lang="en-US" sz="425" dirty="0"/>
          </a:p>
        </p:txBody>
      </p:sp>
      <p:sp>
        <p:nvSpPr>
          <p:cNvPr id="35" name="TextBox 76"/>
          <p:cNvSpPr/>
          <p:nvPr/>
        </p:nvSpPr>
        <p:spPr>
          <a:xfrm>
            <a:off x="1580674" y="2757964"/>
            <a:ext cx="452795" cy="90488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StateManager</a:t>
            </a:r>
            <a:endParaRPr lang="en-US" sz="425" dirty="0"/>
          </a:p>
        </p:txBody>
      </p:sp>
      <p:sp>
        <p:nvSpPr>
          <p:cNvPr id="36" name="TextBox 78"/>
          <p:cNvSpPr/>
          <p:nvPr/>
        </p:nvSpPr>
        <p:spPr>
          <a:xfrm>
            <a:off x="2052518" y="2757964"/>
            <a:ext cx="506849" cy="90488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BackupManager</a:t>
            </a:r>
            <a:endParaRPr lang="en-US" sz="425" dirty="0"/>
          </a:p>
        </p:txBody>
      </p:sp>
      <p:sp>
        <p:nvSpPr>
          <p:cNvPr id="37" name="TextBox 80"/>
          <p:cNvSpPr/>
          <p:nvPr/>
        </p:nvSpPr>
        <p:spPr>
          <a:xfrm>
            <a:off x="2578417" y="2757964"/>
            <a:ext cx="573226" cy="90488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StatusBar indicator</a:t>
            </a:r>
            <a:endParaRPr lang="en-US" sz="425" dirty="0"/>
          </a:p>
        </p:txBody>
      </p:sp>
      <p:sp>
        <p:nvSpPr>
          <p:cNvPr id="38" name="Shape 87"/>
          <p:cNvSpPr/>
          <p:nvPr/>
        </p:nvSpPr>
        <p:spPr>
          <a:xfrm>
            <a:off x="4629150" y="1475422"/>
            <a:ext cx="4057650" cy="1375410"/>
          </a:xfrm>
          <a:prstGeom prst="roundRect">
            <a:avLst>
              <a:gd name="adj" fmla="val 4282"/>
            </a:avLst>
          </a:prstGeom>
          <a:solidFill>
            <a:srgbClr val="FFFFFF"/>
          </a:solidFill>
          <a:ln/>
        </p:spPr>
      </p:sp>
      <p:pic>
        <p:nvPicPr>
          <p:cNvPr id="39" name="Picture 87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9150" y="1475422"/>
            <a:ext cx="4057650" cy="1375410"/>
          </a:xfrm>
          <a:prstGeom prst="rect">
            <a:avLst/>
          </a:prstGeom>
        </p:spPr>
      </p:pic>
      <p:sp>
        <p:nvSpPr>
          <p:cNvPr id="40" name="TextBox 89"/>
          <p:cNvSpPr/>
          <p:nvPr/>
        </p:nvSpPr>
        <p:spPr>
          <a:xfrm>
            <a:off x="4728210" y="1582102"/>
            <a:ext cx="38595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5"/>
              </a:lnSpc>
              <a:buNone/>
            </a:pPr>
            <a:r>
              <a:rPr lang="en-US" sz="773" b="1" spc="-8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 IDE Targets</a:t>
            </a:r>
            <a:endParaRPr lang="en-US" sz="773" dirty="0"/>
          </a:p>
        </p:txBody>
      </p:sp>
      <p:sp>
        <p:nvSpPr>
          <p:cNvPr id="41" name="TextBox 91"/>
          <p:cNvSpPr/>
          <p:nvPr/>
        </p:nvSpPr>
        <p:spPr>
          <a:xfrm>
            <a:off x="4728210" y="1753552"/>
            <a:ext cx="385953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Injector copies all 9 agent prompts + hooks + steering rules + MCP config. Conversion directories for each platform maintained in </a:t>
            </a:r>
            <a:r>
              <a:rPr lang="en-US" sz="464" dirty="0">
                <a:solidFill>
                  <a:srgbClr val="6A6F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conversions/</a:t>
            </a: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541" dirty="0"/>
          </a:p>
        </p:txBody>
      </p:sp>
      <p:sp>
        <p:nvSpPr>
          <p:cNvPr id="42" name="TextBox 95"/>
          <p:cNvSpPr/>
          <p:nvPr/>
        </p:nvSpPr>
        <p:spPr>
          <a:xfrm>
            <a:off x="4728210" y="2005012"/>
            <a:ext cx="1920240" cy="236220"/>
          </a:xfrm>
          <a:prstGeom prst="roundRect">
            <a:avLst>
              <a:gd name="adj" fmla="val 12466"/>
            </a:avLst>
          </a:prstGeom>
          <a:solidFill>
            <a:srgbClr val="FAFCFD"/>
          </a:solidFill>
          <a:ln w="3926">
            <a:solidFill>
              <a:srgbClr val="E2E5E8"/>
            </a:solidFill>
            <a:prstDash val="solid"/>
          </a:ln>
        </p:spPr>
        <p:txBody>
          <a:bodyPr wrap="square" lIns="49079" tIns="29448" rIns="49079" bIns="29448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Kiro</a:t>
            </a:r>
            <a:endParaRPr lang="en-US" sz="464" dirty="0"/>
          </a:p>
          <a:p>
            <a:pPr algn="l"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.kiro/agents/ (default)</a:t>
            </a:r>
            <a:endParaRPr lang="en-US" sz="464" dirty="0"/>
          </a:p>
        </p:txBody>
      </p:sp>
      <p:sp>
        <p:nvSpPr>
          <p:cNvPr id="43" name="TextBox 97"/>
          <p:cNvSpPr/>
          <p:nvPr/>
        </p:nvSpPr>
        <p:spPr>
          <a:xfrm>
            <a:off x="6667499" y="2005012"/>
            <a:ext cx="1920241" cy="236220"/>
          </a:xfrm>
          <a:prstGeom prst="roundRect">
            <a:avLst>
              <a:gd name="adj" fmla="val 12466"/>
            </a:avLst>
          </a:prstGeom>
          <a:solidFill>
            <a:srgbClr val="FAFCFD"/>
          </a:solidFill>
          <a:ln w="3926">
            <a:solidFill>
              <a:srgbClr val="E2E5E8"/>
            </a:solidFill>
            <a:prstDash val="solid"/>
          </a:ln>
        </p:spPr>
        <p:txBody>
          <a:bodyPr wrap="square" lIns="49079" tIns="29448" rIns="49079" bIns="29448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VS Code</a:t>
            </a:r>
            <a:endParaRPr lang="en-US" sz="464" dirty="0"/>
          </a:p>
          <a:p>
            <a:pPr algn="l"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.github/agents/</a:t>
            </a:r>
            <a:endParaRPr lang="en-US" sz="464" dirty="0"/>
          </a:p>
        </p:txBody>
      </p:sp>
      <p:sp>
        <p:nvSpPr>
          <p:cNvPr id="44" name="TextBox 99"/>
          <p:cNvSpPr/>
          <p:nvPr/>
        </p:nvSpPr>
        <p:spPr>
          <a:xfrm>
            <a:off x="4728210" y="2260283"/>
            <a:ext cx="1920240" cy="236220"/>
          </a:xfrm>
          <a:prstGeom prst="roundRect">
            <a:avLst>
              <a:gd name="adj" fmla="val 12466"/>
            </a:avLst>
          </a:prstGeom>
          <a:solidFill>
            <a:srgbClr val="FAFCFD"/>
          </a:solidFill>
          <a:ln w="3926">
            <a:solidFill>
              <a:srgbClr val="E2E5E8"/>
            </a:solidFill>
            <a:prstDash val="solid"/>
          </a:ln>
        </p:spPr>
        <p:txBody>
          <a:bodyPr wrap="square" lIns="49079" tIns="29448" rIns="49079" bIns="29448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Claude Code</a:t>
            </a:r>
            <a:endParaRPr lang="en-US" sz="464" dirty="0"/>
          </a:p>
          <a:p>
            <a:pPr algn="l"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.claude/agents/</a:t>
            </a:r>
            <a:endParaRPr lang="en-US" sz="464" dirty="0"/>
          </a:p>
        </p:txBody>
      </p:sp>
      <p:sp>
        <p:nvSpPr>
          <p:cNvPr id="45" name="TextBox 101"/>
          <p:cNvSpPr/>
          <p:nvPr/>
        </p:nvSpPr>
        <p:spPr>
          <a:xfrm>
            <a:off x="6667499" y="2260283"/>
            <a:ext cx="1920241" cy="236220"/>
          </a:xfrm>
          <a:prstGeom prst="roundRect">
            <a:avLst>
              <a:gd name="adj" fmla="val 12466"/>
            </a:avLst>
          </a:prstGeom>
          <a:solidFill>
            <a:srgbClr val="FAFCFD"/>
          </a:solidFill>
          <a:ln w="3926">
            <a:solidFill>
              <a:srgbClr val="E2E5E8"/>
            </a:solidFill>
            <a:prstDash val="solid"/>
          </a:ln>
        </p:spPr>
        <p:txBody>
          <a:bodyPr wrap="square" lIns="49079" tIns="29448" rIns="49079" bIns="29448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Codex/OpenAI</a:t>
            </a:r>
            <a:endParaRPr lang="en-US" sz="464" dirty="0"/>
          </a:p>
          <a:p>
            <a:pPr algn="l"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AGENTS.md + agents/</a:t>
            </a:r>
            <a:endParaRPr lang="en-US" sz="464" dirty="0"/>
          </a:p>
        </p:txBody>
      </p:sp>
      <p:sp>
        <p:nvSpPr>
          <p:cNvPr id="46" name="TextBox 103"/>
          <p:cNvSpPr/>
          <p:nvPr/>
        </p:nvSpPr>
        <p:spPr>
          <a:xfrm>
            <a:off x="4728210" y="2515552"/>
            <a:ext cx="1920240" cy="236220"/>
          </a:xfrm>
          <a:prstGeom prst="roundRect">
            <a:avLst>
              <a:gd name="adj" fmla="val 12466"/>
            </a:avLst>
          </a:prstGeom>
          <a:solidFill>
            <a:srgbClr val="FAFCFD"/>
          </a:solidFill>
          <a:ln w="3926">
            <a:solidFill>
              <a:srgbClr val="E2E5E8"/>
            </a:solidFill>
            <a:prstDash val="solid"/>
          </a:ln>
        </p:spPr>
        <p:txBody>
          <a:bodyPr wrap="square" lIns="49079" tIns="29448" rIns="49079" bIns="29448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OpenCode</a:t>
            </a:r>
            <a:endParaRPr lang="en-US" sz="464" dirty="0"/>
          </a:p>
          <a:p>
            <a:pPr algn="l"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.opencode/agents/</a:t>
            </a:r>
            <a:endParaRPr lang="en-US" sz="464" dirty="0"/>
          </a:p>
        </p:txBody>
      </p:sp>
      <p:sp>
        <p:nvSpPr>
          <p:cNvPr id="47" name="TextBox 105"/>
          <p:cNvSpPr/>
          <p:nvPr/>
        </p:nvSpPr>
        <p:spPr>
          <a:xfrm>
            <a:off x="6667499" y="2515552"/>
            <a:ext cx="1920241" cy="236220"/>
          </a:xfrm>
          <a:prstGeom prst="roundRect">
            <a:avLst>
              <a:gd name="adj" fmla="val 12466"/>
            </a:avLst>
          </a:prstGeom>
          <a:solidFill>
            <a:srgbClr val="FAFCFD"/>
          </a:solidFill>
          <a:ln w="3926">
            <a:solidFill>
              <a:srgbClr val="E2E5E8"/>
            </a:solidFill>
            <a:prstDash val="solid"/>
          </a:ln>
        </p:spPr>
        <p:txBody>
          <a:bodyPr wrap="square" lIns="49079" tIns="29448" rIns="49079" bIns="29448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AntiGravity</a:t>
            </a:r>
            <a:endParaRPr lang="en-US" sz="464" dirty="0"/>
          </a:p>
          <a:p>
            <a:pPr algn="l"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.agents/ + skills/</a:t>
            </a:r>
            <a:endParaRPr lang="en-US" sz="464" dirty="0"/>
          </a:p>
        </p:txBody>
      </p:sp>
      <p:sp>
        <p:nvSpPr>
          <p:cNvPr id="48" name="Shape 109"/>
          <p:cNvSpPr/>
          <p:nvPr/>
        </p:nvSpPr>
        <p:spPr>
          <a:xfrm>
            <a:off x="4629150" y="2927032"/>
            <a:ext cx="4057650" cy="817245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/>
        </p:spPr>
      </p:sp>
      <p:pic>
        <p:nvPicPr>
          <p:cNvPr id="49" name="Picture 109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29150" y="2927032"/>
            <a:ext cx="4057650" cy="817245"/>
          </a:xfrm>
          <a:prstGeom prst="rect">
            <a:avLst/>
          </a:prstGeom>
        </p:spPr>
      </p:pic>
      <p:sp>
        <p:nvSpPr>
          <p:cNvPr id="50" name="TextBox 111"/>
          <p:cNvSpPr/>
          <p:nvPr/>
        </p:nvSpPr>
        <p:spPr>
          <a:xfrm>
            <a:off x="4728210" y="3033712"/>
            <a:ext cx="38595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5"/>
              </a:lnSpc>
              <a:buNone/>
            </a:pPr>
            <a:r>
              <a:rPr lang="en-US" sz="773" b="1" spc="-8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Injector Commands</a:t>
            </a:r>
            <a:endParaRPr lang="en-US" sz="773" dirty="0"/>
          </a:p>
        </p:txBody>
      </p:sp>
      <p:sp>
        <p:nvSpPr>
          <p:cNvPr id="51" name="TextBox 113"/>
          <p:cNvSpPr/>
          <p:nvPr/>
        </p:nvSpPr>
        <p:spPr>
          <a:xfrm>
            <a:off x="4728210" y="3205162"/>
            <a:ext cx="3859531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Two entry points for agent installation, plus diff-based safe updates.</a:t>
            </a:r>
            <a:endParaRPr lang="en-US" sz="541" dirty="0"/>
          </a:p>
        </p:txBody>
      </p:sp>
      <p:sp>
        <p:nvSpPr>
          <p:cNvPr id="52" name="TextBox 120"/>
          <p:cNvSpPr/>
          <p:nvPr/>
        </p:nvSpPr>
        <p:spPr>
          <a:xfrm>
            <a:off x="5005685" y="3353752"/>
            <a:ext cx="159127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copies all core components + MCP config, shows IDE picker</a:t>
            </a:r>
            <a:endParaRPr lang="en-US" sz="464" dirty="0"/>
          </a:p>
        </p:txBody>
      </p:sp>
      <p:sp>
        <p:nvSpPr>
          <p:cNvPr id="53" name="Shape 118"/>
          <p:cNvSpPr/>
          <p:nvPr/>
        </p:nvSpPr>
        <p:spPr>
          <a:xfrm>
            <a:off x="4728210" y="3386137"/>
            <a:ext cx="28575" cy="28575"/>
          </a:xfrm>
          <a:prstGeom prst="ellipse">
            <a:avLst/>
          </a:prstGeom>
          <a:solidFill>
            <a:srgbClr val="1779E1"/>
          </a:solidFill>
          <a:ln/>
        </p:spPr>
      </p:sp>
      <p:sp>
        <p:nvSpPr>
          <p:cNvPr id="54" name="TextBox 119"/>
          <p:cNvSpPr/>
          <p:nvPr/>
        </p:nvSpPr>
        <p:spPr>
          <a:xfrm>
            <a:off x="4785360" y="3353752"/>
            <a:ext cx="22032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injectAll</a:t>
            </a:r>
            <a:endParaRPr lang="en-US" sz="464" dirty="0"/>
          </a:p>
        </p:txBody>
      </p:sp>
      <p:sp>
        <p:nvSpPr>
          <p:cNvPr id="55" name="TextBox 125"/>
          <p:cNvSpPr/>
          <p:nvPr/>
        </p:nvSpPr>
        <p:spPr>
          <a:xfrm>
            <a:off x="5170408" y="3458527"/>
            <a:ext cx="144470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component-level selection with QuickPick checkboxes</a:t>
            </a:r>
            <a:endParaRPr lang="en-US" sz="464" dirty="0"/>
          </a:p>
        </p:txBody>
      </p:sp>
      <p:sp>
        <p:nvSpPr>
          <p:cNvPr id="56" name="Shape 123"/>
          <p:cNvSpPr/>
          <p:nvPr/>
        </p:nvSpPr>
        <p:spPr>
          <a:xfrm>
            <a:off x="4728210" y="3490912"/>
            <a:ext cx="28575" cy="28575"/>
          </a:xfrm>
          <a:prstGeom prst="ellipse">
            <a:avLst/>
          </a:prstGeom>
          <a:solidFill>
            <a:srgbClr val="1779E1"/>
          </a:solidFill>
          <a:ln/>
        </p:spPr>
      </p:sp>
      <p:sp>
        <p:nvSpPr>
          <p:cNvPr id="57" name="TextBox 124"/>
          <p:cNvSpPr/>
          <p:nvPr/>
        </p:nvSpPr>
        <p:spPr>
          <a:xfrm>
            <a:off x="4785360" y="3458527"/>
            <a:ext cx="38504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injectSelective</a:t>
            </a:r>
            <a:endParaRPr lang="en-US" sz="464" dirty="0"/>
          </a:p>
        </p:txBody>
      </p:sp>
      <p:sp>
        <p:nvSpPr>
          <p:cNvPr id="58" name="TextBox 130"/>
          <p:cNvSpPr/>
          <p:nvPr/>
        </p:nvSpPr>
        <p:spPr>
          <a:xfrm>
            <a:off x="5089921" y="3563302"/>
            <a:ext cx="184445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diff-based: overwrite / skip modified / backup-then-update (3 modes)</a:t>
            </a:r>
            <a:endParaRPr lang="en-US" sz="464" dirty="0"/>
          </a:p>
        </p:txBody>
      </p:sp>
      <p:sp>
        <p:nvSpPr>
          <p:cNvPr id="59" name="Shape 128"/>
          <p:cNvSpPr/>
          <p:nvPr/>
        </p:nvSpPr>
        <p:spPr>
          <a:xfrm>
            <a:off x="4728210" y="3595687"/>
            <a:ext cx="28575" cy="28575"/>
          </a:xfrm>
          <a:prstGeom prst="ellipse">
            <a:avLst/>
          </a:prstGeom>
          <a:solidFill>
            <a:srgbClr val="1779E1"/>
          </a:solidFill>
          <a:ln/>
        </p:spPr>
      </p:sp>
      <p:sp>
        <p:nvSpPr>
          <p:cNvPr id="60" name="TextBox 129"/>
          <p:cNvSpPr/>
          <p:nvPr/>
        </p:nvSpPr>
        <p:spPr>
          <a:xfrm>
            <a:off x="4785360" y="3563302"/>
            <a:ext cx="30456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safeUpdate</a:t>
            </a:r>
            <a:endParaRPr lang="en-US" sz="464" dirty="0"/>
          </a:p>
        </p:txBody>
      </p:sp>
      <p:sp>
        <p:nvSpPr>
          <p:cNvPr id="61" name="TextBox 136"/>
          <p:cNvSpPr/>
          <p:nvPr/>
        </p:nvSpPr>
        <p:spPr>
          <a:xfrm>
            <a:off x="4629150" y="3820477"/>
            <a:ext cx="525542" cy="90487"/>
          </a:xfrm>
          <a:prstGeom prst="roundRect">
            <a:avLst>
              <a:gd name="adj" fmla="val 32543"/>
            </a:avLst>
          </a:prstGeom>
          <a:solidFill>
            <a:srgbClr val="008B1D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 Agent prompts</a:t>
            </a:r>
            <a:endParaRPr lang="en-US" sz="425" dirty="0"/>
          </a:p>
        </p:txBody>
      </p:sp>
      <p:sp>
        <p:nvSpPr>
          <p:cNvPr id="62" name="TextBox 138"/>
          <p:cNvSpPr/>
          <p:nvPr/>
        </p:nvSpPr>
        <p:spPr>
          <a:xfrm>
            <a:off x="5173742" y="3820477"/>
            <a:ext cx="520780" cy="90487"/>
          </a:xfrm>
          <a:prstGeom prst="roundRect">
            <a:avLst>
              <a:gd name="adj" fmla="val 32543"/>
            </a:avLst>
          </a:prstGeom>
          <a:solidFill>
            <a:srgbClr val="008B1D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35 Steering rules</a:t>
            </a:r>
            <a:endParaRPr lang="en-US" sz="425" dirty="0"/>
          </a:p>
        </p:txBody>
      </p:sp>
      <p:sp>
        <p:nvSpPr>
          <p:cNvPr id="63" name="TextBox 140"/>
          <p:cNvSpPr/>
          <p:nvPr/>
        </p:nvSpPr>
        <p:spPr>
          <a:xfrm>
            <a:off x="5713571" y="3820477"/>
            <a:ext cx="423565" cy="90487"/>
          </a:xfrm>
          <a:prstGeom prst="roundRect">
            <a:avLst>
              <a:gd name="adj" fmla="val 32543"/>
            </a:avLst>
          </a:prstGeom>
          <a:solidFill>
            <a:srgbClr val="008B1D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17 Hook files</a:t>
            </a:r>
            <a:endParaRPr lang="en-US" sz="425" dirty="0"/>
          </a:p>
        </p:txBody>
      </p:sp>
      <p:sp>
        <p:nvSpPr>
          <p:cNvPr id="64" name="TextBox 142"/>
          <p:cNvSpPr/>
          <p:nvPr/>
        </p:nvSpPr>
        <p:spPr>
          <a:xfrm>
            <a:off x="6156186" y="3820477"/>
            <a:ext cx="395347" cy="90487"/>
          </a:xfrm>
          <a:prstGeom prst="roundRect">
            <a:avLst>
              <a:gd name="adj" fmla="val 32543"/>
            </a:avLst>
          </a:prstGeom>
          <a:solidFill>
            <a:srgbClr val="008B1D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MCP config</a:t>
            </a:r>
            <a:endParaRPr lang="en-US" sz="425" dirty="0"/>
          </a:p>
        </p:txBody>
      </p:sp>
      <p:sp>
        <p:nvSpPr>
          <p:cNvPr id="65" name="Shape 147"/>
          <p:cNvSpPr/>
          <p:nvPr/>
        </p:nvSpPr>
        <p:spPr>
          <a:xfrm>
            <a:off x="457200" y="4730115"/>
            <a:ext cx="8229600" cy="184785"/>
          </a:xfrm>
          <a:prstGeom prst="rect">
            <a:avLst/>
          </a:prstGeom>
          <a:noFill/>
          <a:ln/>
        </p:spPr>
      </p:sp>
      <p:pic>
        <p:nvPicPr>
          <p:cNvPr id="66" name="Picture 147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" y="4730115"/>
            <a:ext cx="8229600" cy="184785"/>
          </a:xfrm>
          <a:prstGeom prst="rect">
            <a:avLst/>
          </a:prstGeom>
        </p:spPr>
      </p:pic>
      <p:sp>
        <p:nvSpPr>
          <p:cNvPr id="67" name="TextBox 149"/>
          <p:cNvSpPr/>
          <p:nvPr/>
        </p:nvSpPr>
        <p:spPr>
          <a:xfrm>
            <a:off x="457200" y="4848225"/>
            <a:ext cx="80170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41"/>
              </a:lnSpc>
              <a:buNone/>
            </a:pPr>
            <a:r>
              <a:rPr lang="en-US" sz="541" dirty="0">
                <a:solidFill>
                  <a:srgbClr val="9A9FA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SDLC Agents For Enterprise</a:t>
            </a:r>
            <a:endParaRPr lang="en-US" sz="541" dirty="0"/>
          </a:p>
        </p:txBody>
      </p:sp>
      <p:sp>
        <p:nvSpPr>
          <p:cNvPr id="68" name="TextBox 151"/>
          <p:cNvSpPr/>
          <p:nvPr/>
        </p:nvSpPr>
        <p:spPr>
          <a:xfrm>
            <a:off x="7772042" y="4850606"/>
            <a:ext cx="914757" cy="61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02"/>
              </a:lnSpc>
              <a:buNone/>
            </a:pPr>
            <a:r>
              <a:rPr lang="en-US" sz="502" spc="35" kern="0" dirty="0">
                <a:solidFill>
                  <a:srgbClr val="1779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MULTI-IDE PLATFORM SWAP</a:t>
            </a:r>
            <a:endParaRPr lang="en-US" sz="50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D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D"/>
          </a:solidFill>
          <a:ln/>
        </p:spPr>
      </p:sp>
      <p:sp>
        <p:nvSpPr>
          <p:cNvPr id="4" name="TextBox 4"/>
          <p:cNvSpPr/>
          <p:nvPr/>
        </p:nvSpPr>
        <p:spPr>
          <a:xfrm>
            <a:off x="457200" y="228600"/>
            <a:ext cx="822960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855" b="1" spc="-37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Extension on VS Code</a:t>
            </a:r>
            <a:endParaRPr lang="en-US" sz="1855" dirty="0"/>
          </a:p>
        </p:txBody>
      </p:sp>
      <p:sp>
        <p:nvSpPr>
          <p:cNvPr id="5" name="TextBox 6"/>
          <p:cNvSpPr/>
          <p:nvPr/>
        </p:nvSpPr>
        <p:spPr>
          <a:xfrm>
            <a:off x="457200" y="548640"/>
            <a:ext cx="37147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SDLC Agents For Enterprise on VS Code — activity bar, sidebar tree view, KB Dashboard webview.</a:t>
            </a:r>
            <a:endParaRPr lang="en-US" sz="850" dirty="0"/>
          </a:p>
        </p:txBody>
      </p:sp>
      <p:pic>
        <p:nvPicPr>
          <p:cNvPr id="6" name="Picture 10" descr="__type_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77265"/>
            <a:ext cx="8229541" cy="4949725"/>
          </a:xfrm>
          <a:prstGeom prst="rect">
            <a:avLst/>
          </a:prstGeom>
        </p:spPr>
      </p:pic>
      <p:sp>
        <p:nvSpPr>
          <p:cNvPr id="7" name="Shape 13"/>
          <p:cNvSpPr/>
          <p:nvPr/>
        </p:nvSpPr>
        <p:spPr>
          <a:xfrm>
            <a:off x="457200" y="4730115"/>
            <a:ext cx="8229600" cy="184785"/>
          </a:xfrm>
          <a:prstGeom prst="rect">
            <a:avLst/>
          </a:prstGeom>
          <a:noFill/>
          <a:ln/>
        </p:spPr>
      </p:sp>
      <p:pic>
        <p:nvPicPr>
          <p:cNvPr id="8" name="Picture 13" descr="__type_image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730115"/>
            <a:ext cx="8229600" cy="184785"/>
          </a:xfrm>
          <a:prstGeom prst="rect">
            <a:avLst/>
          </a:prstGeom>
        </p:spPr>
      </p:pic>
      <p:sp>
        <p:nvSpPr>
          <p:cNvPr id="9" name="TextBox 15"/>
          <p:cNvSpPr/>
          <p:nvPr/>
        </p:nvSpPr>
        <p:spPr>
          <a:xfrm>
            <a:off x="457200" y="4848225"/>
            <a:ext cx="80170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41"/>
              </a:lnSpc>
              <a:buNone/>
            </a:pPr>
            <a:r>
              <a:rPr lang="en-US" sz="541" dirty="0">
                <a:solidFill>
                  <a:srgbClr val="9A9FA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SDLC Agents For Enterprise</a:t>
            </a:r>
            <a:endParaRPr lang="en-US" sz="541" dirty="0"/>
          </a:p>
        </p:txBody>
      </p:sp>
      <p:sp>
        <p:nvSpPr>
          <p:cNvPr id="10" name="TextBox 17"/>
          <p:cNvSpPr/>
          <p:nvPr/>
        </p:nvSpPr>
        <p:spPr>
          <a:xfrm>
            <a:off x="7871341" y="4850606"/>
            <a:ext cx="815459" cy="61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02"/>
              </a:lnSpc>
              <a:buNone/>
            </a:pPr>
            <a:r>
              <a:rPr lang="en-US" sz="502" spc="35" kern="0" dirty="0">
                <a:solidFill>
                  <a:srgbClr val="1779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EXTENSION SCREENSHOT</a:t>
            </a:r>
            <a:endParaRPr lang="en-US" sz="50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D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D"/>
          </a:solidFill>
          <a:ln/>
        </p:spPr>
      </p:sp>
      <p:sp>
        <p:nvSpPr>
          <p:cNvPr id="4" name="TextBox 6"/>
          <p:cNvSpPr/>
          <p:nvPr/>
        </p:nvSpPr>
        <p:spPr>
          <a:xfrm>
            <a:off x="457200" y="342900"/>
            <a:ext cx="528578" cy="93345"/>
          </a:xfrm>
          <a:prstGeom prst="roundRect">
            <a:avLst>
              <a:gd name="adj" fmla="val 26289"/>
            </a:avLst>
          </a:prstGeom>
          <a:solidFill>
            <a:srgbClr val="1779E1"/>
          </a:solidFill>
          <a:ln w="3926">
            <a:solidFill>
              <a:srgbClr val="1779E1"/>
            </a:solidFill>
            <a:prstDash val="solid"/>
          </a:ln>
        </p:spPr>
        <p:txBody>
          <a:bodyPr wrap="square" lIns="49079" tIns="14724" rIns="49079" bIns="14724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6.903 KB Entries</a:t>
            </a:r>
            <a:endParaRPr lang="en-US" sz="464" dirty="0"/>
          </a:p>
        </p:txBody>
      </p:sp>
      <p:sp>
        <p:nvSpPr>
          <p:cNvPr id="5" name="TextBox 8"/>
          <p:cNvSpPr/>
          <p:nvPr/>
        </p:nvSpPr>
        <p:spPr>
          <a:xfrm>
            <a:off x="1061978" y="342900"/>
            <a:ext cx="612041" cy="93345"/>
          </a:xfrm>
          <a:prstGeom prst="roundRect">
            <a:avLst>
              <a:gd name="adj" fmla="val 26289"/>
            </a:avLst>
          </a:prstGeom>
          <a:solidFill>
            <a:srgbClr val="008B1D"/>
          </a:solidFill>
          <a:ln w="3926">
            <a:solidFill>
              <a:srgbClr val="008B1D"/>
            </a:solidFill>
            <a:prstDash val="solid"/>
          </a:ln>
        </p:spPr>
        <p:txBody>
          <a:bodyPr wrap="square" lIns="49079" tIns="14724" rIns="49079" bIns="14724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6.540 Graph Nodes</a:t>
            </a:r>
            <a:endParaRPr lang="en-US" sz="464" dirty="0"/>
          </a:p>
        </p:txBody>
      </p:sp>
      <p:sp>
        <p:nvSpPr>
          <p:cNvPr id="6" name="TextBox 10"/>
          <p:cNvSpPr/>
          <p:nvPr/>
        </p:nvSpPr>
        <p:spPr>
          <a:xfrm>
            <a:off x="1750219" y="342900"/>
            <a:ext cx="638830" cy="93345"/>
          </a:xfrm>
          <a:prstGeom prst="roundRect">
            <a:avLst>
              <a:gd name="adj" fmla="val 26289"/>
            </a:avLst>
          </a:prstGeom>
          <a:solidFill>
            <a:srgbClr val="C08200"/>
          </a:solidFill>
          <a:ln w="3926">
            <a:solidFill>
              <a:srgbClr val="C08200"/>
            </a:solidFill>
            <a:prstDash val="solid"/>
          </a:ln>
        </p:spPr>
        <p:txBody>
          <a:bodyPr wrap="square" lIns="49079" tIns="14724" rIns="49079" bIns="14724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9.894 Code Symbols</a:t>
            </a:r>
            <a:endParaRPr lang="en-US" sz="464" dirty="0"/>
          </a:p>
        </p:txBody>
      </p:sp>
      <p:sp>
        <p:nvSpPr>
          <p:cNvPr id="7" name="TextBox 13"/>
          <p:cNvSpPr/>
          <p:nvPr/>
        </p:nvSpPr>
        <p:spPr>
          <a:xfrm>
            <a:off x="457200" y="474345"/>
            <a:ext cx="822960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855" b="1" spc="-37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Knowledge Base &amp; 3D Graph</a:t>
            </a:r>
            <a:endParaRPr lang="en-US" sz="1855" dirty="0"/>
          </a:p>
        </p:txBody>
      </p:sp>
      <p:sp>
        <p:nvSpPr>
          <p:cNvPr id="8" name="TextBox 15"/>
          <p:cNvSpPr/>
          <p:nvPr/>
        </p:nvSpPr>
        <p:spPr>
          <a:xfrm>
            <a:off x="457200" y="813435"/>
            <a:ext cx="371475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KB stores structured 3-tier entries with quality scoring. The 3D graph uses Fibonacci sphere + Z-offset layers to distribute nodes naturally on a sphere surface.</a:t>
            </a:r>
            <a:endParaRPr lang="en-US" sz="850" dirty="0"/>
          </a:p>
        </p:txBody>
      </p:sp>
      <p:sp>
        <p:nvSpPr>
          <p:cNvPr id="9" name="Shape 19"/>
          <p:cNvSpPr/>
          <p:nvPr/>
        </p:nvSpPr>
        <p:spPr>
          <a:xfrm>
            <a:off x="457200" y="1513522"/>
            <a:ext cx="4019550" cy="3287077"/>
          </a:xfrm>
          <a:prstGeom prst="roundRect">
            <a:avLst>
              <a:gd name="adj" fmla="val 1792"/>
            </a:avLst>
          </a:prstGeom>
          <a:solidFill>
            <a:srgbClr val="FFFFFF"/>
          </a:solidFill>
          <a:ln/>
        </p:spPr>
      </p:sp>
      <p:pic>
        <p:nvPicPr>
          <p:cNvPr id="10" name="Picture 19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513522"/>
            <a:ext cx="4019550" cy="3287077"/>
          </a:xfrm>
          <a:prstGeom prst="rect">
            <a:avLst/>
          </a:prstGeom>
        </p:spPr>
      </p:pic>
      <p:sp>
        <p:nvSpPr>
          <p:cNvPr id="11" name="TextBox 21"/>
          <p:cNvSpPr/>
          <p:nvPr/>
        </p:nvSpPr>
        <p:spPr>
          <a:xfrm>
            <a:off x="613410" y="1677352"/>
            <a:ext cx="3707130" cy="136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b="1" spc="-9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Knowledge Base</a:t>
            </a:r>
            <a:endParaRPr lang="en-US" sz="850" dirty="0"/>
          </a:p>
        </p:txBody>
      </p:sp>
      <p:sp>
        <p:nvSpPr>
          <p:cNvPr id="12" name="TextBox 23"/>
          <p:cNvSpPr/>
          <p:nvPr/>
        </p:nvSpPr>
        <p:spPr>
          <a:xfrm>
            <a:off x="613410" y="1861185"/>
            <a:ext cx="370713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89"/>
              </a:lnSpc>
              <a:buNone/>
            </a:pPr>
            <a:r>
              <a:rPr lang="en-US" sz="618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Entries classified into 3 tiers: </a:t>
            </a:r>
            <a:r>
              <a:rPr lang="en-US" sz="618" b="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USER</a:t>
            </a:r>
            <a:r>
              <a:rPr lang="en-US" sz="618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(personal), </a:t>
            </a:r>
            <a:r>
              <a:rPr lang="en-US" sz="618" b="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PROJECT</a:t>
            </a:r>
            <a:r>
              <a:rPr lang="en-US" sz="618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(project-level), </a:t>
            </a:r>
            <a:r>
              <a:rPr lang="en-US" sz="618" b="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SHARED</a:t>
            </a:r>
            <a:r>
              <a:rPr lang="en-US" sz="618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(organization-wide). Each entry: markdown content, tags, cross-links (entry link + KB link), auto quality score.</a:t>
            </a:r>
            <a:endParaRPr lang="en-US" sz="618" dirty="0"/>
          </a:p>
        </p:txBody>
      </p:sp>
      <p:sp>
        <p:nvSpPr>
          <p:cNvPr id="13" name="Shape 27"/>
          <p:cNvSpPr/>
          <p:nvPr/>
        </p:nvSpPr>
        <p:spPr>
          <a:xfrm>
            <a:off x="613410" y="2152650"/>
            <a:ext cx="1839277" cy="340995"/>
          </a:xfrm>
          <a:prstGeom prst="roundRect">
            <a:avLst>
              <a:gd name="adj" fmla="val 8636"/>
            </a:avLst>
          </a:prstGeom>
          <a:solidFill>
            <a:srgbClr val="FAFCFD"/>
          </a:solidFill>
          <a:ln w="3926">
            <a:solidFill>
              <a:srgbClr val="E2E5E8"/>
            </a:solidFill>
            <a:prstDash val="solid"/>
          </a:ln>
        </p:spPr>
      </p:sp>
      <p:sp>
        <p:nvSpPr>
          <p:cNvPr id="14" name="TextBox 29"/>
          <p:cNvSpPr/>
          <p:nvPr/>
        </p:nvSpPr>
        <p:spPr>
          <a:xfrm>
            <a:off x="674370" y="2194560"/>
            <a:ext cx="1717357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mem_ingest / mem_search</a:t>
            </a:r>
            <a:endParaRPr lang="en-US" sz="696" dirty="0"/>
          </a:p>
        </p:txBody>
      </p:sp>
      <p:sp>
        <p:nvSpPr>
          <p:cNvPr id="15" name="TextBox 31"/>
          <p:cNvSpPr/>
          <p:nvPr/>
        </p:nvSpPr>
        <p:spPr>
          <a:xfrm>
            <a:off x="674370" y="2323147"/>
            <a:ext cx="1717357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Hybrid search: BM25 + vector + graph</a:t>
            </a:r>
            <a:endParaRPr lang="en-US" sz="696" dirty="0"/>
          </a:p>
        </p:txBody>
      </p:sp>
      <p:sp>
        <p:nvSpPr>
          <p:cNvPr id="16" name="Shape 34"/>
          <p:cNvSpPr/>
          <p:nvPr/>
        </p:nvSpPr>
        <p:spPr>
          <a:xfrm>
            <a:off x="2481262" y="2152650"/>
            <a:ext cx="1839278" cy="340995"/>
          </a:xfrm>
          <a:prstGeom prst="roundRect">
            <a:avLst>
              <a:gd name="adj" fmla="val 8636"/>
            </a:avLst>
          </a:prstGeom>
          <a:solidFill>
            <a:srgbClr val="FAFCFD"/>
          </a:solidFill>
          <a:ln w="3926">
            <a:solidFill>
              <a:srgbClr val="E2E5E8"/>
            </a:solidFill>
            <a:prstDash val="solid"/>
          </a:ln>
        </p:spPr>
      </p:sp>
      <p:sp>
        <p:nvSpPr>
          <p:cNvPr id="17" name="TextBox 36"/>
          <p:cNvSpPr/>
          <p:nvPr/>
        </p:nvSpPr>
        <p:spPr>
          <a:xfrm>
            <a:off x="2542222" y="2194560"/>
            <a:ext cx="1717357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mem_promote</a:t>
            </a:r>
            <a:endParaRPr lang="en-US" sz="696" dirty="0"/>
          </a:p>
        </p:txBody>
      </p:sp>
      <p:sp>
        <p:nvSpPr>
          <p:cNvPr id="18" name="TextBox 38"/>
          <p:cNvSpPr/>
          <p:nvPr/>
        </p:nvSpPr>
        <p:spPr>
          <a:xfrm>
            <a:off x="2542222" y="2323147"/>
            <a:ext cx="1717357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USER → PROJECT → SHARED</a:t>
            </a:r>
            <a:endParaRPr lang="en-US" sz="696" dirty="0"/>
          </a:p>
        </p:txBody>
      </p:sp>
      <p:sp>
        <p:nvSpPr>
          <p:cNvPr id="19" name="Shape 41"/>
          <p:cNvSpPr/>
          <p:nvPr/>
        </p:nvSpPr>
        <p:spPr>
          <a:xfrm>
            <a:off x="613410" y="2522220"/>
            <a:ext cx="1839277" cy="340995"/>
          </a:xfrm>
          <a:prstGeom prst="roundRect">
            <a:avLst>
              <a:gd name="adj" fmla="val 8636"/>
            </a:avLst>
          </a:prstGeom>
          <a:solidFill>
            <a:srgbClr val="FAFCFD"/>
          </a:solidFill>
          <a:ln w="3926">
            <a:solidFill>
              <a:srgbClr val="E2E5E8"/>
            </a:solidFill>
            <a:prstDash val="solid"/>
          </a:ln>
        </p:spPr>
      </p:sp>
      <p:sp>
        <p:nvSpPr>
          <p:cNvPr id="20" name="TextBox 43"/>
          <p:cNvSpPr/>
          <p:nvPr/>
        </p:nvSpPr>
        <p:spPr>
          <a:xfrm>
            <a:off x="674370" y="2564130"/>
            <a:ext cx="1717357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mem_pin / mem_tag</a:t>
            </a:r>
            <a:endParaRPr lang="en-US" sz="696" dirty="0"/>
          </a:p>
        </p:txBody>
      </p:sp>
      <p:sp>
        <p:nvSpPr>
          <p:cNvPr id="21" name="TextBox 45"/>
          <p:cNvSpPr/>
          <p:nvPr/>
        </p:nvSpPr>
        <p:spPr>
          <a:xfrm>
            <a:off x="674370" y="2692717"/>
            <a:ext cx="1717357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Pin auto-recall + tag system</a:t>
            </a:r>
            <a:endParaRPr lang="en-US" sz="696" dirty="0"/>
          </a:p>
        </p:txBody>
      </p:sp>
      <p:sp>
        <p:nvSpPr>
          <p:cNvPr id="22" name="Shape 48"/>
          <p:cNvSpPr/>
          <p:nvPr/>
        </p:nvSpPr>
        <p:spPr>
          <a:xfrm>
            <a:off x="2481262" y="2522220"/>
            <a:ext cx="1839278" cy="340995"/>
          </a:xfrm>
          <a:prstGeom prst="roundRect">
            <a:avLst>
              <a:gd name="adj" fmla="val 8636"/>
            </a:avLst>
          </a:prstGeom>
          <a:solidFill>
            <a:srgbClr val="FAFCFD"/>
          </a:solidFill>
          <a:ln w="3926">
            <a:solidFill>
              <a:srgbClr val="E2E5E8"/>
            </a:solidFill>
            <a:prstDash val="solid"/>
          </a:ln>
        </p:spPr>
      </p:sp>
      <p:sp>
        <p:nvSpPr>
          <p:cNvPr id="23" name="TextBox 50"/>
          <p:cNvSpPr/>
          <p:nvPr/>
        </p:nvSpPr>
        <p:spPr>
          <a:xfrm>
            <a:off x="2542222" y="2564130"/>
            <a:ext cx="1717357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mem_ingest_file</a:t>
            </a:r>
            <a:endParaRPr lang="en-US" sz="696" dirty="0"/>
          </a:p>
        </p:txBody>
      </p:sp>
      <p:sp>
        <p:nvSpPr>
          <p:cNvPr id="24" name="TextBox 52"/>
          <p:cNvSpPr/>
          <p:nvPr/>
        </p:nvSpPr>
        <p:spPr>
          <a:xfrm>
            <a:off x="2542222" y="2692717"/>
            <a:ext cx="1717357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Zero-context file ingestion</a:t>
            </a:r>
            <a:endParaRPr lang="en-US" sz="696" dirty="0"/>
          </a:p>
        </p:txBody>
      </p:sp>
      <p:pic>
        <p:nvPicPr>
          <p:cNvPr id="25" name="Picture 56" descr="__type_im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10" y="2910840"/>
            <a:ext cx="3707130" cy="1238250"/>
          </a:xfrm>
          <a:prstGeom prst="rect">
            <a:avLst/>
          </a:prstGeom>
        </p:spPr>
      </p:pic>
      <p:sp>
        <p:nvSpPr>
          <p:cNvPr id="26" name="Shape 59"/>
          <p:cNvSpPr/>
          <p:nvPr/>
        </p:nvSpPr>
        <p:spPr>
          <a:xfrm>
            <a:off x="4667250" y="1513522"/>
            <a:ext cx="4019550" cy="3287077"/>
          </a:xfrm>
          <a:prstGeom prst="roundRect">
            <a:avLst>
              <a:gd name="adj" fmla="val 1792"/>
            </a:avLst>
          </a:prstGeom>
          <a:solidFill>
            <a:srgbClr val="FFFFFF"/>
          </a:solidFill>
          <a:ln/>
        </p:spPr>
      </p:sp>
      <p:pic>
        <p:nvPicPr>
          <p:cNvPr id="27" name="Picture 59" descr="__type_image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7250" y="1513522"/>
            <a:ext cx="4019550" cy="3287077"/>
          </a:xfrm>
          <a:prstGeom prst="rect">
            <a:avLst/>
          </a:prstGeom>
        </p:spPr>
      </p:pic>
      <p:sp>
        <p:nvSpPr>
          <p:cNvPr id="28" name="TextBox 61"/>
          <p:cNvSpPr/>
          <p:nvPr/>
        </p:nvSpPr>
        <p:spPr>
          <a:xfrm>
            <a:off x="4823460" y="1677352"/>
            <a:ext cx="3707130" cy="136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b="1" spc="-9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Knowledge Graph 3D Engine</a:t>
            </a:r>
            <a:endParaRPr lang="en-US" sz="850" dirty="0"/>
          </a:p>
        </p:txBody>
      </p:sp>
      <p:sp>
        <p:nvSpPr>
          <p:cNvPr id="29" name="TextBox 63"/>
          <p:cNvSpPr/>
          <p:nvPr/>
        </p:nvSpPr>
        <p:spPr>
          <a:xfrm>
            <a:off x="4823460" y="1861185"/>
            <a:ext cx="370713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89"/>
              </a:lnSpc>
              <a:buNone/>
            </a:pPr>
            <a:r>
              <a:rPr lang="en-US" sz="618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Three.js + Fibonacci sphere distribution: nodes positioned on a sphere of radius 1200, local spread 180, Z-offset by type layer. 20 node types, auto-edge seeding TYPE_MATCH (0.6) + TIER_MATCH (0.4).</a:t>
            </a:r>
            <a:endParaRPr lang="en-US" sz="618" dirty="0"/>
          </a:p>
        </p:txBody>
      </p:sp>
      <p:sp>
        <p:nvSpPr>
          <p:cNvPr id="30" name="TextBox 65"/>
          <p:cNvSpPr/>
          <p:nvPr/>
        </p:nvSpPr>
        <p:spPr>
          <a:xfrm>
            <a:off x="4823460" y="2133600"/>
            <a:ext cx="3707130" cy="385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Z-offset layers:</a:t>
            </a: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REQUIREMENT 0, CONTEXT 50, DOCUMENT 100, ARCHITECTURE 150, DECISION 200, PROCEDURE 300, CLASS 500, FUNCTION 600, CONSTANT 400, ERROR_PATTERN -150, LESSON_LEARNED -100</a:t>
            </a:r>
            <a:endParaRPr lang="en-US" sz="696" dirty="0"/>
          </a:p>
        </p:txBody>
      </p:sp>
      <p:sp>
        <p:nvSpPr>
          <p:cNvPr id="31" name="TextBox 69"/>
          <p:cNvSpPr/>
          <p:nvPr/>
        </p:nvSpPr>
        <p:spPr>
          <a:xfrm>
            <a:off x="4823460" y="2547937"/>
            <a:ext cx="478333" cy="90487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LOD Clustering</a:t>
            </a:r>
            <a:endParaRPr lang="en-US" sz="425" dirty="0"/>
          </a:p>
        </p:txBody>
      </p:sp>
      <p:sp>
        <p:nvSpPr>
          <p:cNvPr id="32" name="TextBox 71"/>
          <p:cNvSpPr/>
          <p:nvPr/>
        </p:nvSpPr>
        <p:spPr>
          <a:xfrm>
            <a:off x="5320843" y="2547937"/>
            <a:ext cx="470535" cy="90487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Spatial queries</a:t>
            </a:r>
            <a:endParaRPr lang="en-US" sz="425" dirty="0"/>
          </a:p>
        </p:txBody>
      </p:sp>
      <p:sp>
        <p:nvSpPr>
          <p:cNvPr id="33" name="TextBox 73"/>
          <p:cNvSpPr/>
          <p:nvPr/>
        </p:nvSpPr>
        <p:spPr>
          <a:xfrm>
            <a:off x="5810428" y="2547937"/>
            <a:ext cx="653951" cy="90487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 TYPE/TIER edges</a:t>
            </a:r>
            <a:endParaRPr lang="en-US" sz="425" dirty="0"/>
          </a:p>
        </p:txBody>
      </p:sp>
      <p:sp>
        <p:nvSpPr>
          <p:cNvPr id="34" name="TextBox 75"/>
          <p:cNvSpPr/>
          <p:nvPr/>
        </p:nvSpPr>
        <p:spPr>
          <a:xfrm>
            <a:off x="6483429" y="2547937"/>
            <a:ext cx="574536" cy="90487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Minimap + Legend</a:t>
            </a:r>
            <a:endParaRPr lang="en-US" sz="425" dirty="0"/>
          </a:p>
        </p:txBody>
      </p:sp>
      <p:sp>
        <p:nvSpPr>
          <p:cNvPr id="35" name="TextBox 77"/>
          <p:cNvSpPr/>
          <p:nvPr/>
        </p:nvSpPr>
        <p:spPr>
          <a:xfrm>
            <a:off x="7077015" y="2547937"/>
            <a:ext cx="546318" cy="90487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Node detail panel</a:t>
            </a:r>
            <a:endParaRPr lang="en-US" sz="425" dirty="0"/>
          </a:p>
        </p:txBody>
      </p:sp>
      <p:pic>
        <p:nvPicPr>
          <p:cNvPr id="36" name="Picture 80" descr="__type_imag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3460" y="2686050"/>
            <a:ext cx="3707130" cy="1238250"/>
          </a:xfrm>
          <a:prstGeom prst="rect">
            <a:avLst/>
          </a:prstGeom>
        </p:spPr>
      </p:pic>
      <p:sp>
        <p:nvSpPr>
          <p:cNvPr id="37" name="Shape 84"/>
          <p:cNvSpPr/>
          <p:nvPr/>
        </p:nvSpPr>
        <p:spPr>
          <a:xfrm>
            <a:off x="457200" y="4730115"/>
            <a:ext cx="8229600" cy="184785"/>
          </a:xfrm>
          <a:prstGeom prst="rect">
            <a:avLst/>
          </a:prstGeom>
          <a:noFill/>
          <a:ln/>
        </p:spPr>
      </p:sp>
      <p:pic>
        <p:nvPicPr>
          <p:cNvPr id="38" name="Picture 84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" y="4730115"/>
            <a:ext cx="8229600" cy="184785"/>
          </a:xfrm>
          <a:prstGeom prst="rect">
            <a:avLst/>
          </a:prstGeom>
        </p:spPr>
      </p:pic>
      <p:sp>
        <p:nvSpPr>
          <p:cNvPr id="39" name="TextBox 86"/>
          <p:cNvSpPr/>
          <p:nvPr/>
        </p:nvSpPr>
        <p:spPr>
          <a:xfrm>
            <a:off x="457200" y="4848225"/>
            <a:ext cx="80170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41"/>
              </a:lnSpc>
              <a:buNone/>
            </a:pPr>
            <a:r>
              <a:rPr lang="en-US" sz="541" dirty="0">
                <a:solidFill>
                  <a:srgbClr val="9A9FA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SDLC Agents For Enterprise</a:t>
            </a:r>
            <a:endParaRPr lang="en-US" sz="541" dirty="0"/>
          </a:p>
        </p:txBody>
      </p:sp>
      <p:sp>
        <p:nvSpPr>
          <p:cNvPr id="40" name="TextBox 88"/>
          <p:cNvSpPr/>
          <p:nvPr/>
        </p:nvSpPr>
        <p:spPr>
          <a:xfrm>
            <a:off x="8284904" y="4850606"/>
            <a:ext cx="401895" cy="61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02"/>
              </a:lnSpc>
              <a:buNone/>
            </a:pPr>
            <a:r>
              <a:rPr lang="en-US" sz="502" spc="35" kern="0" dirty="0">
                <a:solidFill>
                  <a:srgbClr val="1779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KB &amp; GRAPH</a:t>
            </a:r>
            <a:endParaRPr lang="en-US" sz="50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D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D"/>
          </a:solidFill>
          <a:ln/>
        </p:spPr>
      </p:sp>
      <p:sp>
        <p:nvSpPr>
          <p:cNvPr id="4" name="TextBox 6"/>
          <p:cNvSpPr/>
          <p:nvPr/>
        </p:nvSpPr>
        <p:spPr>
          <a:xfrm>
            <a:off x="457200" y="342900"/>
            <a:ext cx="629602" cy="93345"/>
          </a:xfrm>
          <a:prstGeom prst="roundRect">
            <a:avLst>
              <a:gd name="adj" fmla="val 26289"/>
            </a:avLst>
          </a:prstGeom>
          <a:solidFill>
            <a:srgbClr val="1779E1"/>
          </a:solidFill>
          <a:ln w="3926">
            <a:solidFill>
              <a:srgbClr val="1779E1"/>
            </a:solidFill>
            <a:prstDash val="solid"/>
          </a:ln>
        </p:spPr>
        <p:txBody>
          <a:bodyPr wrap="square" lIns="49079" tIns="14724" rIns="49079" bIns="14724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 Scoring Strategies</a:t>
            </a:r>
            <a:endParaRPr lang="en-US" sz="464" dirty="0"/>
          </a:p>
        </p:txBody>
      </p:sp>
      <p:sp>
        <p:nvSpPr>
          <p:cNvPr id="5" name="TextBox 8"/>
          <p:cNvSpPr/>
          <p:nvPr/>
        </p:nvSpPr>
        <p:spPr>
          <a:xfrm>
            <a:off x="1143952" y="342900"/>
            <a:ext cx="534234" cy="93345"/>
          </a:xfrm>
          <a:prstGeom prst="roundRect">
            <a:avLst>
              <a:gd name="adj" fmla="val 26289"/>
            </a:avLst>
          </a:prstGeom>
          <a:solidFill>
            <a:srgbClr val="008B1D"/>
          </a:solidFill>
          <a:ln w="3926">
            <a:solidFill>
              <a:srgbClr val="008B1D"/>
            </a:solidFill>
            <a:prstDash val="solid"/>
          </a:ln>
        </p:spPr>
        <p:txBody>
          <a:bodyPr wrap="square" lIns="49079" tIns="14724" rIns="49079" bIns="14724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24h Decay Cycle</a:t>
            </a:r>
            <a:endParaRPr lang="en-US" sz="464" dirty="0"/>
          </a:p>
        </p:txBody>
      </p:sp>
      <p:sp>
        <p:nvSpPr>
          <p:cNvPr id="6" name="TextBox 10"/>
          <p:cNvSpPr/>
          <p:nvPr/>
        </p:nvSpPr>
        <p:spPr>
          <a:xfrm>
            <a:off x="1735336" y="342900"/>
            <a:ext cx="567273" cy="93345"/>
          </a:xfrm>
          <a:prstGeom prst="roundRect">
            <a:avLst>
              <a:gd name="adj" fmla="val 26289"/>
            </a:avLst>
          </a:prstGeom>
          <a:solidFill>
            <a:srgbClr val="C08200"/>
          </a:solidFill>
          <a:ln w="3926">
            <a:solidFill>
              <a:srgbClr val="C08200"/>
            </a:solidFill>
            <a:prstDash val="solid"/>
          </a:ln>
        </p:spPr>
        <p:txBody>
          <a:bodyPr wrap="square" lIns="49079" tIns="14724" rIns="49079" bIns="14724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LLM Smart Ingest</a:t>
            </a:r>
            <a:endParaRPr lang="en-US" sz="464" dirty="0"/>
          </a:p>
        </p:txBody>
      </p:sp>
      <p:sp>
        <p:nvSpPr>
          <p:cNvPr id="7" name="TextBox 13"/>
          <p:cNvSpPr/>
          <p:nvPr/>
        </p:nvSpPr>
        <p:spPr>
          <a:xfrm>
            <a:off x="457200" y="474345"/>
            <a:ext cx="822960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855" b="1" spc="-37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KB Evolution &amp; Smart Ingest</a:t>
            </a:r>
            <a:endParaRPr lang="en-US" sz="1855" dirty="0"/>
          </a:p>
        </p:txBody>
      </p:sp>
      <p:sp>
        <p:nvSpPr>
          <p:cNvPr id="8" name="TextBox 15"/>
          <p:cNvSpPr/>
          <p:nvPr/>
        </p:nvSpPr>
        <p:spPr>
          <a:xfrm>
            <a:off x="457200" y="813435"/>
            <a:ext cx="419100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Knowledge Base evolution engine with composite scoring, temporal decay, stagnation detection, and LLM-powered smart ingest — ensuring KB entries stay relevant and high-quality over time.</a:t>
            </a:r>
            <a:endParaRPr lang="en-US" sz="850" dirty="0"/>
          </a:p>
        </p:txBody>
      </p:sp>
      <p:sp>
        <p:nvSpPr>
          <p:cNvPr id="9" name="Shape 21"/>
          <p:cNvSpPr/>
          <p:nvPr/>
        </p:nvSpPr>
        <p:spPr>
          <a:xfrm>
            <a:off x="457200" y="1475422"/>
            <a:ext cx="4057650" cy="2435542"/>
          </a:xfrm>
          <a:prstGeom prst="roundRect">
            <a:avLst>
              <a:gd name="adj" fmla="val 2418"/>
            </a:avLst>
          </a:prstGeom>
          <a:solidFill>
            <a:srgbClr val="FFFFFF"/>
          </a:solidFill>
          <a:ln/>
        </p:spPr>
      </p:sp>
      <p:pic>
        <p:nvPicPr>
          <p:cNvPr id="10" name="Picture 21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475422"/>
            <a:ext cx="4057650" cy="2435542"/>
          </a:xfrm>
          <a:prstGeom prst="rect">
            <a:avLst/>
          </a:prstGeom>
        </p:spPr>
      </p:pic>
      <p:sp>
        <p:nvSpPr>
          <p:cNvPr id="11" name="TextBox 23"/>
          <p:cNvSpPr/>
          <p:nvPr/>
        </p:nvSpPr>
        <p:spPr>
          <a:xfrm>
            <a:off x="556260" y="1582102"/>
            <a:ext cx="38595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5"/>
              </a:lnSpc>
              <a:buNone/>
            </a:pPr>
            <a:r>
              <a:rPr lang="en-US" sz="773" b="1" spc="-8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CompositeScorer</a:t>
            </a:r>
            <a:endParaRPr lang="en-US" sz="773" dirty="0"/>
          </a:p>
        </p:txBody>
      </p:sp>
      <p:sp>
        <p:nvSpPr>
          <p:cNvPr id="12" name="TextBox 25"/>
          <p:cNvSpPr/>
          <p:nvPr/>
        </p:nvSpPr>
        <p:spPr>
          <a:xfrm>
            <a:off x="556260" y="1753552"/>
            <a:ext cx="3859530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 strategies multiplied together for a composite quality score. Each strategy contributes a factor between 0 and 1.</a:t>
            </a:r>
            <a:endParaRPr lang="en-US" sz="541" dirty="0"/>
          </a:p>
        </p:txBody>
      </p:sp>
      <p:sp>
        <p:nvSpPr>
          <p:cNvPr id="13" name="TextBox 27"/>
          <p:cNvSpPr/>
          <p:nvPr/>
        </p:nvSpPr>
        <p:spPr>
          <a:xfrm>
            <a:off x="556260" y="1907857"/>
            <a:ext cx="3859530" cy="247650"/>
          </a:xfrm>
          <a:prstGeom prst="roundRect">
            <a:avLst>
              <a:gd name="adj" fmla="val 15854"/>
            </a:avLst>
          </a:prstGeom>
          <a:solidFill>
            <a:srgbClr val="FAFCFD"/>
          </a:solidFill>
          <a:ln w="3926">
            <a:solidFill>
              <a:srgbClr val="E2E5E8"/>
            </a:solidFill>
            <a:prstDash val="solid"/>
          </a:ln>
        </p:spPr>
        <p:txBody>
          <a:bodyPr wrap="square" lIns="88343" tIns="68711" rIns="88343" bIns="68711" rtlCol="0" anchor="t">
            <a:spAutoFit/>
          </a:bodyPr>
          <a:lstStyle/>
          <a:p>
            <a:pPr algn="ctr" indent="0" marL="0">
              <a:lnSpc>
                <a:spcPts val="804"/>
              </a:lnSpc>
              <a:buNone/>
            </a:pPr>
            <a:r>
              <a:rPr lang="en-US" sz="502" dirty="0">
                <a:solidFill>
                  <a:srgbClr val="0E121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score = fts_rank × temporal_weight × confidence × outcome_factor × predictive_boost × supersede_factor</a:t>
            </a:r>
            <a:endParaRPr lang="en-US" sz="502" dirty="0"/>
          </a:p>
        </p:txBody>
      </p:sp>
      <p:sp>
        <p:nvSpPr>
          <p:cNvPr id="14" name="Shape 31"/>
          <p:cNvSpPr/>
          <p:nvPr/>
        </p:nvSpPr>
        <p:spPr>
          <a:xfrm>
            <a:off x="556260" y="2212657"/>
            <a:ext cx="1910715" cy="507682"/>
          </a:xfrm>
          <a:prstGeom prst="roundRect">
            <a:avLst>
              <a:gd name="adj" fmla="val 7734"/>
            </a:avLst>
          </a:prstGeom>
          <a:solidFill>
            <a:srgbClr val="FAFCFD"/>
          </a:solidFill>
          <a:ln w="3926">
            <a:solidFill>
              <a:srgbClr val="E2E5E8"/>
            </a:solidFill>
            <a:prstDash val="solid"/>
          </a:ln>
        </p:spPr>
      </p:sp>
      <p:sp>
        <p:nvSpPr>
          <p:cNvPr id="15" name="TextBox 33"/>
          <p:cNvSpPr/>
          <p:nvPr/>
        </p:nvSpPr>
        <p:spPr>
          <a:xfrm>
            <a:off x="607695" y="2264092"/>
            <a:ext cx="1807845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TemporalStrategy</a:t>
            </a:r>
            <a:endParaRPr lang="en-US" sz="696" dirty="0"/>
          </a:p>
        </p:txBody>
      </p:sp>
      <p:sp>
        <p:nvSpPr>
          <p:cNvPr id="16" name="TextBox 35"/>
          <p:cNvSpPr/>
          <p:nvPr/>
        </p:nvSpPr>
        <p:spPr>
          <a:xfrm>
            <a:off x="607695" y="2411730"/>
            <a:ext cx="18078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Half-life 30 days configurable. Decay rate 0.05 (5%) per cycle.</a:t>
            </a:r>
            <a:endParaRPr lang="en-US" sz="696" dirty="0"/>
          </a:p>
        </p:txBody>
      </p:sp>
      <p:sp>
        <p:nvSpPr>
          <p:cNvPr id="17" name="Shape 38"/>
          <p:cNvSpPr/>
          <p:nvPr/>
        </p:nvSpPr>
        <p:spPr>
          <a:xfrm>
            <a:off x="2505075" y="2212657"/>
            <a:ext cx="1910715" cy="507682"/>
          </a:xfrm>
          <a:prstGeom prst="roundRect">
            <a:avLst>
              <a:gd name="adj" fmla="val 7734"/>
            </a:avLst>
          </a:prstGeom>
          <a:solidFill>
            <a:srgbClr val="FAFCFD"/>
          </a:solidFill>
          <a:ln w="3926">
            <a:solidFill>
              <a:srgbClr val="E2E5E8"/>
            </a:solidFill>
            <a:prstDash val="solid"/>
          </a:ln>
        </p:spPr>
      </p:sp>
      <p:sp>
        <p:nvSpPr>
          <p:cNvPr id="18" name="TextBox 40"/>
          <p:cNvSpPr/>
          <p:nvPr/>
        </p:nvSpPr>
        <p:spPr>
          <a:xfrm>
            <a:off x="2556510" y="2264092"/>
            <a:ext cx="1807845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ConfidenceStrategy</a:t>
            </a:r>
            <a:endParaRPr lang="en-US" sz="696" dirty="0"/>
          </a:p>
        </p:txBody>
      </p:sp>
      <p:sp>
        <p:nvSpPr>
          <p:cNvPr id="19" name="TextBox 42"/>
          <p:cNvSpPr/>
          <p:nvPr/>
        </p:nvSpPr>
        <p:spPr>
          <a:xfrm>
            <a:off x="2556510" y="2411730"/>
            <a:ext cx="18078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Entry confidence score with configurable floor of 0.1.</a:t>
            </a:r>
            <a:endParaRPr lang="en-US" sz="696" dirty="0"/>
          </a:p>
        </p:txBody>
      </p:sp>
      <p:sp>
        <p:nvSpPr>
          <p:cNvPr id="20" name="Shape 45"/>
          <p:cNvSpPr/>
          <p:nvPr/>
        </p:nvSpPr>
        <p:spPr>
          <a:xfrm>
            <a:off x="556260" y="2758440"/>
            <a:ext cx="1910715" cy="507682"/>
          </a:xfrm>
          <a:prstGeom prst="roundRect">
            <a:avLst>
              <a:gd name="adj" fmla="val 7734"/>
            </a:avLst>
          </a:prstGeom>
          <a:solidFill>
            <a:srgbClr val="FAFCFD"/>
          </a:solidFill>
          <a:ln w="3926">
            <a:solidFill>
              <a:srgbClr val="E2E5E8"/>
            </a:solidFill>
            <a:prstDash val="solid"/>
          </a:ln>
        </p:spPr>
      </p:sp>
      <p:sp>
        <p:nvSpPr>
          <p:cNvPr id="21" name="TextBox 47"/>
          <p:cNvSpPr/>
          <p:nvPr/>
        </p:nvSpPr>
        <p:spPr>
          <a:xfrm>
            <a:off x="607695" y="2809875"/>
            <a:ext cx="1807845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SupersededStrategy</a:t>
            </a:r>
            <a:endParaRPr lang="en-US" sz="696" dirty="0"/>
          </a:p>
        </p:txBody>
      </p:sp>
      <p:sp>
        <p:nvSpPr>
          <p:cNvPr id="22" name="TextBox 49"/>
          <p:cNvSpPr/>
          <p:nvPr/>
        </p:nvSpPr>
        <p:spPr>
          <a:xfrm>
            <a:off x="607695" y="2957513"/>
            <a:ext cx="18078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Penalty factor 0.3 if superseded_by is set. Zero when includeSuperseded=false.</a:t>
            </a:r>
            <a:endParaRPr lang="en-US" sz="696" dirty="0"/>
          </a:p>
        </p:txBody>
      </p:sp>
      <p:sp>
        <p:nvSpPr>
          <p:cNvPr id="23" name="Shape 52"/>
          <p:cNvSpPr/>
          <p:nvPr/>
        </p:nvSpPr>
        <p:spPr>
          <a:xfrm>
            <a:off x="2505075" y="2758440"/>
            <a:ext cx="1910715" cy="507682"/>
          </a:xfrm>
          <a:prstGeom prst="roundRect">
            <a:avLst>
              <a:gd name="adj" fmla="val 7734"/>
            </a:avLst>
          </a:prstGeom>
          <a:solidFill>
            <a:srgbClr val="FAFCFD"/>
          </a:solidFill>
          <a:ln w="3926">
            <a:solidFill>
              <a:srgbClr val="E2E5E8"/>
            </a:solidFill>
            <a:prstDash val="solid"/>
          </a:ln>
        </p:spPr>
      </p:sp>
      <p:sp>
        <p:nvSpPr>
          <p:cNvPr id="24" name="TextBox 54"/>
          <p:cNvSpPr/>
          <p:nvPr/>
        </p:nvSpPr>
        <p:spPr>
          <a:xfrm>
            <a:off x="2556510" y="2809875"/>
            <a:ext cx="1807845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OutcomeStrategy</a:t>
            </a:r>
            <a:endParaRPr lang="en-US" sz="696" dirty="0"/>
          </a:p>
        </p:txBody>
      </p:sp>
      <p:sp>
        <p:nvSpPr>
          <p:cNvPr id="25" name="TextBox 56"/>
          <p:cNvSpPr/>
          <p:nvPr/>
        </p:nvSpPr>
        <p:spPr>
          <a:xfrm>
            <a:off x="2556510" y="2957513"/>
            <a:ext cx="18078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Outcome-derived factor using DatabaseAdapter for historical tracking.</a:t>
            </a:r>
            <a:endParaRPr lang="en-US" sz="696" dirty="0"/>
          </a:p>
        </p:txBody>
      </p:sp>
      <p:sp>
        <p:nvSpPr>
          <p:cNvPr id="26" name="Shape 59"/>
          <p:cNvSpPr/>
          <p:nvPr/>
        </p:nvSpPr>
        <p:spPr>
          <a:xfrm>
            <a:off x="556260" y="3304222"/>
            <a:ext cx="1910715" cy="507682"/>
          </a:xfrm>
          <a:prstGeom prst="roundRect">
            <a:avLst>
              <a:gd name="adj" fmla="val 7734"/>
            </a:avLst>
          </a:prstGeom>
          <a:solidFill>
            <a:srgbClr val="FAFCFD"/>
          </a:solidFill>
          <a:ln w="3926">
            <a:solidFill>
              <a:srgbClr val="E2E5E8"/>
            </a:solidFill>
            <a:prstDash val="solid"/>
          </a:ln>
        </p:spPr>
      </p:sp>
      <p:sp>
        <p:nvSpPr>
          <p:cNvPr id="27" name="TextBox 61"/>
          <p:cNvSpPr/>
          <p:nvPr/>
        </p:nvSpPr>
        <p:spPr>
          <a:xfrm>
            <a:off x="607695" y="3355657"/>
            <a:ext cx="1807845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PredictiveStrategy</a:t>
            </a:r>
            <a:endParaRPr lang="en-US" sz="696" dirty="0"/>
          </a:p>
        </p:txBody>
      </p:sp>
      <p:sp>
        <p:nvSpPr>
          <p:cNvPr id="28" name="TextBox 63"/>
          <p:cNvSpPr/>
          <p:nvPr/>
        </p:nvSpPr>
        <p:spPr>
          <a:xfrm>
            <a:off x="607695" y="3503295"/>
            <a:ext cx="18078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Predictive boost factor. Enabled/disabled via predictiveEnabled flag.</a:t>
            </a:r>
            <a:endParaRPr lang="en-US" sz="696" dirty="0"/>
          </a:p>
        </p:txBody>
      </p:sp>
      <p:sp>
        <p:nvSpPr>
          <p:cNvPr id="29" name="Shape 71"/>
          <p:cNvSpPr/>
          <p:nvPr/>
        </p:nvSpPr>
        <p:spPr>
          <a:xfrm>
            <a:off x="4629150" y="1475422"/>
            <a:ext cx="4057650" cy="1110139"/>
          </a:xfrm>
          <a:prstGeom prst="roundRect">
            <a:avLst>
              <a:gd name="adj" fmla="val 5305"/>
            </a:avLst>
          </a:prstGeom>
          <a:solidFill>
            <a:srgbClr val="FFFFFF"/>
          </a:solidFill>
          <a:ln/>
        </p:spPr>
      </p:sp>
      <p:pic>
        <p:nvPicPr>
          <p:cNvPr id="30" name="Picture 71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9150" y="1475422"/>
            <a:ext cx="4057650" cy="1110139"/>
          </a:xfrm>
          <a:prstGeom prst="rect">
            <a:avLst/>
          </a:prstGeom>
        </p:spPr>
      </p:pic>
      <p:sp>
        <p:nvSpPr>
          <p:cNvPr id="31" name="TextBox 73"/>
          <p:cNvSpPr/>
          <p:nvPr/>
        </p:nvSpPr>
        <p:spPr>
          <a:xfrm>
            <a:off x="4728210" y="1582102"/>
            <a:ext cx="38595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5"/>
              </a:lnSpc>
              <a:buNone/>
            </a:pPr>
            <a:r>
              <a:rPr lang="en-US" sz="773" b="1" spc="-8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Scheduler &amp; Decay Service</a:t>
            </a:r>
            <a:endParaRPr lang="en-US" sz="773" dirty="0"/>
          </a:p>
        </p:txBody>
      </p:sp>
      <p:sp>
        <p:nvSpPr>
          <p:cNvPr id="32" name="TextBox 75"/>
          <p:cNvSpPr/>
          <p:nvPr/>
        </p:nvSpPr>
        <p:spPr>
          <a:xfrm>
            <a:off x="4728210" y="1753552"/>
            <a:ext cx="3859531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Background jobs keep the knowledge base fresh. Entries untouched beyond 60 days receive additional decay.</a:t>
            </a:r>
            <a:endParaRPr lang="en-US" sz="541" dirty="0"/>
          </a:p>
        </p:txBody>
      </p:sp>
      <p:sp>
        <p:nvSpPr>
          <p:cNvPr id="33" name="TextBox 79"/>
          <p:cNvSpPr/>
          <p:nvPr/>
        </p:nvSpPr>
        <p:spPr>
          <a:xfrm>
            <a:off x="4728210" y="1907857"/>
            <a:ext cx="3859531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502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Decay cycle:</a:t>
            </a:r>
            <a:r>
              <a:rPr lang="en-US" sz="502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every 24 hours, batch size 100</a:t>
            </a:r>
            <a:endParaRPr lang="en-US" sz="502" dirty="0"/>
          </a:p>
        </p:txBody>
      </p:sp>
      <p:sp>
        <p:nvSpPr>
          <p:cNvPr id="34" name="TextBox 81"/>
          <p:cNvSpPr/>
          <p:nvPr/>
        </p:nvSpPr>
        <p:spPr>
          <a:xfrm>
            <a:off x="4728210" y="2029301"/>
            <a:ext cx="3859531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502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Stagnation detection:</a:t>
            </a:r>
            <a:r>
              <a:rPr lang="en-US" sz="502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every 6 hours, threshold 3 failures in 7-day window</a:t>
            </a:r>
            <a:endParaRPr lang="en-US" sz="502" dirty="0"/>
          </a:p>
        </p:txBody>
      </p:sp>
      <p:sp>
        <p:nvSpPr>
          <p:cNvPr id="35" name="TextBox 83"/>
          <p:cNvSpPr/>
          <p:nvPr/>
        </p:nvSpPr>
        <p:spPr>
          <a:xfrm>
            <a:off x="4728210" y="2150745"/>
            <a:ext cx="3859531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502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Access threshold:</a:t>
            </a:r>
            <a:r>
              <a:rPr lang="en-US" sz="502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60 days untouched triggers additional decay</a:t>
            </a:r>
            <a:endParaRPr lang="en-US" sz="502" dirty="0"/>
          </a:p>
        </p:txBody>
      </p:sp>
      <p:sp>
        <p:nvSpPr>
          <p:cNvPr id="36" name="TextBox 85"/>
          <p:cNvSpPr/>
          <p:nvPr/>
        </p:nvSpPr>
        <p:spPr>
          <a:xfrm>
            <a:off x="4728210" y="2272189"/>
            <a:ext cx="3859531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502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EpochService:</a:t>
            </a:r>
            <a:r>
              <a:rPr lang="en-US" sz="502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epoch-triggered evolution cycles</a:t>
            </a:r>
            <a:endParaRPr lang="en-US" sz="502" dirty="0"/>
          </a:p>
        </p:txBody>
      </p:sp>
      <p:sp>
        <p:nvSpPr>
          <p:cNvPr id="37" name="TextBox 87"/>
          <p:cNvSpPr/>
          <p:nvPr/>
        </p:nvSpPr>
        <p:spPr>
          <a:xfrm>
            <a:off x="4728210" y="2393632"/>
            <a:ext cx="3859531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502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Consolidation log:</a:t>
            </a:r>
            <a:r>
              <a:rPr lang="en-US" sz="502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tracks all scope changes (USER → PROJECT → SHARED)</a:t>
            </a:r>
            <a:endParaRPr lang="en-US" sz="502" dirty="0"/>
          </a:p>
        </p:txBody>
      </p:sp>
      <p:sp>
        <p:nvSpPr>
          <p:cNvPr id="38" name="Shape 91"/>
          <p:cNvSpPr/>
          <p:nvPr/>
        </p:nvSpPr>
        <p:spPr>
          <a:xfrm>
            <a:off x="4629150" y="2661761"/>
            <a:ext cx="4057650" cy="1133475"/>
          </a:xfrm>
          <a:prstGeom prst="roundRect">
            <a:avLst>
              <a:gd name="adj" fmla="val 5196"/>
            </a:avLst>
          </a:prstGeom>
          <a:solidFill>
            <a:srgbClr val="FFFFFF"/>
          </a:solidFill>
          <a:ln/>
        </p:spPr>
      </p:sp>
      <p:pic>
        <p:nvPicPr>
          <p:cNvPr id="39" name="Picture 91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29150" y="2661761"/>
            <a:ext cx="4057650" cy="1133475"/>
          </a:xfrm>
          <a:prstGeom prst="rect">
            <a:avLst/>
          </a:prstGeom>
        </p:spPr>
      </p:pic>
      <p:sp>
        <p:nvSpPr>
          <p:cNvPr id="40" name="TextBox 93"/>
          <p:cNvSpPr/>
          <p:nvPr/>
        </p:nvSpPr>
        <p:spPr>
          <a:xfrm>
            <a:off x="4728210" y="2768441"/>
            <a:ext cx="38595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5"/>
              </a:lnSpc>
              <a:buNone/>
            </a:pPr>
            <a:r>
              <a:rPr lang="en-US" sz="773" b="1" spc="-8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Smart Ingest</a:t>
            </a:r>
            <a:endParaRPr lang="en-US" sz="773" dirty="0"/>
          </a:p>
        </p:txBody>
      </p:sp>
      <p:sp>
        <p:nvSpPr>
          <p:cNvPr id="41" name="TextBox 95"/>
          <p:cNvSpPr/>
          <p:nvPr/>
        </p:nvSpPr>
        <p:spPr>
          <a:xfrm>
            <a:off x="4728210" y="2939891"/>
            <a:ext cx="385953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LLM-powered message classification decides whether content is worth storing in the KB. Falls back to unfiltered ingest when LLM is unavailable.</a:t>
            </a:r>
            <a:endParaRPr lang="en-US" sz="541" dirty="0"/>
          </a:p>
        </p:txBody>
      </p:sp>
      <p:sp>
        <p:nvSpPr>
          <p:cNvPr id="42" name="TextBox 102"/>
          <p:cNvSpPr/>
          <p:nvPr/>
        </p:nvSpPr>
        <p:spPr>
          <a:xfrm>
            <a:off x="5287804" y="3195161"/>
            <a:ext cx="105429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LLM classifies message as ingest / skip</a:t>
            </a:r>
            <a:endParaRPr lang="en-US" sz="464" dirty="0"/>
          </a:p>
        </p:txBody>
      </p:sp>
      <p:sp>
        <p:nvSpPr>
          <p:cNvPr id="43" name="Shape 100"/>
          <p:cNvSpPr/>
          <p:nvPr/>
        </p:nvSpPr>
        <p:spPr>
          <a:xfrm>
            <a:off x="4728210" y="3227546"/>
            <a:ext cx="28575" cy="28575"/>
          </a:xfrm>
          <a:prstGeom prst="ellipse">
            <a:avLst/>
          </a:prstGeom>
          <a:solidFill>
            <a:srgbClr val="008B1D"/>
          </a:solidFill>
          <a:ln/>
        </p:spPr>
      </p:sp>
      <p:sp>
        <p:nvSpPr>
          <p:cNvPr id="44" name="TextBox 101"/>
          <p:cNvSpPr/>
          <p:nvPr/>
        </p:nvSpPr>
        <p:spPr>
          <a:xfrm>
            <a:off x="4785360" y="3195161"/>
            <a:ext cx="50244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mem_smart_ingest</a:t>
            </a:r>
            <a:endParaRPr lang="en-US" sz="464" dirty="0"/>
          </a:p>
        </p:txBody>
      </p:sp>
      <p:sp>
        <p:nvSpPr>
          <p:cNvPr id="45" name="TextBox 107"/>
          <p:cNvSpPr/>
          <p:nvPr/>
        </p:nvSpPr>
        <p:spPr>
          <a:xfrm>
            <a:off x="5311556" y="3299936"/>
            <a:ext cx="86338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content hash on first 500 chars</a:t>
            </a:r>
            <a:endParaRPr lang="en-US" sz="464" dirty="0"/>
          </a:p>
        </p:txBody>
      </p:sp>
      <p:sp>
        <p:nvSpPr>
          <p:cNvPr id="46" name="Shape 105"/>
          <p:cNvSpPr/>
          <p:nvPr/>
        </p:nvSpPr>
        <p:spPr>
          <a:xfrm>
            <a:off x="4728210" y="3332321"/>
            <a:ext cx="28575" cy="28575"/>
          </a:xfrm>
          <a:prstGeom prst="ellipse">
            <a:avLst/>
          </a:prstGeom>
          <a:solidFill>
            <a:srgbClr val="008B1D"/>
          </a:solidFill>
          <a:ln/>
        </p:spPr>
      </p:sp>
      <p:sp>
        <p:nvSpPr>
          <p:cNvPr id="47" name="TextBox 106"/>
          <p:cNvSpPr/>
          <p:nvPr/>
        </p:nvSpPr>
        <p:spPr>
          <a:xfrm>
            <a:off x="4785360" y="3299936"/>
            <a:ext cx="52619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Duplicate detection</a:t>
            </a:r>
            <a:endParaRPr lang="en-US" sz="464" dirty="0"/>
          </a:p>
        </p:txBody>
      </p:sp>
      <p:sp>
        <p:nvSpPr>
          <p:cNvPr id="48" name="TextBox 112"/>
          <p:cNvSpPr/>
          <p:nvPr/>
        </p:nvSpPr>
        <p:spPr>
          <a:xfrm>
            <a:off x="5164276" y="3404711"/>
            <a:ext cx="97762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10,000 chars, max summary: 200 chars</a:t>
            </a:r>
            <a:endParaRPr lang="en-US" sz="464" dirty="0"/>
          </a:p>
        </p:txBody>
      </p:sp>
      <p:sp>
        <p:nvSpPr>
          <p:cNvPr id="49" name="Shape 110"/>
          <p:cNvSpPr/>
          <p:nvPr/>
        </p:nvSpPr>
        <p:spPr>
          <a:xfrm>
            <a:off x="4728210" y="3437096"/>
            <a:ext cx="28575" cy="28575"/>
          </a:xfrm>
          <a:prstGeom prst="ellipse">
            <a:avLst/>
          </a:prstGeom>
          <a:solidFill>
            <a:srgbClr val="008B1D"/>
          </a:solidFill>
          <a:ln/>
        </p:spPr>
      </p:sp>
      <p:sp>
        <p:nvSpPr>
          <p:cNvPr id="50" name="TextBox 111"/>
          <p:cNvSpPr/>
          <p:nvPr/>
        </p:nvSpPr>
        <p:spPr>
          <a:xfrm>
            <a:off x="4785360" y="3404711"/>
            <a:ext cx="37891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Max message:</a:t>
            </a:r>
            <a:endParaRPr lang="en-US" sz="464" dirty="0"/>
          </a:p>
        </p:txBody>
      </p:sp>
      <p:sp>
        <p:nvSpPr>
          <p:cNvPr id="51" name="TextBox 117"/>
          <p:cNvSpPr/>
          <p:nvPr/>
        </p:nvSpPr>
        <p:spPr>
          <a:xfrm>
            <a:off x="5142964" y="3509486"/>
            <a:ext cx="162407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batch re-evaluates unfiltered entries (max batch 100, default 50)</a:t>
            </a:r>
            <a:endParaRPr lang="en-US" sz="464" dirty="0"/>
          </a:p>
        </p:txBody>
      </p:sp>
      <p:sp>
        <p:nvSpPr>
          <p:cNvPr id="52" name="Shape 115"/>
          <p:cNvSpPr/>
          <p:nvPr/>
        </p:nvSpPr>
        <p:spPr>
          <a:xfrm>
            <a:off x="4728210" y="3541871"/>
            <a:ext cx="28575" cy="28575"/>
          </a:xfrm>
          <a:prstGeom prst="ellipse">
            <a:avLst/>
          </a:prstGeom>
          <a:solidFill>
            <a:srgbClr val="008B1D"/>
          </a:solidFill>
          <a:ln/>
        </p:spPr>
      </p:sp>
      <p:sp>
        <p:nvSpPr>
          <p:cNvPr id="53" name="TextBox 116"/>
          <p:cNvSpPr/>
          <p:nvPr/>
        </p:nvSpPr>
        <p:spPr>
          <a:xfrm>
            <a:off x="4785360" y="3509486"/>
            <a:ext cx="35760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Cleanup tool:</a:t>
            </a:r>
            <a:endParaRPr lang="en-US" sz="464" dirty="0"/>
          </a:p>
        </p:txBody>
      </p:sp>
      <p:sp>
        <p:nvSpPr>
          <p:cNvPr id="54" name="TextBox 122"/>
          <p:cNvSpPr/>
          <p:nvPr/>
        </p:nvSpPr>
        <p:spPr>
          <a:xfrm>
            <a:off x="4986754" y="3614261"/>
            <a:ext cx="156632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696"/>
              </a:lnSpc>
              <a:buNone/>
            </a:pPr>
            <a:r>
              <a:rPr lang="en-US" sz="464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USER → PROJECT → SHARED with IsolationLayer enforcement</a:t>
            </a:r>
            <a:endParaRPr lang="en-US" sz="464" dirty="0"/>
          </a:p>
        </p:txBody>
      </p:sp>
      <p:sp>
        <p:nvSpPr>
          <p:cNvPr id="55" name="Shape 120"/>
          <p:cNvSpPr/>
          <p:nvPr/>
        </p:nvSpPr>
        <p:spPr>
          <a:xfrm>
            <a:off x="4728210" y="3646646"/>
            <a:ext cx="28575" cy="28575"/>
          </a:xfrm>
          <a:prstGeom prst="ellipse">
            <a:avLst/>
          </a:prstGeom>
          <a:solidFill>
            <a:srgbClr val="008B1D"/>
          </a:solidFill>
          <a:ln/>
        </p:spPr>
      </p:sp>
      <p:sp>
        <p:nvSpPr>
          <p:cNvPr id="56" name="TextBox 121"/>
          <p:cNvSpPr/>
          <p:nvPr/>
        </p:nvSpPr>
        <p:spPr>
          <a:xfrm>
            <a:off x="4785360" y="3614261"/>
            <a:ext cx="20139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96"/>
              </a:lnSpc>
              <a:buNone/>
            </a:pPr>
            <a:r>
              <a:rPr lang="en-US" sz="464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Scopes:</a:t>
            </a:r>
            <a:endParaRPr lang="en-US" sz="464" dirty="0"/>
          </a:p>
        </p:txBody>
      </p:sp>
      <p:sp>
        <p:nvSpPr>
          <p:cNvPr id="57" name="TextBox 128"/>
          <p:cNvSpPr/>
          <p:nvPr/>
        </p:nvSpPr>
        <p:spPr>
          <a:xfrm>
            <a:off x="4629150" y="3871436"/>
            <a:ext cx="528578" cy="90487"/>
          </a:xfrm>
          <a:prstGeom prst="roundRect">
            <a:avLst>
              <a:gd name="adj" fmla="val 32543"/>
            </a:avLst>
          </a:prstGeom>
          <a:solidFill>
            <a:srgbClr val="1779E1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CompositeScorer</a:t>
            </a:r>
            <a:endParaRPr lang="en-US" sz="425" dirty="0"/>
          </a:p>
        </p:txBody>
      </p:sp>
      <p:sp>
        <p:nvSpPr>
          <p:cNvPr id="58" name="TextBox 130"/>
          <p:cNvSpPr/>
          <p:nvPr/>
        </p:nvSpPr>
        <p:spPr>
          <a:xfrm>
            <a:off x="5176778" y="3871436"/>
            <a:ext cx="435173" cy="90487"/>
          </a:xfrm>
          <a:prstGeom prst="roundRect">
            <a:avLst>
              <a:gd name="adj" fmla="val 32543"/>
            </a:avLst>
          </a:prstGeom>
          <a:solidFill>
            <a:srgbClr val="1779E1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DecayService</a:t>
            </a:r>
            <a:endParaRPr lang="en-US" sz="425" dirty="0"/>
          </a:p>
        </p:txBody>
      </p:sp>
      <p:sp>
        <p:nvSpPr>
          <p:cNvPr id="59" name="TextBox 132"/>
          <p:cNvSpPr/>
          <p:nvPr/>
        </p:nvSpPr>
        <p:spPr>
          <a:xfrm>
            <a:off x="5631001" y="3871436"/>
            <a:ext cx="586800" cy="90487"/>
          </a:xfrm>
          <a:prstGeom prst="roundRect">
            <a:avLst>
              <a:gd name="adj" fmla="val 32543"/>
            </a:avLst>
          </a:prstGeom>
          <a:solidFill>
            <a:srgbClr val="1779E1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StagnationDetector</a:t>
            </a:r>
            <a:endParaRPr lang="en-US" sz="425" dirty="0"/>
          </a:p>
        </p:txBody>
      </p:sp>
      <p:sp>
        <p:nvSpPr>
          <p:cNvPr id="60" name="TextBox 134"/>
          <p:cNvSpPr/>
          <p:nvPr/>
        </p:nvSpPr>
        <p:spPr>
          <a:xfrm>
            <a:off x="6236850" y="3871436"/>
            <a:ext cx="692705" cy="90487"/>
          </a:xfrm>
          <a:prstGeom prst="roundRect">
            <a:avLst>
              <a:gd name="adj" fmla="val 32543"/>
            </a:avLst>
          </a:prstGeom>
          <a:solidFill>
            <a:srgbClr val="1779E1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ScopePromotionService</a:t>
            </a:r>
            <a:endParaRPr lang="en-US" sz="425" dirty="0"/>
          </a:p>
        </p:txBody>
      </p:sp>
      <p:sp>
        <p:nvSpPr>
          <p:cNvPr id="61" name="TextBox 136"/>
          <p:cNvSpPr/>
          <p:nvPr/>
        </p:nvSpPr>
        <p:spPr>
          <a:xfrm>
            <a:off x="6948607" y="3871436"/>
            <a:ext cx="506016" cy="90487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MemoryModule</a:t>
            </a:r>
            <a:endParaRPr lang="en-US" sz="425" dirty="0"/>
          </a:p>
        </p:txBody>
      </p:sp>
      <p:sp>
        <p:nvSpPr>
          <p:cNvPr id="62" name="TextBox 138"/>
          <p:cNvSpPr/>
          <p:nvPr/>
        </p:nvSpPr>
        <p:spPr>
          <a:xfrm>
            <a:off x="7473672" y="3871436"/>
            <a:ext cx="436246" cy="90487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EpochService</a:t>
            </a:r>
            <a:endParaRPr lang="en-US" sz="425" dirty="0"/>
          </a:p>
        </p:txBody>
      </p:sp>
      <p:sp>
        <p:nvSpPr>
          <p:cNvPr id="63" name="TextBox 140"/>
          <p:cNvSpPr/>
          <p:nvPr/>
        </p:nvSpPr>
        <p:spPr>
          <a:xfrm>
            <a:off x="7928967" y="3871436"/>
            <a:ext cx="511016" cy="90487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OutcomeService</a:t>
            </a:r>
            <a:endParaRPr lang="en-US" sz="425" dirty="0"/>
          </a:p>
        </p:txBody>
      </p:sp>
      <p:sp>
        <p:nvSpPr>
          <p:cNvPr id="64" name="Shape 145"/>
          <p:cNvSpPr/>
          <p:nvPr/>
        </p:nvSpPr>
        <p:spPr>
          <a:xfrm>
            <a:off x="457200" y="4730115"/>
            <a:ext cx="8229600" cy="184785"/>
          </a:xfrm>
          <a:prstGeom prst="rect">
            <a:avLst/>
          </a:prstGeom>
          <a:noFill/>
          <a:ln/>
        </p:spPr>
      </p:sp>
      <p:pic>
        <p:nvPicPr>
          <p:cNvPr id="65" name="Picture 145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" y="4730115"/>
            <a:ext cx="8229600" cy="184785"/>
          </a:xfrm>
          <a:prstGeom prst="rect">
            <a:avLst/>
          </a:prstGeom>
        </p:spPr>
      </p:pic>
      <p:sp>
        <p:nvSpPr>
          <p:cNvPr id="66" name="TextBox 147"/>
          <p:cNvSpPr/>
          <p:nvPr/>
        </p:nvSpPr>
        <p:spPr>
          <a:xfrm>
            <a:off x="457200" y="4848225"/>
            <a:ext cx="80170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41"/>
              </a:lnSpc>
              <a:buNone/>
            </a:pPr>
            <a:r>
              <a:rPr lang="en-US" sz="541" dirty="0">
                <a:solidFill>
                  <a:srgbClr val="9A9FA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SDLC Agents For Enterprise</a:t>
            </a:r>
            <a:endParaRPr lang="en-US" sz="541" dirty="0"/>
          </a:p>
        </p:txBody>
      </p:sp>
      <p:sp>
        <p:nvSpPr>
          <p:cNvPr id="67" name="TextBox 149"/>
          <p:cNvSpPr/>
          <p:nvPr/>
        </p:nvSpPr>
        <p:spPr>
          <a:xfrm>
            <a:off x="7632203" y="4850606"/>
            <a:ext cx="1054596" cy="61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02"/>
              </a:lnSpc>
              <a:buNone/>
            </a:pPr>
            <a:r>
              <a:rPr lang="en-US" sz="502" spc="35" kern="0" dirty="0">
                <a:solidFill>
                  <a:srgbClr val="1779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KB EVOLUTION &amp; SMART INGEST</a:t>
            </a:r>
            <a:endParaRPr lang="en-US" sz="50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D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D"/>
          </a:solidFill>
          <a:ln/>
        </p:spPr>
      </p:sp>
      <p:sp>
        <p:nvSpPr>
          <p:cNvPr id="4" name="TextBox 4"/>
          <p:cNvSpPr/>
          <p:nvPr/>
        </p:nvSpPr>
        <p:spPr>
          <a:xfrm>
            <a:off x="457200" y="342900"/>
            <a:ext cx="822960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855" b="1" spc="-37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Analytics &amp; AI Integration</a:t>
            </a:r>
            <a:endParaRPr lang="en-US" sz="1855" dirty="0"/>
          </a:p>
        </p:txBody>
      </p:sp>
      <p:sp>
        <p:nvSpPr>
          <p:cNvPr id="5" name="TextBox 6"/>
          <p:cNvSpPr/>
          <p:nvPr/>
        </p:nvSpPr>
        <p:spPr>
          <a:xfrm>
            <a:off x="457200" y="681990"/>
            <a:ext cx="342900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Multi-dimensional analytics (summary cards, bar/line/scatter charts) + MCP server manages child servers through OrchestrationModule with 3 transport protocols.</a:t>
            </a:r>
            <a:endParaRPr lang="en-US" sz="850" dirty="0"/>
          </a:p>
        </p:txBody>
      </p:sp>
      <p:sp>
        <p:nvSpPr>
          <p:cNvPr id="6" name="Shape 12"/>
          <p:cNvSpPr/>
          <p:nvPr/>
        </p:nvSpPr>
        <p:spPr>
          <a:xfrm>
            <a:off x="457200" y="1343977"/>
            <a:ext cx="4869180" cy="1557337"/>
          </a:xfrm>
          <a:prstGeom prst="roundRect">
            <a:avLst>
              <a:gd name="adj" fmla="val 3782"/>
            </a:avLst>
          </a:prstGeom>
          <a:solidFill>
            <a:srgbClr val="FFFFFF"/>
          </a:solidFill>
          <a:ln w="3926">
            <a:solidFill>
              <a:srgbClr val="E2E5E8"/>
            </a:solidFill>
            <a:prstDash val="solid"/>
          </a:ln>
        </p:spPr>
      </p:sp>
      <p:sp>
        <p:nvSpPr>
          <p:cNvPr id="7" name="TextBox 14"/>
          <p:cNvSpPr/>
          <p:nvPr/>
        </p:nvSpPr>
        <p:spPr>
          <a:xfrm>
            <a:off x="556260" y="1443037"/>
            <a:ext cx="46710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5"/>
              </a:lnSpc>
              <a:buNone/>
            </a:pPr>
            <a:r>
              <a:rPr lang="en-US" sz="773" b="1" spc="-8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Analytics Dashboard</a:t>
            </a:r>
            <a:endParaRPr lang="en-US" sz="773" dirty="0"/>
          </a:p>
        </p:txBody>
      </p:sp>
      <p:sp>
        <p:nvSpPr>
          <p:cNvPr id="8" name="Shape 18"/>
          <p:cNvSpPr/>
          <p:nvPr/>
        </p:nvSpPr>
        <p:spPr>
          <a:xfrm>
            <a:off x="556260" y="1614487"/>
            <a:ext cx="2311717" cy="410527"/>
          </a:xfrm>
          <a:prstGeom prst="roundRect">
            <a:avLst>
              <a:gd name="adj" fmla="val 9564"/>
            </a:avLst>
          </a:prstGeom>
          <a:noFill/>
          <a:ln w="3926">
            <a:solidFill>
              <a:srgbClr val="E2E5E8"/>
            </a:solidFill>
            <a:prstDash val="solid"/>
          </a:ln>
        </p:spPr>
      </p:sp>
      <p:sp>
        <p:nvSpPr>
          <p:cNvPr id="9" name="TextBox 20"/>
          <p:cNvSpPr/>
          <p:nvPr/>
        </p:nvSpPr>
        <p:spPr>
          <a:xfrm>
            <a:off x="617220" y="1675447"/>
            <a:ext cx="2189797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Total entries</a:t>
            </a:r>
            <a:endParaRPr lang="en-US" sz="696" dirty="0"/>
          </a:p>
        </p:txBody>
      </p:sp>
      <p:sp>
        <p:nvSpPr>
          <p:cNvPr id="10" name="TextBox 22"/>
          <p:cNvSpPr/>
          <p:nvPr/>
        </p:nvSpPr>
        <p:spPr>
          <a:xfrm>
            <a:off x="617220" y="1804035"/>
            <a:ext cx="218979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082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6.903</a:t>
            </a:r>
            <a:endParaRPr lang="en-US" sz="1082" dirty="0"/>
          </a:p>
        </p:txBody>
      </p:sp>
      <p:sp>
        <p:nvSpPr>
          <p:cNvPr id="11" name="Shape 25"/>
          <p:cNvSpPr/>
          <p:nvPr/>
        </p:nvSpPr>
        <p:spPr>
          <a:xfrm>
            <a:off x="2915602" y="1614487"/>
            <a:ext cx="2311717" cy="410527"/>
          </a:xfrm>
          <a:prstGeom prst="roundRect">
            <a:avLst>
              <a:gd name="adj" fmla="val 9564"/>
            </a:avLst>
          </a:prstGeom>
          <a:noFill/>
          <a:ln w="3926">
            <a:solidFill>
              <a:srgbClr val="E2E5E8"/>
            </a:solidFill>
            <a:prstDash val="solid"/>
          </a:ln>
        </p:spPr>
      </p:sp>
      <p:sp>
        <p:nvSpPr>
          <p:cNvPr id="12" name="TextBox 27"/>
          <p:cNvSpPr/>
          <p:nvPr/>
        </p:nvSpPr>
        <p:spPr>
          <a:xfrm>
            <a:off x="2976563" y="1675447"/>
            <a:ext cx="2189797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Avg Quality</a:t>
            </a:r>
            <a:endParaRPr lang="en-US" sz="696" dirty="0"/>
          </a:p>
        </p:txBody>
      </p:sp>
      <p:sp>
        <p:nvSpPr>
          <p:cNvPr id="13" name="TextBox 29"/>
          <p:cNvSpPr/>
          <p:nvPr/>
        </p:nvSpPr>
        <p:spPr>
          <a:xfrm>
            <a:off x="2976563" y="1804035"/>
            <a:ext cx="218979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082" b="1" dirty="0">
                <a:solidFill>
                  <a:srgbClr val="1779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62%</a:t>
            </a:r>
            <a:endParaRPr lang="en-US" sz="1082" dirty="0"/>
          </a:p>
        </p:txBody>
      </p:sp>
      <p:sp>
        <p:nvSpPr>
          <p:cNvPr id="14" name="Shape 32"/>
          <p:cNvSpPr/>
          <p:nvPr/>
        </p:nvSpPr>
        <p:spPr>
          <a:xfrm>
            <a:off x="556260" y="2072640"/>
            <a:ext cx="2311717" cy="410528"/>
          </a:xfrm>
          <a:prstGeom prst="roundRect">
            <a:avLst>
              <a:gd name="adj" fmla="val 9564"/>
            </a:avLst>
          </a:prstGeom>
          <a:noFill/>
          <a:ln w="3926">
            <a:solidFill>
              <a:srgbClr val="E2E5E8"/>
            </a:solidFill>
            <a:prstDash val="solid"/>
          </a:ln>
        </p:spPr>
      </p:sp>
      <p:sp>
        <p:nvSpPr>
          <p:cNvPr id="15" name="TextBox 34"/>
          <p:cNvSpPr/>
          <p:nvPr/>
        </p:nvSpPr>
        <p:spPr>
          <a:xfrm>
            <a:off x="617220" y="2133600"/>
            <a:ext cx="2189797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Query time</a:t>
            </a:r>
            <a:endParaRPr lang="en-US" sz="696" dirty="0"/>
          </a:p>
        </p:txBody>
      </p:sp>
      <p:sp>
        <p:nvSpPr>
          <p:cNvPr id="16" name="TextBox 36"/>
          <p:cNvSpPr/>
          <p:nvPr/>
        </p:nvSpPr>
        <p:spPr>
          <a:xfrm>
            <a:off x="617220" y="2262187"/>
            <a:ext cx="218979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082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&lt;100ms</a:t>
            </a:r>
            <a:endParaRPr lang="en-US" sz="1082" dirty="0"/>
          </a:p>
        </p:txBody>
      </p:sp>
      <p:sp>
        <p:nvSpPr>
          <p:cNvPr id="17" name="Shape 39"/>
          <p:cNvSpPr/>
          <p:nvPr/>
        </p:nvSpPr>
        <p:spPr>
          <a:xfrm>
            <a:off x="2915602" y="2072640"/>
            <a:ext cx="2311717" cy="410528"/>
          </a:xfrm>
          <a:prstGeom prst="roundRect">
            <a:avLst>
              <a:gd name="adj" fmla="val 9564"/>
            </a:avLst>
          </a:prstGeom>
          <a:noFill/>
          <a:ln w="3926">
            <a:solidFill>
              <a:srgbClr val="E2E5E8"/>
            </a:solidFill>
            <a:prstDash val="solid"/>
          </a:ln>
        </p:spPr>
      </p:sp>
      <p:sp>
        <p:nvSpPr>
          <p:cNvPr id="18" name="TextBox 41"/>
          <p:cNvSpPr/>
          <p:nvPr/>
        </p:nvSpPr>
        <p:spPr>
          <a:xfrm>
            <a:off x="2976563" y="2133600"/>
            <a:ext cx="2189797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Cache hit rate</a:t>
            </a:r>
            <a:endParaRPr lang="en-US" sz="696" dirty="0"/>
          </a:p>
        </p:txBody>
      </p:sp>
      <p:sp>
        <p:nvSpPr>
          <p:cNvPr id="19" name="TextBox 43"/>
          <p:cNvSpPr/>
          <p:nvPr/>
        </p:nvSpPr>
        <p:spPr>
          <a:xfrm>
            <a:off x="2976563" y="2262187"/>
            <a:ext cx="218979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98"/>
              </a:lnSpc>
              <a:buNone/>
            </a:pPr>
            <a:r>
              <a:rPr lang="en-US" sz="1082" b="1" dirty="0">
                <a:solidFill>
                  <a:srgbClr val="008B1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~85%</a:t>
            </a:r>
            <a:endParaRPr lang="en-US" sz="1082" dirty="0"/>
          </a:p>
        </p:txBody>
      </p:sp>
      <p:sp>
        <p:nvSpPr>
          <p:cNvPr id="20" name="TextBox 47"/>
          <p:cNvSpPr/>
          <p:nvPr/>
        </p:nvSpPr>
        <p:spPr>
          <a:xfrm>
            <a:off x="556260" y="2549842"/>
            <a:ext cx="4671060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 chart types (SVG):</a:t>
            </a:r>
            <a:endParaRPr lang="en-US" sz="696" dirty="0"/>
          </a:p>
        </p:txBody>
      </p:sp>
      <p:sp>
        <p:nvSpPr>
          <p:cNvPr id="21" name="TextBox 51"/>
          <p:cNvSpPr/>
          <p:nvPr/>
        </p:nvSpPr>
        <p:spPr>
          <a:xfrm>
            <a:off x="556260" y="2707005"/>
            <a:ext cx="939641" cy="95250"/>
          </a:xfrm>
          <a:prstGeom prst="roundRect">
            <a:avLst>
              <a:gd name="adj" fmla="val 30916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Quality Score Distribution (bar)</a:t>
            </a:r>
            <a:endParaRPr lang="en-US" sz="464" dirty="0"/>
          </a:p>
        </p:txBody>
      </p:sp>
      <p:sp>
        <p:nvSpPr>
          <p:cNvPr id="22" name="TextBox 53"/>
          <p:cNvSpPr/>
          <p:nvPr/>
        </p:nvSpPr>
        <p:spPr>
          <a:xfrm>
            <a:off x="1534001" y="2707005"/>
            <a:ext cx="619780" cy="95250"/>
          </a:xfrm>
          <a:prstGeom prst="roundRect">
            <a:avLst>
              <a:gd name="adj" fmla="val 30916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Usage 14-day (line)</a:t>
            </a:r>
            <a:endParaRPr lang="en-US" sz="464" dirty="0"/>
          </a:p>
        </p:txBody>
      </p:sp>
      <p:sp>
        <p:nvSpPr>
          <p:cNvPr id="23" name="TextBox 55"/>
          <p:cNvSpPr/>
          <p:nvPr/>
        </p:nvSpPr>
        <p:spPr>
          <a:xfrm>
            <a:off x="2191881" y="2707005"/>
            <a:ext cx="706755" cy="95250"/>
          </a:xfrm>
          <a:prstGeom prst="roundRect">
            <a:avLst>
              <a:gd name="adj" fmla="val 30916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Embedding 2D Scatter</a:t>
            </a:r>
            <a:endParaRPr lang="en-US" sz="464" dirty="0"/>
          </a:p>
        </p:txBody>
      </p:sp>
      <p:sp>
        <p:nvSpPr>
          <p:cNvPr id="24" name="Shape 59"/>
          <p:cNvSpPr/>
          <p:nvPr/>
        </p:nvSpPr>
        <p:spPr>
          <a:xfrm>
            <a:off x="457200" y="2977515"/>
            <a:ext cx="4869180" cy="688658"/>
          </a:xfrm>
          <a:prstGeom prst="roundRect">
            <a:avLst>
              <a:gd name="adj" fmla="val 8552"/>
            </a:avLst>
          </a:prstGeom>
          <a:solidFill>
            <a:srgbClr val="FFFFFF"/>
          </a:solidFill>
          <a:ln w="3926">
            <a:solidFill>
              <a:srgbClr val="E2E5E8"/>
            </a:solidFill>
            <a:prstDash val="solid"/>
          </a:ln>
        </p:spPr>
      </p:sp>
      <p:sp>
        <p:nvSpPr>
          <p:cNvPr id="25" name="TextBox 61"/>
          <p:cNvSpPr/>
          <p:nvPr/>
        </p:nvSpPr>
        <p:spPr>
          <a:xfrm>
            <a:off x="556260" y="3076575"/>
            <a:ext cx="46710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5"/>
              </a:lnSpc>
              <a:buNone/>
            </a:pPr>
            <a:r>
              <a:rPr lang="en-US" sz="773" b="1" spc="-8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Knowledge Quality</a:t>
            </a:r>
            <a:endParaRPr lang="en-US" sz="773" dirty="0"/>
          </a:p>
        </p:txBody>
      </p:sp>
      <p:sp>
        <p:nvSpPr>
          <p:cNvPr id="26" name="Shape 65"/>
          <p:cNvSpPr/>
          <p:nvPr/>
        </p:nvSpPr>
        <p:spPr>
          <a:xfrm>
            <a:off x="556260" y="3248025"/>
            <a:ext cx="1525250" cy="319087"/>
          </a:xfrm>
          <a:prstGeom prst="roundRect">
            <a:avLst>
              <a:gd name="adj" fmla="val 12305"/>
            </a:avLst>
          </a:prstGeom>
          <a:solidFill>
            <a:srgbClr val="EAF6EA"/>
          </a:solidFill>
          <a:ln/>
        </p:spPr>
      </p:sp>
      <p:sp>
        <p:nvSpPr>
          <p:cNvPr id="27" name="TextBox 66"/>
          <p:cNvSpPr/>
          <p:nvPr/>
        </p:nvSpPr>
        <p:spPr>
          <a:xfrm>
            <a:off x="603885" y="3295650"/>
            <a:ext cx="14300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773"/>
              </a:lnSpc>
              <a:buNone/>
            </a:pPr>
            <a:r>
              <a:rPr lang="en-US" sz="773" b="1" dirty="0">
                <a:solidFill>
                  <a:srgbClr val="008B1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247</a:t>
            </a:r>
            <a:endParaRPr lang="en-US" sz="773" dirty="0"/>
          </a:p>
        </p:txBody>
      </p:sp>
      <p:sp>
        <p:nvSpPr>
          <p:cNvPr id="28" name="TextBox 67"/>
          <p:cNvSpPr/>
          <p:nvPr/>
        </p:nvSpPr>
        <p:spPr>
          <a:xfrm>
            <a:off x="603885" y="3390900"/>
            <a:ext cx="1430000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Good (≥70%)</a:t>
            </a:r>
            <a:endParaRPr lang="en-US" sz="696" dirty="0"/>
          </a:p>
        </p:txBody>
      </p:sp>
      <p:sp>
        <p:nvSpPr>
          <p:cNvPr id="29" name="Shape 69"/>
          <p:cNvSpPr/>
          <p:nvPr/>
        </p:nvSpPr>
        <p:spPr>
          <a:xfrm>
            <a:off x="2129135" y="3248025"/>
            <a:ext cx="1525310" cy="319087"/>
          </a:xfrm>
          <a:prstGeom prst="roundRect">
            <a:avLst>
              <a:gd name="adj" fmla="val 12305"/>
            </a:avLst>
          </a:prstGeom>
          <a:solidFill>
            <a:srgbClr val="F8F1E3"/>
          </a:solidFill>
          <a:ln/>
        </p:spPr>
      </p:sp>
      <p:sp>
        <p:nvSpPr>
          <p:cNvPr id="30" name="TextBox 70"/>
          <p:cNvSpPr/>
          <p:nvPr/>
        </p:nvSpPr>
        <p:spPr>
          <a:xfrm>
            <a:off x="2176760" y="3295650"/>
            <a:ext cx="14300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773"/>
              </a:lnSpc>
              <a:buNone/>
            </a:pPr>
            <a:r>
              <a:rPr lang="en-US" sz="773" b="1" dirty="0">
                <a:solidFill>
                  <a:srgbClr val="C082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265</a:t>
            </a:r>
            <a:endParaRPr lang="en-US" sz="773" dirty="0"/>
          </a:p>
        </p:txBody>
      </p:sp>
      <p:sp>
        <p:nvSpPr>
          <p:cNvPr id="31" name="TextBox 71"/>
          <p:cNvSpPr/>
          <p:nvPr/>
        </p:nvSpPr>
        <p:spPr>
          <a:xfrm>
            <a:off x="2176760" y="3390900"/>
            <a:ext cx="1430059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Fair (40-70%)</a:t>
            </a:r>
            <a:endParaRPr lang="en-US" sz="696" dirty="0"/>
          </a:p>
        </p:txBody>
      </p:sp>
      <p:sp>
        <p:nvSpPr>
          <p:cNvPr id="32" name="Shape 73"/>
          <p:cNvSpPr/>
          <p:nvPr/>
        </p:nvSpPr>
        <p:spPr>
          <a:xfrm>
            <a:off x="3702070" y="3248025"/>
            <a:ext cx="1525250" cy="319087"/>
          </a:xfrm>
          <a:prstGeom prst="roundRect">
            <a:avLst>
              <a:gd name="adj" fmla="val 12305"/>
            </a:avLst>
          </a:prstGeom>
          <a:solidFill>
            <a:srgbClr val="FFEDEA"/>
          </a:solidFill>
          <a:ln/>
        </p:spPr>
      </p:sp>
      <p:sp>
        <p:nvSpPr>
          <p:cNvPr id="33" name="TextBox 74"/>
          <p:cNvSpPr/>
          <p:nvPr/>
        </p:nvSpPr>
        <p:spPr>
          <a:xfrm>
            <a:off x="3749695" y="3295650"/>
            <a:ext cx="14300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773"/>
              </a:lnSpc>
              <a:buNone/>
            </a:pPr>
            <a:r>
              <a:rPr lang="en-US" sz="773" b="1" dirty="0">
                <a:solidFill>
                  <a:srgbClr val="BA0D0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140</a:t>
            </a:r>
            <a:endParaRPr lang="en-US" sz="773" dirty="0"/>
          </a:p>
        </p:txBody>
      </p:sp>
      <p:sp>
        <p:nvSpPr>
          <p:cNvPr id="34" name="TextBox 75"/>
          <p:cNvSpPr/>
          <p:nvPr/>
        </p:nvSpPr>
        <p:spPr>
          <a:xfrm>
            <a:off x="3749695" y="3390900"/>
            <a:ext cx="1430000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Poor (&lt;40%)</a:t>
            </a:r>
            <a:endParaRPr lang="en-US" sz="696" dirty="0"/>
          </a:p>
        </p:txBody>
      </p:sp>
      <p:pic>
        <p:nvPicPr>
          <p:cNvPr id="35" name="Picture 79" descr="__type_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742372"/>
            <a:ext cx="4869180" cy="1143000"/>
          </a:xfrm>
          <a:prstGeom prst="rect">
            <a:avLst/>
          </a:prstGeom>
        </p:spPr>
      </p:pic>
      <p:sp>
        <p:nvSpPr>
          <p:cNvPr id="36" name="Shape 84"/>
          <p:cNvSpPr/>
          <p:nvPr/>
        </p:nvSpPr>
        <p:spPr>
          <a:xfrm>
            <a:off x="5440679" y="1343977"/>
            <a:ext cx="3246120" cy="1693069"/>
          </a:xfrm>
          <a:prstGeom prst="roundRect">
            <a:avLst>
              <a:gd name="adj" fmla="val 3479"/>
            </a:avLst>
          </a:prstGeom>
          <a:solidFill>
            <a:srgbClr val="FFFFFF"/>
          </a:solidFill>
          <a:ln/>
        </p:spPr>
      </p:sp>
      <p:pic>
        <p:nvPicPr>
          <p:cNvPr id="37" name="Picture 84" descr="__type_image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40679" y="1343977"/>
            <a:ext cx="3246120" cy="1693069"/>
          </a:xfrm>
          <a:prstGeom prst="rect">
            <a:avLst/>
          </a:prstGeom>
        </p:spPr>
      </p:pic>
      <p:sp>
        <p:nvSpPr>
          <p:cNvPr id="38" name="TextBox 86"/>
          <p:cNvSpPr/>
          <p:nvPr/>
        </p:nvSpPr>
        <p:spPr>
          <a:xfrm>
            <a:off x="5539739" y="1450657"/>
            <a:ext cx="30480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5"/>
              </a:lnSpc>
              <a:buNone/>
            </a:pPr>
            <a:r>
              <a:rPr lang="en-US" sz="773" b="1" spc="-8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MCP Server Integration</a:t>
            </a:r>
            <a:endParaRPr lang="en-US" sz="773" dirty="0"/>
          </a:p>
        </p:txBody>
      </p:sp>
      <p:sp>
        <p:nvSpPr>
          <p:cNvPr id="39" name="TextBox 88"/>
          <p:cNvSpPr/>
          <p:nvPr/>
        </p:nvSpPr>
        <p:spPr>
          <a:xfrm>
            <a:off x="5539739" y="1622107"/>
            <a:ext cx="3048001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OrchestrationModule manages child MCP servers. Reads config from </a:t>
            </a:r>
            <a:r>
              <a:rPr lang="en-US" sz="464" dirty="0">
                <a:solidFill>
                  <a:srgbClr val="6A6F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orchestration.json</a:t>
            </a: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, supports 3 transports: </a:t>
            </a:r>
            <a:r>
              <a:rPr lang="en-US" sz="541" b="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httpStream</a:t>
            </a: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, </a:t>
            </a:r>
            <a:r>
              <a:rPr lang="en-US" sz="541" b="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SSE</a:t>
            </a: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, </a:t>
            </a:r>
            <a:r>
              <a:rPr lang="en-US" sz="541" b="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stdio</a:t>
            </a: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</a:t>
            </a:r>
            <a:endParaRPr lang="en-US" sz="541" dirty="0"/>
          </a:p>
        </p:txBody>
      </p:sp>
      <p:sp>
        <p:nvSpPr>
          <p:cNvPr id="40" name="TextBox 90"/>
          <p:cNvSpPr/>
          <p:nvPr/>
        </p:nvSpPr>
        <p:spPr>
          <a:xfrm>
            <a:off x="5539739" y="1873567"/>
            <a:ext cx="3048001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 LLM Providers:</a:t>
            </a:r>
            <a:endParaRPr lang="en-US" sz="696" dirty="0"/>
          </a:p>
        </p:txBody>
      </p:sp>
      <p:sp>
        <p:nvSpPr>
          <p:cNvPr id="41" name="Shape 94"/>
          <p:cNvSpPr/>
          <p:nvPr/>
        </p:nvSpPr>
        <p:spPr>
          <a:xfrm>
            <a:off x="5539739" y="2030730"/>
            <a:ext cx="3048001" cy="140494"/>
          </a:xfrm>
          <a:prstGeom prst="roundRect">
            <a:avLst>
              <a:gd name="adj" fmla="val 20960"/>
            </a:avLst>
          </a:prstGeom>
          <a:solidFill>
            <a:srgbClr val="FAFCFD"/>
          </a:solidFill>
          <a:ln/>
        </p:spPr>
      </p:sp>
      <p:sp>
        <p:nvSpPr>
          <p:cNvPr id="42" name="TextBox 96"/>
          <p:cNvSpPr/>
          <p:nvPr/>
        </p:nvSpPr>
        <p:spPr>
          <a:xfrm>
            <a:off x="5587365" y="2054542"/>
            <a:ext cx="198656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502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Ollama</a:t>
            </a:r>
            <a:endParaRPr lang="en-US" sz="502" dirty="0"/>
          </a:p>
        </p:txBody>
      </p:sp>
      <p:sp>
        <p:nvSpPr>
          <p:cNvPr id="43" name="TextBox 98"/>
          <p:cNvSpPr/>
          <p:nvPr/>
        </p:nvSpPr>
        <p:spPr>
          <a:xfrm>
            <a:off x="8187809" y="2054542"/>
            <a:ext cx="352306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502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Local, no key</a:t>
            </a:r>
            <a:endParaRPr lang="en-US" sz="502" dirty="0"/>
          </a:p>
        </p:txBody>
      </p:sp>
      <p:sp>
        <p:nvSpPr>
          <p:cNvPr id="44" name="Shape 101"/>
          <p:cNvSpPr/>
          <p:nvPr/>
        </p:nvSpPr>
        <p:spPr>
          <a:xfrm>
            <a:off x="5539739" y="2190274"/>
            <a:ext cx="3048001" cy="140494"/>
          </a:xfrm>
          <a:prstGeom prst="roundRect">
            <a:avLst>
              <a:gd name="adj" fmla="val 20960"/>
            </a:avLst>
          </a:prstGeom>
          <a:solidFill>
            <a:srgbClr val="FAFCFD"/>
          </a:solidFill>
          <a:ln/>
        </p:spPr>
      </p:sp>
      <p:sp>
        <p:nvSpPr>
          <p:cNvPr id="45" name="TextBox 103"/>
          <p:cNvSpPr/>
          <p:nvPr/>
        </p:nvSpPr>
        <p:spPr>
          <a:xfrm>
            <a:off x="5587365" y="2214086"/>
            <a:ext cx="488335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502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Anthropic Claude</a:t>
            </a:r>
            <a:endParaRPr lang="en-US" sz="502" dirty="0"/>
          </a:p>
        </p:txBody>
      </p:sp>
      <p:sp>
        <p:nvSpPr>
          <p:cNvPr id="46" name="TextBox 105"/>
          <p:cNvSpPr/>
          <p:nvPr/>
        </p:nvSpPr>
        <p:spPr>
          <a:xfrm>
            <a:off x="8338959" y="2214086"/>
            <a:ext cx="201157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502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API key</a:t>
            </a:r>
            <a:endParaRPr lang="en-US" sz="502" dirty="0"/>
          </a:p>
        </p:txBody>
      </p:sp>
      <p:sp>
        <p:nvSpPr>
          <p:cNvPr id="47" name="Shape 108"/>
          <p:cNvSpPr/>
          <p:nvPr/>
        </p:nvSpPr>
        <p:spPr>
          <a:xfrm>
            <a:off x="5539739" y="2349817"/>
            <a:ext cx="3048001" cy="140494"/>
          </a:xfrm>
          <a:prstGeom prst="roundRect">
            <a:avLst>
              <a:gd name="adj" fmla="val 20960"/>
            </a:avLst>
          </a:prstGeom>
          <a:solidFill>
            <a:srgbClr val="FAFCFD"/>
          </a:solidFill>
          <a:ln/>
        </p:spPr>
      </p:sp>
      <p:sp>
        <p:nvSpPr>
          <p:cNvPr id="48" name="TextBox 110"/>
          <p:cNvSpPr/>
          <p:nvPr/>
        </p:nvSpPr>
        <p:spPr>
          <a:xfrm>
            <a:off x="5587365" y="2373630"/>
            <a:ext cx="343317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502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OpenAI GPT</a:t>
            </a:r>
            <a:endParaRPr lang="en-US" sz="502" dirty="0"/>
          </a:p>
        </p:txBody>
      </p:sp>
      <p:sp>
        <p:nvSpPr>
          <p:cNvPr id="49" name="TextBox 112"/>
          <p:cNvSpPr/>
          <p:nvPr/>
        </p:nvSpPr>
        <p:spPr>
          <a:xfrm>
            <a:off x="8338959" y="2373630"/>
            <a:ext cx="201157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502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API key</a:t>
            </a:r>
            <a:endParaRPr lang="en-US" sz="502" dirty="0"/>
          </a:p>
        </p:txBody>
      </p:sp>
      <p:sp>
        <p:nvSpPr>
          <p:cNvPr id="50" name="Shape 115"/>
          <p:cNvSpPr/>
          <p:nvPr/>
        </p:nvSpPr>
        <p:spPr>
          <a:xfrm>
            <a:off x="5539739" y="2509361"/>
            <a:ext cx="3048001" cy="140494"/>
          </a:xfrm>
          <a:prstGeom prst="roundRect">
            <a:avLst>
              <a:gd name="adj" fmla="val 20960"/>
            </a:avLst>
          </a:prstGeom>
          <a:solidFill>
            <a:srgbClr val="FAFCFD"/>
          </a:solidFill>
          <a:ln/>
        </p:spPr>
      </p:sp>
      <p:sp>
        <p:nvSpPr>
          <p:cNvPr id="51" name="TextBox 117"/>
          <p:cNvSpPr/>
          <p:nvPr/>
        </p:nvSpPr>
        <p:spPr>
          <a:xfrm>
            <a:off x="5587365" y="2533174"/>
            <a:ext cx="340936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502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OpenRouter</a:t>
            </a:r>
            <a:endParaRPr lang="en-US" sz="502" dirty="0"/>
          </a:p>
        </p:txBody>
      </p:sp>
      <p:sp>
        <p:nvSpPr>
          <p:cNvPr id="52" name="TextBox 119"/>
          <p:cNvSpPr/>
          <p:nvPr/>
        </p:nvSpPr>
        <p:spPr>
          <a:xfrm>
            <a:off x="8200311" y="2533174"/>
            <a:ext cx="339804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502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Multi-model</a:t>
            </a:r>
            <a:endParaRPr lang="en-US" sz="502" dirty="0"/>
          </a:p>
        </p:txBody>
      </p:sp>
      <p:sp>
        <p:nvSpPr>
          <p:cNvPr id="53" name="Shape 122"/>
          <p:cNvSpPr/>
          <p:nvPr/>
        </p:nvSpPr>
        <p:spPr>
          <a:xfrm>
            <a:off x="5539739" y="2668905"/>
            <a:ext cx="3048001" cy="140494"/>
          </a:xfrm>
          <a:prstGeom prst="roundRect">
            <a:avLst>
              <a:gd name="adj" fmla="val 20960"/>
            </a:avLst>
          </a:prstGeom>
          <a:solidFill>
            <a:srgbClr val="FAFCFD"/>
          </a:solidFill>
          <a:ln/>
        </p:spPr>
      </p:sp>
      <p:sp>
        <p:nvSpPr>
          <p:cNvPr id="54" name="TextBox 124"/>
          <p:cNvSpPr/>
          <p:nvPr/>
        </p:nvSpPr>
        <p:spPr>
          <a:xfrm>
            <a:off x="5587365" y="2692717"/>
            <a:ext cx="525185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502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LM Studio / ONNX</a:t>
            </a:r>
            <a:endParaRPr lang="en-US" sz="502" dirty="0"/>
          </a:p>
        </p:txBody>
      </p:sp>
      <p:sp>
        <p:nvSpPr>
          <p:cNvPr id="55" name="TextBox 126"/>
          <p:cNvSpPr/>
          <p:nvPr/>
        </p:nvSpPr>
        <p:spPr>
          <a:xfrm>
            <a:off x="8267045" y="2692717"/>
            <a:ext cx="273070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502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Local CPU</a:t>
            </a:r>
            <a:endParaRPr lang="en-US" sz="502" dirty="0"/>
          </a:p>
        </p:txBody>
      </p:sp>
      <p:sp>
        <p:nvSpPr>
          <p:cNvPr id="56" name="TextBox 132"/>
          <p:cNvSpPr/>
          <p:nvPr/>
        </p:nvSpPr>
        <p:spPr>
          <a:xfrm>
            <a:off x="5539739" y="2847499"/>
            <a:ext cx="553641" cy="90488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Form/JSON editor</a:t>
            </a:r>
            <a:endParaRPr lang="en-US" sz="425" dirty="0"/>
          </a:p>
        </p:txBody>
      </p:sp>
      <p:sp>
        <p:nvSpPr>
          <p:cNvPr id="57" name="TextBox 134"/>
          <p:cNvSpPr/>
          <p:nvPr/>
        </p:nvSpPr>
        <p:spPr>
          <a:xfrm>
            <a:off x="6112430" y="2847499"/>
            <a:ext cx="389096" cy="90488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Tool toggle</a:t>
            </a:r>
            <a:endParaRPr lang="en-US" sz="425" dirty="0"/>
          </a:p>
        </p:txBody>
      </p:sp>
      <p:sp>
        <p:nvSpPr>
          <p:cNvPr id="58" name="TextBox 136"/>
          <p:cNvSpPr/>
          <p:nvPr/>
        </p:nvSpPr>
        <p:spPr>
          <a:xfrm>
            <a:off x="6520576" y="2847499"/>
            <a:ext cx="325874" cy="90488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Live logs</a:t>
            </a:r>
            <a:endParaRPr lang="en-US" sz="425" dirty="0"/>
          </a:p>
        </p:txBody>
      </p:sp>
      <p:sp>
        <p:nvSpPr>
          <p:cNvPr id="59" name="TextBox 138"/>
          <p:cNvSpPr/>
          <p:nvPr/>
        </p:nvSpPr>
        <p:spPr>
          <a:xfrm>
            <a:off x="6865500" y="2847499"/>
            <a:ext cx="577037" cy="90488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McpClientManager</a:t>
            </a:r>
            <a:endParaRPr lang="en-US" sz="425" dirty="0"/>
          </a:p>
        </p:txBody>
      </p:sp>
      <p:pic>
        <p:nvPicPr>
          <p:cNvPr id="60" name="Picture 142" descr="__type_ima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79" y="3113246"/>
            <a:ext cx="3246120" cy="1047750"/>
          </a:xfrm>
          <a:prstGeom prst="rect">
            <a:avLst/>
          </a:prstGeom>
        </p:spPr>
      </p:pic>
      <p:sp>
        <p:nvSpPr>
          <p:cNvPr id="61" name="Shape 146"/>
          <p:cNvSpPr/>
          <p:nvPr/>
        </p:nvSpPr>
        <p:spPr>
          <a:xfrm>
            <a:off x="457200" y="4730115"/>
            <a:ext cx="8229600" cy="184785"/>
          </a:xfrm>
          <a:prstGeom prst="rect">
            <a:avLst/>
          </a:prstGeom>
          <a:noFill/>
          <a:ln/>
        </p:spPr>
      </p:sp>
      <p:pic>
        <p:nvPicPr>
          <p:cNvPr id="62" name="Picture 146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" y="4730115"/>
            <a:ext cx="8229600" cy="184785"/>
          </a:xfrm>
          <a:prstGeom prst="rect">
            <a:avLst/>
          </a:prstGeom>
        </p:spPr>
      </p:pic>
      <p:sp>
        <p:nvSpPr>
          <p:cNvPr id="63" name="TextBox 148"/>
          <p:cNvSpPr/>
          <p:nvPr/>
        </p:nvSpPr>
        <p:spPr>
          <a:xfrm>
            <a:off x="457200" y="4848225"/>
            <a:ext cx="80170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41"/>
              </a:lnSpc>
              <a:buNone/>
            </a:pPr>
            <a:r>
              <a:rPr lang="en-US" sz="541" dirty="0">
                <a:solidFill>
                  <a:srgbClr val="9A9FA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SDLC Agents For Enterprise</a:t>
            </a:r>
            <a:endParaRPr lang="en-US" sz="541" dirty="0"/>
          </a:p>
        </p:txBody>
      </p:sp>
      <p:sp>
        <p:nvSpPr>
          <p:cNvPr id="64" name="TextBox 150"/>
          <p:cNvSpPr/>
          <p:nvPr/>
        </p:nvSpPr>
        <p:spPr>
          <a:xfrm>
            <a:off x="8170069" y="4850606"/>
            <a:ext cx="516731" cy="61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02"/>
              </a:lnSpc>
              <a:buNone/>
            </a:pPr>
            <a:r>
              <a:rPr lang="en-US" sz="502" spc="35" kern="0" dirty="0">
                <a:solidFill>
                  <a:srgbClr val="1779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ANALYTICS &amp; AI</a:t>
            </a:r>
            <a:endParaRPr lang="en-US" sz="502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D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D"/>
          </a:solidFill>
          <a:ln/>
        </p:spPr>
      </p:sp>
      <p:sp>
        <p:nvSpPr>
          <p:cNvPr id="4" name="TextBox 6"/>
          <p:cNvSpPr/>
          <p:nvPr/>
        </p:nvSpPr>
        <p:spPr>
          <a:xfrm>
            <a:off x="457200" y="342900"/>
            <a:ext cx="486370" cy="93345"/>
          </a:xfrm>
          <a:prstGeom prst="roundRect">
            <a:avLst>
              <a:gd name="adj" fmla="val 26289"/>
            </a:avLst>
          </a:prstGeom>
          <a:solidFill>
            <a:srgbClr val="1779E1"/>
          </a:solidFill>
          <a:ln w="3926">
            <a:solidFill>
              <a:srgbClr val="1779E1"/>
            </a:solidFill>
            <a:prstDash val="solid"/>
          </a:ln>
        </p:spPr>
        <p:txBody>
          <a:bodyPr wrap="square" lIns="49079" tIns="14724" rIns="49079" bIns="14724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19 Permissions</a:t>
            </a:r>
            <a:endParaRPr lang="en-US" sz="464" dirty="0"/>
          </a:p>
        </p:txBody>
      </p:sp>
      <p:sp>
        <p:nvSpPr>
          <p:cNvPr id="5" name="TextBox 8"/>
          <p:cNvSpPr/>
          <p:nvPr/>
        </p:nvSpPr>
        <p:spPr>
          <a:xfrm>
            <a:off x="1000720" y="342900"/>
            <a:ext cx="503694" cy="93345"/>
          </a:xfrm>
          <a:prstGeom prst="roundRect">
            <a:avLst>
              <a:gd name="adj" fmla="val 26289"/>
            </a:avLst>
          </a:prstGeom>
          <a:solidFill>
            <a:srgbClr val="008B1D"/>
          </a:solidFill>
          <a:ln w="3926">
            <a:solidFill>
              <a:srgbClr val="008B1D"/>
            </a:solidFill>
            <a:prstDash val="solid"/>
          </a:ln>
        </p:spPr>
        <p:txBody>
          <a:bodyPr wrap="square" lIns="49079" tIns="14724" rIns="49079" bIns="14724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 RBAC Groups</a:t>
            </a:r>
            <a:endParaRPr lang="en-US" sz="464" dirty="0"/>
          </a:p>
        </p:txBody>
      </p:sp>
      <p:sp>
        <p:nvSpPr>
          <p:cNvPr id="6" name="TextBox 10"/>
          <p:cNvSpPr/>
          <p:nvPr/>
        </p:nvSpPr>
        <p:spPr>
          <a:xfrm>
            <a:off x="1561564" y="342900"/>
            <a:ext cx="295870" cy="93345"/>
          </a:xfrm>
          <a:prstGeom prst="roundRect">
            <a:avLst>
              <a:gd name="adj" fmla="val 26289"/>
            </a:avLst>
          </a:prstGeom>
          <a:solidFill>
            <a:srgbClr val="C08200"/>
          </a:solidFill>
          <a:ln w="3926">
            <a:solidFill>
              <a:srgbClr val="C08200"/>
            </a:solidFill>
            <a:prstDash val="solid"/>
          </a:ln>
        </p:spPr>
        <p:txBody>
          <a:bodyPr wrap="square" lIns="49079" tIns="14724" rIns="49079" bIns="14724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 Users</a:t>
            </a:r>
            <a:endParaRPr lang="en-US" sz="464" dirty="0"/>
          </a:p>
        </p:txBody>
      </p:sp>
      <p:sp>
        <p:nvSpPr>
          <p:cNvPr id="7" name="TextBox 13"/>
          <p:cNvSpPr/>
          <p:nvPr/>
        </p:nvSpPr>
        <p:spPr>
          <a:xfrm>
            <a:off x="457200" y="474345"/>
            <a:ext cx="822960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855" b="1" spc="-37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Granular Access Control</a:t>
            </a:r>
            <a:endParaRPr lang="en-US" sz="1855" dirty="0"/>
          </a:p>
        </p:txBody>
      </p:sp>
      <p:sp>
        <p:nvSpPr>
          <p:cNvPr id="8" name="TextBox 15"/>
          <p:cNvSpPr/>
          <p:nvPr/>
        </p:nvSpPr>
        <p:spPr>
          <a:xfrm>
            <a:off x="457200" y="813435"/>
            <a:ext cx="4191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19 granular permissions with role CRUD per permission. Group system (System Owner cannot be deleted), cascade constraint (GROUP_HAS_USERS), and auto cache invalidation.</a:t>
            </a:r>
            <a:endParaRPr lang="en-US" sz="850" dirty="0"/>
          </a:p>
        </p:txBody>
      </p:sp>
      <p:sp>
        <p:nvSpPr>
          <p:cNvPr id="9" name="TextBox 20"/>
          <p:cNvSpPr/>
          <p:nvPr/>
        </p:nvSpPr>
        <p:spPr>
          <a:xfrm>
            <a:off x="457200" y="1356360"/>
            <a:ext cx="666750" cy="9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7"/>
              </a:lnSpc>
              <a:buNone/>
            </a:pPr>
            <a:r>
              <a:rPr lang="en-US" sz="541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DASHBOARD_VIEW</a:t>
            </a:r>
            <a:endParaRPr lang="en-US" sz="541" dirty="0"/>
          </a:p>
        </p:txBody>
      </p:sp>
      <p:sp>
        <p:nvSpPr>
          <p:cNvPr id="10" name="TextBox 21"/>
          <p:cNvSpPr/>
          <p:nvPr/>
        </p:nvSpPr>
        <p:spPr>
          <a:xfrm>
            <a:off x="1162050" y="1356360"/>
            <a:ext cx="574060" cy="86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502" dirty="0">
                <a:solidFill>
                  <a:srgbClr val="82878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exportAllowed (bool)</a:t>
            </a:r>
            <a:endParaRPr lang="en-US" sz="502" dirty="0"/>
          </a:p>
        </p:txBody>
      </p:sp>
      <p:sp>
        <p:nvSpPr>
          <p:cNvPr id="11" name="TextBox 24"/>
          <p:cNvSpPr/>
          <p:nvPr/>
        </p:nvSpPr>
        <p:spPr>
          <a:xfrm>
            <a:off x="4648200" y="1356360"/>
            <a:ext cx="666750" cy="9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7"/>
              </a:lnSpc>
              <a:buNone/>
            </a:pPr>
            <a:r>
              <a:rPr lang="en-US" sz="541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KB_READ</a:t>
            </a:r>
            <a:endParaRPr lang="en-US" sz="541" dirty="0"/>
          </a:p>
        </p:txBody>
      </p:sp>
      <p:sp>
        <p:nvSpPr>
          <p:cNvPr id="12" name="TextBox 25"/>
          <p:cNvSpPr/>
          <p:nvPr/>
        </p:nvSpPr>
        <p:spPr>
          <a:xfrm>
            <a:off x="5353050" y="1356360"/>
            <a:ext cx="1055548" cy="86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502" dirty="0">
                <a:solidFill>
                  <a:srgbClr val="82878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allowedTiers (USER/PROJECT/SHARED)</a:t>
            </a:r>
            <a:endParaRPr lang="en-US" sz="502" dirty="0"/>
          </a:p>
        </p:txBody>
      </p:sp>
      <p:sp>
        <p:nvSpPr>
          <p:cNvPr id="13" name="TextBox 28"/>
          <p:cNvSpPr/>
          <p:nvPr/>
        </p:nvSpPr>
        <p:spPr>
          <a:xfrm>
            <a:off x="457200" y="1497330"/>
            <a:ext cx="666750" cy="9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7"/>
              </a:lnSpc>
              <a:buNone/>
            </a:pPr>
            <a:r>
              <a:rPr lang="en-US" sz="541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KB_WRITE</a:t>
            </a:r>
            <a:endParaRPr lang="en-US" sz="541" dirty="0"/>
          </a:p>
        </p:txBody>
      </p:sp>
      <p:sp>
        <p:nvSpPr>
          <p:cNvPr id="14" name="TextBox 29"/>
          <p:cNvSpPr/>
          <p:nvPr/>
        </p:nvSpPr>
        <p:spPr>
          <a:xfrm>
            <a:off x="1162050" y="1497330"/>
            <a:ext cx="1208841" cy="86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502" dirty="0">
                <a:solidFill>
                  <a:srgbClr val="82878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allowedTiers, maxEntries, allowedOperations</a:t>
            </a:r>
            <a:endParaRPr lang="en-US" sz="502" dirty="0"/>
          </a:p>
        </p:txBody>
      </p:sp>
      <p:sp>
        <p:nvSpPr>
          <p:cNvPr id="15" name="TextBox 32"/>
          <p:cNvSpPr/>
          <p:nvPr/>
        </p:nvSpPr>
        <p:spPr>
          <a:xfrm>
            <a:off x="4648200" y="1497330"/>
            <a:ext cx="666750" cy="9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7"/>
              </a:lnSpc>
              <a:buNone/>
            </a:pPr>
            <a:r>
              <a:rPr lang="en-US" sz="541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KB_PROMOTE</a:t>
            </a:r>
            <a:endParaRPr lang="en-US" sz="541" dirty="0"/>
          </a:p>
        </p:txBody>
      </p:sp>
      <p:sp>
        <p:nvSpPr>
          <p:cNvPr id="16" name="TextBox 33"/>
          <p:cNvSpPr/>
          <p:nvPr/>
        </p:nvSpPr>
        <p:spPr>
          <a:xfrm>
            <a:off x="5353050" y="1497330"/>
            <a:ext cx="595729" cy="86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502" dirty="0">
                <a:solidFill>
                  <a:srgbClr val="82878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targetTiers (enum list)</a:t>
            </a:r>
            <a:endParaRPr lang="en-US" sz="502" dirty="0"/>
          </a:p>
        </p:txBody>
      </p:sp>
      <p:sp>
        <p:nvSpPr>
          <p:cNvPr id="17" name="TextBox 36"/>
          <p:cNvSpPr/>
          <p:nvPr/>
        </p:nvSpPr>
        <p:spPr>
          <a:xfrm>
            <a:off x="457200" y="1638300"/>
            <a:ext cx="666750" cy="9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7"/>
              </a:lnSpc>
              <a:buNone/>
            </a:pPr>
            <a:r>
              <a:rPr lang="en-US" sz="541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KB_IMPORT_EXPORT</a:t>
            </a:r>
            <a:endParaRPr lang="en-US" sz="541" dirty="0"/>
          </a:p>
        </p:txBody>
      </p:sp>
      <p:sp>
        <p:nvSpPr>
          <p:cNvPr id="18" name="TextBox 37"/>
          <p:cNvSpPr/>
          <p:nvPr/>
        </p:nvSpPr>
        <p:spPr>
          <a:xfrm>
            <a:off x="1162050" y="1638300"/>
            <a:ext cx="1137166" cy="86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502" dirty="0">
                <a:solidFill>
                  <a:srgbClr val="82878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allowedFormats, allowImport, allowExport</a:t>
            </a:r>
            <a:endParaRPr lang="en-US" sz="502" dirty="0"/>
          </a:p>
        </p:txBody>
      </p:sp>
      <p:sp>
        <p:nvSpPr>
          <p:cNvPr id="19" name="TextBox 40"/>
          <p:cNvSpPr/>
          <p:nvPr/>
        </p:nvSpPr>
        <p:spPr>
          <a:xfrm>
            <a:off x="4648200" y="1638300"/>
            <a:ext cx="666750" cy="9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7"/>
              </a:lnSpc>
              <a:buNone/>
            </a:pPr>
            <a:r>
              <a:rPr lang="en-US" sz="541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MCP_ACCESS</a:t>
            </a:r>
            <a:endParaRPr lang="en-US" sz="541" dirty="0"/>
          </a:p>
        </p:txBody>
      </p:sp>
      <p:sp>
        <p:nvSpPr>
          <p:cNvPr id="20" name="TextBox 41"/>
          <p:cNvSpPr/>
          <p:nvPr/>
        </p:nvSpPr>
        <p:spPr>
          <a:xfrm>
            <a:off x="5353050" y="1638300"/>
            <a:ext cx="902434" cy="86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502" dirty="0">
                <a:solidFill>
                  <a:srgbClr val="82878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toolAccess (per-server tool table)</a:t>
            </a:r>
            <a:endParaRPr lang="en-US" sz="502" dirty="0"/>
          </a:p>
        </p:txBody>
      </p:sp>
      <p:sp>
        <p:nvSpPr>
          <p:cNvPr id="21" name="TextBox 44"/>
          <p:cNvSpPr/>
          <p:nvPr/>
        </p:nvSpPr>
        <p:spPr>
          <a:xfrm>
            <a:off x="457200" y="1779270"/>
            <a:ext cx="666750" cy="9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7"/>
              </a:lnSpc>
              <a:buNone/>
            </a:pPr>
            <a:r>
              <a:rPr lang="en-US" sz="541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MCP_MANAGE</a:t>
            </a:r>
            <a:endParaRPr lang="en-US" sz="541" dirty="0"/>
          </a:p>
        </p:txBody>
      </p:sp>
      <p:sp>
        <p:nvSpPr>
          <p:cNvPr id="22" name="TextBox 45"/>
          <p:cNvSpPr/>
          <p:nvPr/>
        </p:nvSpPr>
        <p:spPr>
          <a:xfrm>
            <a:off x="1162050" y="1779270"/>
            <a:ext cx="769203" cy="86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502" dirty="0">
                <a:solidFill>
                  <a:srgbClr val="82878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allowAdd, serverPermissions</a:t>
            </a:r>
            <a:endParaRPr lang="en-US" sz="502" dirty="0"/>
          </a:p>
        </p:txBody>
      </p:sp>
      <p:sp>
        <p:nvSpPr>
          <p:cNvPr id="23" name="TextBox 48"/>
          <p:cNvSpPr/>
          <p:nvPr/>
        </p:nvSpPr>
        <p:spPr>
          <a:xfrm>
            <a:off x="4648200" y="1779270"/>
            <a:ext cx="666750" cy="9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7"/>
              </a:lnSpc>
              <a:buNone/>
            </a:pPr>
            <a:r>
              <a:rPr lang="en-US" sz="541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USER_MANAGE</a:t>
            </a:r>
            <a:endParaRPr lang="en-US" sz="541" dirty="0"/>
          </a:p>
        </p:txBody>
      </p:sp>
      <p:sp>
        <p:nvSpPr>
          <p:cNvPr id="24" name="TextBox 49"/>
          <p:cNvSpPr/>
          <p:nvPr/>
        </p:nvSpPr>
        <p:spPr>
          <a:xfrm>
            <a:off x="5353050" y="1779270"/>
            <a:ext cx="1065847" cy="86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502" dirty="0">
                <a:solidFill>
                  <a:srgbClr val="82878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canDelete, canForceLogout, canDisable</a:t>
            </a:r>
            <a:endParaRPr lang="en-US" sz="502" dirty="0"/>
          </a:p>
        </p:txBody>
      </p:sp>
      <p:sp>
        <p:nvSpPr>
          <p:cNvPr id="25" name="TextBox 52"/>
          <p:cNvSpPr/>
          <p:nvPr/>
        </p:nvSpPr>
        <p:spPr>
          <a:xfrm>
            <a:off x="457200" y="1920240"/>
            <a:ext cx="666750" cy="9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7"/>
              </a:lnSpc>
              <a:buNone/>
            </a:pPr>
            <a:r>
              <a:rPr lang="en-US" sz="541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RBAC_MANAGE</a:t>
            </a:r>
            <a:endParaRPr lang="en-US" sz="541" dirty="0"/>
          </a:p>
        </p:txBody>
      </p:sp>
      <p:sp>
        <p:nvSpPr>
          <p:cNvPr id="26" name="TextBox 53"/>
          <p:cNvSpPr/>
          <p:nvPr/>
        </p:nvSpPr>
        <p:spPr>
          <a:xfrm>
            <a:off x="1162050" y="1920240"/>
            <a:ext cx="1252775" cy="86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502" dirty="0">
                <a:solidFill>
                  <a:srgbClr val="82878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canDeleteSystemGroups, canEditSystemPerms</a:t>
            </a:r>
            <a:endParaRPr lang="en-US" sz="502" dirty="0"/>
          </a:p>
        </p:txBody>
      </p:sp>
      <p:sp>
        <p:nvSpPr>
          <p:cNvPr id="27" name="TextBox 56"/>
          <p:cNvSpPr/>
          <p:nvPr/>
        </p:nvSpPr>
        <p:spPr>
          <a:xfrm>
            <a:off x="4648200" y="1920240"/>
            <a:ext cx="666750" cy="9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7"/>
              </a:lnSpc>
              <a:buNone/>
            </a:pPr>
            <a:r>
              <a:rPr lang="en-US" sz="541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CONFIG_EDIT</a:t>
            </a:r>
            <a:endParaRPr lang="en-US" sz="541" dirty="0"/>
          </a:p>
        </p:txBody>
      </p:sp>
      <p:sp>
        <p:nvSpPr>
          <p:cNvPr id="28" name="TextBox 57"/>
          <p:cNvSpPr/>
          <p:nvPr/>
        </p:nvSpPr>
        <p:spPr>
          <a:xfrm>
            <a:off x="5353050" y="1920240"/>
            <a:ext cx="1022033" cy="86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502" dirty="0">
                <a:solidFill>
                  <a:srgbClr val="82878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allowedSections (enum list), readOnly</a:t>
            </a:r>
            <a:endParaRPr lang="en-US" sz="502" dirty="0"/>
          </a:p>
        </p:txBody>
      </p:sp>
      <p:sp>
        <p:nvSpPr>
          <p:cNvPr id="29" name="TextBox 60"/>
          <p:cNvSpPr/>
          <p:nvPr/>
        </p:nvSpPr>
        <p:spPr>
          <a:xfrm>
            <a:off x="457200" y="2061210"/>
            <a:ext cx="666750" cy="9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7"/>
              </a:lnSpc>
              <a:buNone/>
            </a:pPr>
            <a:r>
              <a:rPr lang="en-US" sz="541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CONFIG_VIEW</a:t>
            </a:r>
            <a:endParaRPr lang="en-US" sz="541" dirty="0"/>
          </a:p>
        </p:txBody>
      </p:sp>
      <p:sp>
        <p:nvSpPr>
          <p:cNvPr id="30" name="TextBox 61"/>
          <p:cNvSpPr/>
          <p:nvPr/>
        </p:nvSpPr>
        <p:spPr>
          <a:xfrm>
            <a:off x="1162050" y="2061210"/>
            <a:ext cx="438805" cy="86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502" dirty="0">
                <a:solidFill>
                  <a:srgbClr val="82878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allowedSections</a:t>
            </a:r>
            <a:endParaRPr lang="en-US" sz="502" dirty="0"/>
          </a:p>
        </p:txBody>
      </p:sp>
      <p:sp>
        <p:nvSpPr>
          <p:cNvPr id="31" name="TextBox 64"/>
          <p:cNvSpPr/>
          <p:nvPr/>
        </p:nvSpPr>
        <p:spPr>
          <a:xfrm>
            <a:off x="4648200" y="2061210"/>
            <a:ext cx="666750" cy="9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7"/>
              </a:lnSpc>
              <a:buNone/>
            </a:pPr>
            <a:r>
              <a:rPr lang="en-US" sz="541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GRAPH_VIEW</a:t>
            </a:r>
            <a:endParaRPr lang="en-US" sz="541" dirty="0"/>
          </a:p>
        </p:txBody>
      </p:sp>
      <p:sp>
        <p:nvSpPr>
          <p:cNvPr id="32" name="TextBox 65"/>
          <p:cNvSpPr/>
          <p:nvPr/>
        </p:nvSpPr>
        <p:spPr>
          <a:xfrm>
            <a:off x="5353050" y="2061210"/>
            <a:ext cx="395764" cy="86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502" dirty="0">
                <a:solidFill>
                  <a:srgbClr val="82878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exportAllowed</a:t>
            </a:r>
            <a:endParaRPr lang="en-US" sz="502" dirty="0"/>
          </a:p>
        </p:txBody>
      </p:sp>
      <p:sp>
        <p:nvSpPr>
          <p:cNvPr id="33" name="TextBox 68"/>
          <p:cNvSpPr/>
          <p:nvPr/>
        </p:nvSpPr>
        <p:spPr>
          <a:xfrm>
            <a:off x="457200" y="2202180"/>
            <a:ext cx="666750" cy="9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7"/>
              </a:lnSpc>
              <a:buNone/>
            </a:pPr>
            <a:r>
              <a:rPr lang="en-US" sz="541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ANALYTICS_VIEW</a:t>
            </a:r>
            <a:endParaRPr lang="en-US" sz="541" dirty="0"/>
          </a:p>
        </p:txBody>
      </p:sp>
      <p:sp>
        <p:nvSpPr>
          <p:cNvPr id="34" name="TextBox 69"/>
          <p:cNvSpPr/>
          <p:nvPr/>
        </p:nvSpPr>
        <p:spPr>
          <a:xfrm>
            <a:off x="1162050" y="2202180"/>
            <a:ext cx="176153" cy="86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502" dirty="0">
                <a:solidFill>
                  <a:srgbClr val="82878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(none)</a:t>
            </a:r>
            <a:endParaRPr lang="en-US" sz="502" dirty="0"/>
          </a:p>
        </p:txBody>
      </p:sp>
      <p:sp>
        <p:nvSpPr>
          <p:cNvPr id="35" name="TextBox 72"/>
          <p:cNvSpPr/>
          <p:nvPr/>
        </p:nvSpPr>
        <p:spPr>
          <a:xfrm>
            <a:off x="4648200" y="2202180"/>
            <a:ext cx="666750" cy="9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7"/>
              </a:lnSpc>
              <a:buNone/>
            </a:pPr>
            <a:r>
              <a:rPr lang="en-US" sz="541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SEARCH_EXPLORE</a:t>
            </a:r>
            <a:endParaRPr lang="en-US" sz="541" dirty="0"/>
          </a:p>
        </p:txBody>
      </p:sp>
      <p:sp>
        <p:nvSpPr>
          <p:cNvPr id="36" name="TextBox 73"/>
          <p:cNvSpPr/>
          <p:nvPr/>
        </p:nvSpPr>
        <p:spPr>
          <a:xfrm>
            <a:off x="5353050" y="2202180"/>
            <a:ext cx="326231" cy="86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502" dirty="0">
                <a:solidFill>
                  <a:srgbClr val="82878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allowDebug</a:t>
            </a:r>
            <a:endParaRPr lang="en-US" sz="502" dirty="0"/>
          </a:p>
        </p:txBody>
      </p:sp>
      <p:sp>
        <p:nvSpPr>
          <p:cNvPr id="37" name="TextBox 76"/>
          <p:cNvSpPr/>
          <p:nvPr/>
        </p:nvSpPr>
        <p:spPr>
          <a:xfrm>
            <a:off x="457200" y="2343150"/>
            <a:ext cx="666750" cy="9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7"/>
              </a:lnSpc>
              <a:buNone/>
            </a:pPr>
            <a:r>
              <a:rPr lang="en-US" sz="541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AUDIT_VIEW</a:t>
            </a:r>
            <a:endParaRPr lang="en-US" sz="541" dirty="0"/>
          </a:p>
        </p:txBody>
      </p:sp>
      <p:sp>
        <p:nvSpPr>
          <p:cNvPr id="38" name="TextBox 77"/>
          <p:cNvSpPr/>
          <p:nvPr/>
        </p:nvSpPr>
        <p:spPr>
          <a:xfrm>
            <a:off x="1162050" y="2343150"/>
            <a:ext cx="898386" cy="86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502" dirty="0">
                <a:solidFill>
                  <a:srgbClr val="82878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exportAllowed, dateRange (days)</a:t>
            </a:r>
            <a:endParaRPr lang="en-US" sz="502" dirty="0"/>
          </a:p>
        </p:txBody>
      </p:sp>
      <p:sp>
        <p:nvSpPr>
          <p:cNvPr id="39" name="TextBox 80"/>
          <p:cNvSpPr/>
          <p:nvPr/>
        </p:nvSpPr>
        <p:spPr>
          <a:xfrm>
            <a:off x="4648200" y="2343150"/>
            <a:ext cx="666750" cy="9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7"/>
              </a:lnSpc>
              <a:buNone/>
            </a:pPr>
            <a:r>
              <a:rPr lang="en-US" sz="541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PROJECT_MANAGE</a:t>
            </a:r>
            <a:endParaRPr lang="en-US" sz="541" dirty="0"/>
          </a:p>
        </p:txBody>
      </p:sp>
      <p:sp>
        <p:nvSpPr>
          <p:cNvPr id="40" name="TextBox 81"/>
          <p:cNvSpPr/>
          <p:nvPr/>
        </p:nvSpPr>
        <p:spPr>
          <a:xfrm>
            <a:off x="5353050" y="2343150"/>
            <a:ext cx="933629" cy="86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502" dirty="0">
                <a:solidFill>
                  <a:srgbClr val="82878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canCreate, canDelete, maxProjects</a:t>
            </a:r>
            <a:endParaRPr lang="en-US" sz="502" dirty="0"/>
          </a:p>
        </p:txBody>
      </p:sp>
      <p:sp>
        <p:nvSpPr>
          <p:cNvPr id="41" name="TextBox 84"/>
          <p:cNvSpPr/>
          <p:nvPr/>
        </p:nvSpPr>
        <p:spPr>
          <a:xfrm>
            <a:off x="457200" y="2484120"/>
            <a:ext cx="666750" cy="9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7"/>
              </a:lnSpc>
              <a:buNone/>
            </a:pPr>
            <a:r>
              <a:rPr lang="en-US" sz="541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API_KEYS</a:t>
            </a:r>
            <a:endParaRPr lang="en-US" sz="541" dirty="0"/>
          </a:p>
        </p:txBody>
      </p:sp>
      <p:sp>
        <p:nvSpPr>
          <p:cNvPr id="42" name="TextBox 85"/>
          <p:cNvSpPr/>
          <p:nvPr/>
        </p:nvSpPr>
        <p:spPr>
          <a:xfrm>
            <a:off x="1162050" y="2484120"/>
            <a:ext cx="933331" cy="86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502" dirty="0">
                <a:solidFill>
                  <a:srgbClr val="82878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canGenerate, canRevoke, maxKeys</a:t>
            </a:r>
            <a:endParaRPr lang="en-US" sz="502" dirty="0"/>
          </a:p>
        </p:txBody>
      </p:sp>
      <p:sp>
        <p:nvSpPr>
          <p:cNvPr id="43" name="TextBox 88"/>
          <p:cNvSpPr/>
          <p:nvPr/>
        </p:nvSpPr>
        <p:spPr>
          <a:xfrm>
            <a:off x="4648200" y="2484120"/>
            <a:ext cx="666750" cy="9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7"/>
              </a:lnSpc>
              <a:buNone/>
            </a:pPr>
            <a:r>
              <a:rPr lang="en-US" sz="541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IMPERSONATE</a:t>
            </a:r>
            <a:endParaRPr lang="en-US" sz="541" dirty="0"/>
          </a:p>
        </p:txBody>
      </p:sp>
      <p:sp>
        <p:nvSpPr>
          <p:cNvPr id="44" name="TextBox 89"/>
          <p:cNvSpPr/>
          <p:nvPr/>
        </p:nvSpPr>
        <p:spPr>
          <a:xfrm>
            <a:off x="5353050" y="2484120"/>
            <a:ext cx="640021" cy="86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502" dirty="0">
                <a:solidFill>
                  <a:srgbClr val="82878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allowedUsers (whitelist)</a:t>
            </a:r>
            <a:endParaRPr lang="en-US" sz="502" dirty="0"/>
          </a:p>
        </p:txBody>
      </p:sp>
      <p:sp>
        <p:nvSpPr>
          <p:cNvPr id="45" name="TextBox 92"/>
          <p:cNvSpPr/>
          <p:nvPr/>
        </p:nvSpPr>
        <p:spPr>
          <a:xfrm>
            <a:off x="457200" y="2625090"/>
            <a:ext cx="666750" cy="9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57"/>
              </a:lnSpc>
              <a:buNone/>
            </a:pPr>
            <a:r>
              <a:rPr lang="en-US" sz="541" b="1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SYSTEM_INFO</a:t>
            </a:r>
            <a:endParaRPr lang="en-US" sz="541" dirty="0"/>
          </a:p>
        </p:txBody>
      </p:sp>
      <p:sp>
        <p:nvSpPr>
          <p:cNvPr id="46" name="TextBox 93"/>
          <p:cNvSpPr/>
          <p:nvPr/>
        </p:nvSpPr>
        <p:spPr>
          <a:xfrm>
            <a:off x="1162050" y="2625090"/>
            <a:ext cx="1331000" cy="86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502" dirty="0">
                <a:solidFill>
                  <a:srgbClr val="82878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canViewLogs, canViewProcesses, canViewMetrics</a:t>
            </a:r>
            <a:endParaRPr lang="en-US" sz="502" dirty="0"/>
          </a:p>
        </p:txBody>
      </p:sp>
      <p:sp>
        <p:nvSpPr>
          <p:cNvPr id="47" name="TextBox 98"/>
          <p:cNvSpPr/>
          <p:nvPr/>
        </p:nvSpPr>
        <p:spPr>
          <a:xfrm>
            <a:off x="457200" y="2843212"/>
            <a:ext cx="377011" cy="90488"/>
          </a:xfrm>
          <a:prstGeom prst="roundRect">
            <a:avLst>
              <a:gd name="adj" fmla="val 32543"/>
            </a:avLst>
          </a:prstGeom>
          <a:solidFill>
            <a:srgbClr val="1779E1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Role CRUD</a:t>
            </a:r>
            <a:endParaRPr lang="en-US" sz="425" dirty="0"/>
          </a:p>
        </p:txBody>
      </p:sp>
      <p:sp>
        <p:nvSpPr>
          <p:cNvPr id="48" name="TextBox 100"/>
          <p:cNvSpPr/>
          <p:nvPr/>
        </p:nvSpPr>
        <p:spPr>
          <a:xfrm>
            <a:off x="862786" y="2843212"/>
            <a:ext cx="711875" cy="90488"/>
          </a:xfrm>
          <a:prstGeom prst="roundRect">
            <a:avLst>
              <a:gd name="adj" fmla="val 32543"/>
            </a:avLst>
          </a:prstGeom>
          <a:solidFill>
            <a:srgbClr val="1779E1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System Owner protected</a:t>
            </a:r>
            <a:endParaRPr lang="en-US" sz="425" dirty="0"/>
          </a:p>
        </p:txBody>
      </p:sp>
      <p:sp>
        <p:nvSpPr>
          <p:cNvPr id="49" name="TextBox 102"/>
          <p:cNvSpPr/>
          <p:nvPr/>
        </p:nvSpPr>
        <p:spPr>
          <a:xfrm>
            <a:off x="1603236" y="2843212"/>
            <a:ext cx="809625" cy="90488"/>
          </a:xfrm>
          <a:prstGeom prst="roundRect">
            <a:avLst>
              <a:gd name="adj" fmla="val 32543"/>
            </a:avLst>
          </a:prstGeom>
          <a:solidFill>
            <a:srgbClr val="1779E1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Cascade GROUP_HAS_USERS</a:t>
            </a:r>
            <a:endParaRPr lang="en-US" sz="425" dirty="0"/>
          </a:p>
        </p:txBody>
      </p:sp>
      <p:sp>
        <p:nvSpPr>
          <p:cNvPr id="50" name="TextBox 104"/>
          <p:cNvSpPr/>
          <p:nvPr/>
        </p:nvSpPr>
        <p:spPr>
          <a:xfrm>
            <a:off x="2441436" y="2843212"/>
            <a:ext cx="510004" cy="90488"/>
          </a:xfrm>
          <a:prstGeom prst="roundRect">
            <a:avLst>
              <a:gd name="adj" fmla="val 32543"/>
            </a:avLst>
          </a:prstGeom>
          <a:solidFill>
            <a:srgbClr val="1779E1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Cache invalidate</a:t>
            </a:r>
            <a:endParaRPr lang="en-US" sz="425" dirty="0"/>
          </a:p>
        </p:txBody>
      </p:sp>
      <p:pic>
        <p:nvPicPr>
          <p:cNvPr id="51" name="Picture 107" descr="__type_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90850"/>
            <a:ext cx="8229600" cy="1809750"/>
          </a:xfrm>
          <a:prstGeom prst="rect">
            <a:avLst/>
          </a:prstGeom>
        </p:spPr>
      </p:pic>
      <p:sp>
        <p:nvSpPr>
          <p:cNvPr id="52" name="Shape 109"/>
          <p:cNvSpPr/>
          <p:nvPr/>
        </p:nvSpPr>
        <p:spPr>
          <a:xfrm>
            <a:off x="457200" y="4730115"/>
            <a:ext cx="8229600" cy="184785"/>
          </a:xfrm>
          <a:prstGeom prst="rect">
            <a:avLst/>
          </a:prstGeom>
          <a:noFill/>
          <a:ln/>
        </p:spPr>
      </p:sp>
      <p:pic>
        <p:nvPicPr>
          <p:cNvPr id="53" name="Picture 109" descr="__type_image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730115"/>
            <a:ext cx="8229600" cy="184785"/>
          </a:xfrm>
          <a:prstGeom prst="rect">
            <a:avLst/>
          </a:prstGeom>
        </p:spPr>
      </p:pic>
      <p:sp>
        <p:nvSpPr>
          <p:cNvPr id="54" name="TextBox 111"/>
          <p:cNvSpPr/>
          <p:nvPr/>
        </p:nvSpPr>
        <p:spPr>
          <a:xfrm>
            <a:off x="457200" y="4848225"/>
            <a:ext cx="80170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41"/>
              </a:lnSpc>
              <a:buNone/>
            </a:pPr>
            <a:r>
              <a:rPr lang="en-US" sz="541" dirty="0">
                <a:solidFill>
                  <a:srgbClr val="9A9FA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SDLC Agents For Enterprise</a:t>
            </a:r>
            <a:endParaRPr lang="en-US" sz="541" dirty="0"/>
          </a:p>
        </p:txBody>
      </p:sp>
      <p:sp>
        <p:nvSpPr>
          <p:cNvPr id="55" name="TextBox 113"/>
          <p:cNvSpPr/>
          <p:nvPr/>
        </p:nvSpPr>
        <p:spPr>
          <a:xfrm>
            <a:off x="8514338" y="4850606"/>
            <a:ext cx="172462" cy="61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02"/>
              </a:lnSpc>
              <a:buNone/>
            </a:pPr>
            <a:r>
              <a:rPr lang="en-US" sz="502" spc="35" kern="0" dirty="0">
                <a:solidFill>
                  <a:srgbClr val="1779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RBAC</a:t>
            </a:r>
            <a:endParaRPr lang="en-US" sz="502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D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D"/>
          </a:solidFill>
          <a:ln/>
        </p:spPr>
      </p:sp>
      <p:sp>
        <p:nvSpPr>
          <p:cNvPr id="4" name="TextBox 4"/>
          <p:cNvSpPr/>
          <p:nvPr/>
        </p:nvSpPr>
        <p:spPr>
          <a:xfrm>
            <a:off x="457200" y="342900"/>
            <a:ext cx="822960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33"/>
              </a:lnSpc>
              <a:buNone/>
            </a:pPr>
            <a:r>
              <a:rPr lang="en-US" sz="1855" b="1" spc="-37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Configuration &amp; Architecture</a:t>
            </a:r>
            <a:endParaRPr lang="en-US" sz="1855" dirty="0"/>
          </a:p>
        </p:txBody>
      </p:sp>
      <p:sp>
        <p:nvSpPr>
          <p:cNvPr id="5" name="TextBox 6"/>
          <p:cNvSpPr/>
          <p:nvPr/>
        </p:nvSpPr>
        <p:spPr>
          <a:xfrm>
            <a:off x="457200" y="681990"/>
            <a:ext cx="361950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3-layer backend architecture (config → engine → admin). Supports 3 database engines (SQLite/PostgreSQL/MySQL), cross-engine migration, and project ID multi-tenant.</a:t>
            </a:r>
            <a:endParaRPr lang="en-US" sz="850" dirty="0"/>
          </a:p>
        </p:txBody>
      </p:sp>
      <p:sp>
        <p:nvSpPr>
          <p:cNvPr id="6" name="Shape 12"/>
          <p:cNvSpPr/>
          <p:nvPr/>
        </p:nvSpPr>
        <p:spPr>
          <a:xfrm>
            <a:off x="457200" y="1343977"/>
            <a:ext cx="4057650" cy="709612"/>
          </a:xfrm>
          <a:prstGeom prst="roundRect">
            <a:avLst>
              <a:gd name="adj" fmla="val 8300"/>
            </a:avLst>
          </a:prstGeom>
          <a:solidFill>
            <a:srgbClr val="FFFFFF"/>
          </a:solidFill>
          <a:ln/>
        </p:spPr>
      </p:sp>
      <p:pic>
        <p:nvPicPr>
          <p:cNvPr id="7" name="Picture 12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343977"/>
            <a:ext cx="4057650" cy="709612"/>
          </a:xfrm>
          <a:prstGeom prst="rect">
            <a:avLst/>
          </a:prstGeom>
        </p:spPr>
      </p:pic>
      <p:sp>
        <p:nvSpPr>
          <p:cNvPr id="8" name="TextBox 14"/>
          <p:cNvSpPr/>
          <p:nvPr/>
        </p:nvSpPr>
        <p:spPr>
          <a:xfrm>
            <a:off x="556260" y="1450657"/>
            <a:ext cx="38595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5"/>
              </a:lnSpc>
              <a:buNone/>
            </a:pPr>
            <a:r>
              <a:rPr lang="en-US" sz="773" b="1" spc="-8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Database Engine</a:t>
            </a:r>
            <a:endParaRPr lang="en-US" sz="773" dirty="0"/>
          </a:p>
        </p:txBody>
      </p:sp>
      <p:sp>
        <p:nvSpPr>
          <p:cNvPr id="9" name="TextBox 16"/>
          <p:cNvSpPr/>
          <p:nvPr/>
        </p:nvSpPr>
        <p:spPr>
          <a:xfrm>
            <a:off x="556260" y="1622107"/>
            <a:ext cx="385953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Default </a:t>
            </a:r>
            <a:r>
              <a:rPr lang="en-US" sz="541" b="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better-sqlite3</a:t>
            </a: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(WAL + FTS5). Can switch to </a:t>
            </a:r>
            <a:r>
              <a:rPr lang="en-US" sz="541" b="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PostgreSQL</a:t>
            </a: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or </a:t>
            </a:r>
            <a:r>
              <a:rPr lang="en-US" sz="541" b="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MySQL</a:t>
            </a: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via DatabaseAdapterFactory. MigrationService: TypeMapper generates DDL dynamically → batch copy 500 rows → verify phase → safe rollback (no table drops).</a:t>
            </a:r>
            <a:endParaRPr lang="en-US" sz="541" dirty="0"/>
          </a:p>
        </p:txBody>
      </p:sp>
      <p:sp>
        <p:nvSpPr>
          <p:cNvPr id="10" name="TextBox 20"/>
          <p:cNvSpPr/>
          <p:nvPr/>
        </p:nvSpPr>
        <p:spPr>
          <a:xfrm>
            <a:off x="556260" y="1864042"/>
            <a:ext cx="762298" cy="90487"/>
          </a:xfrm>
          <a:prstGeom prst="roundRect">
            <a:avLst>
              <a:gd name="adj" fmla="val 32543"/>
            </a:avLst>
          </a:prstGeom>
          <a:solidFill>
            <a:srgbClr val="1779E1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DatabaseAdapter interface</a:t>
            </a:r>
            <a:endParaRPr lang="en-US" sz="425" dirty="0"/>
          </a:p>
        </p:txBody>
      </p:sp>
      <p:sp>
        <p:nvSpPr>
          <p:cNvPr id="11" name="TextBox 22"/>
          <p:cNvSpPr/>
          <p:nvPr/>
        </p:nvSpPr>
        <p:spPr>
          <a:xfrm>
            <a:off x="1347133" y="1864042"/>
            <a:ext cx="673894" cy="90487"/>
          </a:xfrm>
          <a:prstGeom prst="roundRect">
            <a:avLst>
              <a:gd name="adj" fmla="val 32543"/>
            </a:avLst>
          </a:prstGeom>
          <a:solidFill>
            <a:srgbClr val="1779E1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 Repositories (Facade)</a:t>
            </a:r>
            <a:endParaRPr lang="en-US" sz="425" dirty="0"/>
          </a:p>
        </p:txBody>
      </p:sp>
      <p:sp>
        <p:nvSpPr>
          <p:cNvPr id="12" name="TextBox 24"/>
          <p:cNvSpPr/>
          <p:nvPr/>
        </p:nvSpPr>
        <p:spPr>
          <a:xfrm>
            <a:off x="2049601" y="1864042"/>
            <a:ext cx="678954" cy="90487"/>
          </a:xfrm>
          <a:prstGeom prst="roundRect">
            <a:avLst>
              <a:gd name="adj" fmla="val 32543"/>
            </a:avLst>
          </a:prstGeom>
          <a:solidFill>
            <a:srgbClr val="1779E1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Migration SSE progress</a:t>
            </a:r>
            <a:endParaRPr lang="en-US" sz="425" dirty="0"/>
          </a:p>
        </p:txBody>
      </p:sp>
      <p:sp>
        <p:nvSpPr>
          <p:cNvPr id="13" name="Shape 28"/>
          <p:cNvSpPr/>
          <p:nvPr/>
        </p:nvSpPr>
        <p:spPr>
          <a:xfrm>
            <a:off x="457200" y="2129790"/>
            <a:ext cx="4057650" cy="709613"/>
          </a:xfrm>
          <a:prstGeom prst="roundRect">
            <a:avLst>
              <a:gd name="adj" fmla="val 8300"/>
            </a:avLst>
          </a:prstGeom>
          <a:solidFill>
            <a:srgbClr val="FFFFFF"/>
          </a:solidFill>
          <a:ln/>
        </p:spPr>
      </p:sp>
      <p:pic>
        <p:nvPicPr>
          <p:cNvPr id="14" name="Picture 28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2129790"/>
            <a:ext cx="4057650" cy="709613"/>
          </a:xfrm>
          <a:prstGeom prst="rect">
            <a:avLst/>
          </a:prstGeom>
        </p:spPr>
      </p:pic>
      <p:sp>
        <p:nvSpPr>
          <p:cNvPr id="15" name="TextBox 30"/>
          <p:cNvSpPr/>
          <p:nvPr/>
        </p:nvSpPr>
        <p:spPr>
          <a:xfrm>
            <a:off x="556260" y="2236470"/>
            <a:ext cx="38595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5"/>
              </a:lnSpc>
              <a:buNone/>
            </a:pPr>
            <a:r>
              <a:rPr lang="en-US" sz="773" b="1" spc="-8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Engine Layer</a:t>
            </a:r>
            <a:endParaRPr lang="en-US" sz="773" dirty="0"/>
          </a:p>
        </p:txBody>
      </p:sp>
      <p:sp>
        <p:nvSpPr>
          <p:cNvPr id="16" name="TextBox 32"/>
          <p:cNvSpPr/>
          <p:nvPr/>
        </p:nvSpPr>
        <p:spPr>
          <a:xfrm>
            <a:off x="556260" y="2407920"/>
            <a:ext cx="385953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541" b="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Tree-sitter AST</a:t>
            </a: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(TypeScript grammar) + </a:t>
            </a:r>
            <a:r>
              <a:rPr lang="en-US" sz="541" b="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chokidar</a:t>
            </a: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file watching incremental index. </a:t>
            </a:r>
            <a:r>
              <a:rPr lang="en-US" sz="541" b="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ONNX Runtime</a:t>
            </a: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(all-MiniLM-L6-v2) for embeddings. Draw.io integration (export PNG, layout, parse with OCP pattern router).</a:t>
            </a:r>
            <a:endParaRPr lang="en-US" sz="541" dirty="0"/>
          </a:p>
        </p:txBody>
      </p:sp>
      <p:sp>
        <p:nvSpPr>
          <p:cNvPr id="17" name="TextBox 36"/>
          <p:cNvSpPr/>
          <p:nvPr/>
        </p:nvSpPr>
        <p:spPr>
          <a:xfrm>
            <a:off x="556260" y="2649855"/>
            <a:ext cx="477619" cy="90488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web-tree-sitter</a:t>
            </a:r>
            <a:endParaRPr lang="en-US" sz="425" dirty="0"/>
          </a:p>
        </p:txBody>
      </p:sp>
      <p:sp>
        <p:nvSpPr>
          <p:cNvPr id="18" name="TextBox 38"/>
          <p:cNvSpPr/>
          <p:nvPr/>
        </p:nvSpPr>
        <p:spPr>
          <a:xfrm>
            <a:off x="1052929" y="2649855"/>
            <a:ext cx="324386" cy="90488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chokidar</a:t>
            </a:r>
            <a:endParaRPr lang="en-US" sz="425" dirty="0"/>
          </a:p>
        </p:txBody>
      </p:sp>
      <p:sp>
        <p:nvSpPr>
          <p:cNvPr id="19" name="TextBox 40"/>
          <p:cNvSpPr/>
          <p:nvPr/>
        </p:nvSpPr>
        <p:spPr>
          <a:xfrm>
            <a:off x="1396365" y="2649855"/>
            <a:ext cx="702171" cy="90488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ONNX + Transformers.js</a:t>
            </a:r>
            <a:endParaRPr lang="en-US" sz="425" dirty="0"/>
          </a:p>
        </p:txBody>
      </p:sp>
      <p:sp>
        <p:nvSpPr>
          <p:cNvPr id="20" name="TextBox 42"/>
          <p:cNvSpPr/>
          <p:nvPr/>
        </p:nvSpPr>
        <p:spPr>
          <a:xfrm>
            <a:off x="2117586" y="2649855"/>
            <a:ext cx="477262" cy="90488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Draw.io engine</a:t>
            </a:r>
            <a:endParaRPr lang="en-US" sz="425" dirty="0"/>
          </a:p>
        </p:txBody>
      </p:sp>
      <p:sp>
        <p:nvSpPr>
          <p:cNvPr id="21" name="Shape 46"/>
          <p:cNvSpPr/>
          <p:nvPr/>
        </p:nvSpPr>
        <p:spPr>
          <a:xfrm>
            <a:off x="457200" y="2915602"/>
            <a:ext cx="4057650" cy="590550"/>
          </a:xfrm>
          <a:prstGeom prst="roundRect">
            <a:avLst>
              <a:gd name="adj" fmla="val 9973"/>
            </a:avLst>
          </a:prstGeom>
          <a:solidFill>
            <a:srgbClr val="FFFFFF"/>
          </a:solidFill>
          <a:ln/>
        </p:spPr>
      </p:sp>
      <p:pic>
        <p:nvPicPr>
          <p:cNvPr id="22" name="Picture 46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" y="2915602"/>
            <a:ext cx="4057650" cy="590550"/>
          </a:xfrm>
          <a:prstGeom prst="rect">
            <a:avLst/>
          </a:prstGeom>
        </p:spPr>
      </p:pic>
      <p:sp>
        <p:nvSpPr>
          <p:cNvPr id="23" name="TextBox 48"/>
          <p:cNvSpPr/>
          <p:nvPr/>
        </p:nvSpPr>
        <p:spPr>
          <a:xfrm>
            <a:off x="556260" y="3022282"/>
            <a:ext cx="38595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5"/>
              </a:lnSpc>
              <a:buNone/>
            </a:pPr>
            <a:r>
              <a:rPr lang="en-US" sz="773" b="1" spc="-8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Project ID Multi-tenant</a:t>
            </a:r>
            <a:endParaRPr lang="en-US" sz="773" dirty="0"/>
          </a:p>
        </p:txBody>
      </p:sp>
      <p:sp>
        <p:nvSpPr>
          <p:cNvPr id="24" name="TextBox 50"/>
          <p:cNvSpPr/>
          <p:nvPr/>
        </p:nvSpPr>
        <p:spPr>
          <a:xfrm>
            <a:off x="556260" y="3193733"/>
            <a:ext cx="385953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Project ID is derived in 3 steps: </a:t>
            </a:r>
            <a:r>
              <a:rPr lang="en-US" sz="464" dirty="0">
                <a:solidFill>
                  <a:srgbClr val="6A6F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project.json</a:t>
            </a: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→ git remote hash → user+folder hash (SHA256, 12 hex chars). Ensures data isolation between users/projects.</a:t>
            </a:r>
            <a:endParaRPr lang="en-US" sz="541" dirty="0"/>
          </a:p>
        </p:txBody>
      </p:sp>
      <p:pic>
        <p:nvPicPr>
          <p:cNvPr id="25" name="Picture 53" descr="__type_imag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582352"/>
            <a:ext cx="4057650" cy="1333500"/>
          </a:xfrm>
          <a:prstGeom prst="rect">
            <a:avLst/>
          </a:prstGeom>
        </p:spPr>
      </p:pic>
      <p:sp>
        <p:nvSpPr>
          <p:cNvPr id="26" name="Shape 58"/>
          <p:cNvSpPr/>
          <p:nvPr/>
        </p:nvSpPr>
        <p:spPr>
          <a:xfrm>
            <a:off x="4629150" y="1343977"/>
            <a:ext cx="4057650" cy="626745"/>
          </a:xfrm>
          <a:prstGeom prst="roundRect">
            <a:avLst>
              <a:gd name="adj" fmla="val 9397"/>
            </a:avLst>
          </a:prstGeom>
          <a:solidFill>
            <a:srgbClr val="FFFFFF"/>
          </a:solidFill>
          <a:ln/>
        </p:spPr>
      </p:sp>
      <p:pic>
        <p:nvPicPr>
          <p:cNvPr id="27" name="Picture 58" descr="__type_image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29150" y="1343977"/>
            <a:ext cx="4057650" cy="626745"/>
          </a:xfrm>
          <a:prstGeom prst="rect">
            <a:avLst/>
          </a:prstGeom>
        </p:spPr>
      </p:pic>
      <p:sp>
        <p:nvSpPr>
          <p:cNvPr id="28" name="TextBox 60"/>
          <p:cNvSpPr/>
          <p:nvPr/>
        </p:nvSpPr>
        <p:spPr>
          <a:xfrm>
            <a:off x="4728210" y="1450657"/>
            <a:ext cx="38595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5"/>
              </a:lnSpc>
              <a:buNone/>
            </a:pPr>
            <a:r>
              <a:rPr lang="en-US" sz="773" b="1" spc="-8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Configuration Sections</a:t>
            </a:r>
            <a:endParaRPr lang="en-US" sz="773" dirty="0"/>
          </a:p>
        </p:txBody>
      </p:sp>
      <p:sp>
        <p:nvSpPr>
          <p:cNvPr id="29" name="TextBox 64"/>
          <p:cNvSpPr/>
          <p:nvPr/>
        </p:nvSpPr>
        <p:spPr>
          <a:xfrm>
            <a:off x="4728210" y="1622107"/>
            <a:ext cx="276285" cy="95250"/>
          </a:xfrm>
          <a:prstGeom prst="roundRect">
            <a:avLst>
              <a:gd name="adj" fmla="val 30916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server</a:t>
            </a:r>
            <a:endParaRPr lang="en-US" sz="464" dirty="0"/>
          </a:p>
        </p:txBody>
      </p:sp>
      <p:sp>
        <p:nvSpPr>
          <p:cNvPr id="30" name="TextBox 66"/>
          <p:cNvSpPr/>
          <p:nvPr/>
        </p:nvSpPr>
        <p:spPr>
          <a:xfrm>
            <a:off x="5033069" y="1622107"/>
            <a:ext cx="416838" cy="95250"/>
          </a:xfrm>
          <a:prstGeom prst="roundRect">
            <a:avLst>
              <a:gd name="adj" fmla="val 30916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embedding</a:t>
            </a:r>
            <a:endParaRPr lang="en-US" sz="464" dirty="0"/>
          </a:p>
        </p:txBody>
      </p:sp>
      <p:sp>
        <p:nvSpPr>
          <p:cNvPr id="31" name="TextBox 68"/>
          <p:cNvSpPr/>
          <p:nvPr/>
        </p:nvSpPr>
        <p:spPr>
          <a:xfrm>
            <a:off x="5478482" y="1622107"/>
            <a:ext cx="196513" cy="95250"/>
          </a:xfrm>
          <a:prstGeom prst="roundRect">
            <a:avLst>
              <a:gd name="adj" fmla="val 30916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llm</a:t>
            </a:r>
            <a:endParaRPr lang="en-US" sz="464" dirty="0"/>
          </a:p>
        </p:txBody>
      </p:sp>
      <p:sp>
        <p:nvSpPr>
          <p:cNvPr id="32" name="TextBox 70"/>
          <p:cNvSpPr/>
          <p:nvPr/>
        </p:nvSpPr>
        <p:spPr>
          <a:xfrm>
            <a:off x="5703569" y="1622107"/>
            <a:ext cx="439043" cy="95250"/>
          </a:xfrm>
          <a:prstGeom prst="roundRect">
            <a:avLst>
              <a:gd name="adj" fmla="val 30916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mcp-servers</a:t>
            </a:r>
            <a:endParaRPr lang="en-US" sz="464" dirty="0"/>
          </a:p>
        </p:txBody>
      </p:sp>
      <p:sp>
        <p:nvSpPr>
          <p:cNvPr id="33" name="TextBox 72"/>
          <p:cNvSpPr/>
          <p:nvPr/>
        </p:nvSpPr>
        <p:spPr>
          <a:xfrm>
            <a:off x="6171188" y="1622107"/>
            <a:ext cx="179904" cy="95250"/>
          </a:xfrm>
          <a:prstGeom prst="roundRect">
            <a:avLst>
              <a:gd name="adj" fmla="val 30916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kb</a:t>
            </a:r>
            <a:endParaRPr lang="en-US" sz="464" dirty="0"/>
          </a:p>
        </p:txBody>
      </p:sp>
      <p:sp>
        <p:nvSpPr>
          <p:cNvPr id="34" name="TextBox 74"/>
          <p:cNvSpPr/>
          <p:nvPr/>
        </p:nvSpPr>
        <p:spPr>
          <a:xfrm>
            <a:off x="6379666" y="1622107"/>
            <a:ext cx="233720" cy="95250"/>
          </a:xfrm>
          <a:prstGeom prst="roundRect">
            <a:avLst>
              <a:gd name="adj" fmla="val 30916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auth</a:t>
            </a:r>
            <a:endParaRPr lang="en-US" sz="464" dirty="0"/>
          </a:p>
        </p:txBody>
      </p:sp>
      <p:sp>
        <p:nvSpPr>
          <p:cNvPr id="35" name="TextBox 76"/>
          <p:cNvSpPr/>
          <p:nvPr/>
        </p:nvSpPr>
        <p:spPr>
          <a:xfrm>
            <a:off x="6641960" y="1622107"/>
            <a:ext cx="352247" cy="95250"/>
          </a:xfrm>
          <a:prstGeom prst="roundRect">
            <a:avLst>
              <a:gd name="adj" fmla="val 30916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64"/>
              </a:lnSpc>
              <a:buNone/>
            </a:pPr>
            <a:r>
              <a:rPr lang="en-US" sz="464" spc="5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database</a:t>
            </a:r>
            <a:endParaRPr lang="en-US" sz="464" dirty="0"/>
          </a:p>
        </p:txBody>
      </p:sp>
      <p:sp>
        <p:nvSpPr>
          <p:cNvPr id="36" name="TextBox 79"/>
          <p:cNvSpPr/>
          <p:nvPr/>
        </p:nvSpPr>
        <p:spPr>
          <a:xfrm>
            <a:off x="4728210" y="1764982"/>
            <a:ext cx="3859531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Inline editing per key. Config validated by Zod schema, env override. Supports LLM connection test + model list refresh.</a:t>
            </a:r>
            <a:endParaRPr lang="en-US" sz="541" dirty="0"/>
          </a:p>
        </p:txBody>
      </p:sp>
      <p:sp>
        <p:nvSpPr>
          <p:cNvPr id="37" name="Shape 82"/>
          <p:cNvSpPr/>
          <p:nvPr/>
        </p:nvSpPr>
        <p:spPr>
          <a:xfrm>
            <a:off x="4629150" y="2046922"/>
            <a:ext cx="4057650" cy="704850"/>
          </a:xfrm>
          <a:prstGeom prst="roundRect">
            <a:avLst>
              <a:gd name="adj" fmla="val 8356"/>
            </a:avLst>
          </a:prstGeom>
          <a:solidFill>
            <a:srgbClr val="FFFFFF"/>
          </a:solidFill>
          <a:ln/>
        </p:spPr>
      </p:sp>
      <p:pic>
        <p:nvPicPr>
          <p:cNvPr id="38" name="Picture 82" descr="__type_image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29150" y="2046922"/>
            <a:ext cx="4057650" cy="704850"/>
          </a:xfrm>
          <a:prstGeom prst="rect">
            <a:avLst/>
          </a:prstGeom>
        </p:spPr>
      </p:pic>
      <p:sp>
        <p:nvSpPr>
          <p:cNvPr id="39" name="TextBox 84"/>
          <p:cNvSpPr/>
          <p:nvPr/>
        </p:nvSpPr>
        <p:spPr>
          <a:xfrm>
            <a:off x="4728210" y="2153602"/>
            <a:ext cx="38595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5"/>
              </a:lnSpc>
              <a:buNone/>
            </a:pPr>
            <a:r>
              <a:rPr lang="en-US" sz="773" b="1" spc="-8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MCP Notification System</a:t>
            </a:r>
            <a:endParaRPr lang="en-US" sz="773" dirty="0"/>
          </a:p>
        </p:txBody>
      </p:sp>
      <p:sp>
        <p:nvSpPr>
          <p:cNvPr id="40" name="TextBox 86"/>
          <p:cNvSpPr/>
          <p:nvPr/>
        </p:nvSpPr>
        <p:spPr>
          <a:xfrm>
            <a:off x="4728210" y="2325052"/>
            <a:ext cx="3859531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OCP (Open-Closed Principle) pattern: declarative notification map. Tool pattern → method: ingest/create → </a:t>
            </a:r>
            <a:r>
              <a:rPr lang="en-US" sz="541" dirty="0">
                <a:solidFill>
                  <a:srgbClr val="6A6F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kb_entry_added</a:t>
            </a: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, update/modify → </a:t>
            </a:r>
            <a:r>
              <a:rPr lang="en-US" sz="541" dirty="0">
                <a:solidFill>
                  <a:srgbClr val="6A6F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kb_entry_updated</a:t>
            </a: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, delete/remove → </a:t>
            </a:r>
            <a:r>
              <a:rPr lang="en-US" sz="541" dirty="0">
                <a:solidFill>
                  <a:srgbClr val="6A6F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kb_entry_deleted</a:t>
            </a: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, tag → </a:t>
            </a:r>
            <a:r>
              <a:rPr lang="en-US" sz="541" dirty="0">
                <a:solidFill>
                  <a:srgbClr val="6A6F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tag_created</a:t>
            </a: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 Broadcast connection to every transport.</a:t>
            </a:r>
            <a:endParaRPr lang="en-US" sz="541" dirty="0"/>
          </a:p>
        </p:txBody>
      </p:sp>
      <p:sp>
        <p:nvSpPr>
          <p:cNvPr id="41" name="Shape 89"/>
          <p:cNvSpPr/>
          <p:nvPr/>
        </p:nvSpPr>
        <p:spPr>
          <a:xfrm>
            <a:off x="4629150" y="2827972"/>
            <a:ext cx="4057650" cy="816292"/>
          </a:xfrm>
          <a:prstGeom prst="roundRect">
            <a:avLst>
              <a:gd name="adj" fmla="val 7215"/>
            </a:avLst>
          </a:prstGeom>
          <a:solidFill>
            <a:srgbClr val="FFFFFF"/>
          </a:solidFill>
          <a:ln/>
        </p:spPr>
      </p:sp>
      <p:pic>
        <p:nvPicPr>
          <p:cNvPr id="42" name="Picture 89" descr="__type_image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29150" y="2827972"/>
            <a:ext cx="4057650" cy="816292"/>
          </a:xfrm>
          <a:prstGeom prst="rect">
            <a:avLst/>
          </a:prstGeom>
        </p:spPr>
      </p:pic>
      <p:sp>
        <p:nvSpPr>
          <p:cNvPr id="43" name="TextBox 91"/>
          <p:cNvSpPr/>
          <p:nvPr/>
        </p:nvSpPr>
        <p:spPr>
          <a:xfrm>
            <a:off x="4728210" y="2934652"/>
            <a:ext cx="38595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5"/>
              </a:lnSpc>
              <a:buNone/>
            </a:pPr>
            <a:r>
              <a:rPr lang="en-US" sz="773" b="1" spc="-8" kern="0" dirty="0">
                <a:solidFill>
                  <a:srgbClr val="0E12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Extension (VS Code + Kiro)</a:t>
            </a:r>
            <a:endParaRPr lang="en-US" sz="773" dirty="0"/>
          </a:p>
        </p:txBody>
      </p:sp>
      <p:sp>
        <p:nvSpPr>
          <p:cNvPr id="44" name="TextBox 93"/>
          <p:cNvSpPr/>
          <p:nvPr/>
        </p:nvSpPr>
        <p:spPr>
          <a:xfrm>
            <a:off x="4728210" y="3106102"/>
            <a:ext cx="38595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541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20+ commands: injectAll, injectSelective, KB Graph/Dashboard/Tags/Quality, Symbol Search, Impact Analysis, AI Context. LangGraph pipeline engine with 6 subgraphs (SDLC, hotfix, code_review, docs, security_audit, chat). 9 agents: SM, BA, TA, SA, QA, DEV, DevOps, Security, UI.</a:t>
            </a:r>
            <a:endParaRPr lang="en-US" sz="541" dirty="0"/>
          </a:p>
        </p:txBody>
      </p:sp>
      <p:sp>
        <p:nvSpPr>
          <p:cNvPr id="45" name="TextBox 97"/>
          <p:cNvSpPr/>
          <p:nvPr/>
        </p:nvSpPr>
        <p:spPr>
          <a:xfrm>
            <a:off x="4728210" y="3454717"/>
            <a:ext cx="731877" cy="90488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LangGraph state machine</a:t>
            </a:r>
            <a:endParaRPr lang="en-US" sz="425" dirty="0"/>
          </a:p>
        </p:txBody>
      </p:sp>
      <p:sp>
        <p:nvSpPr>
          <p:cNvPr id="46" name="TextBox 99"/>
          <p:cNvSpPr/>
          <p:nvPr/>
        </p:nvSpPr>
        <p:spPr>
          <a:xfrm>
            <a:off x="5479137" y="3454717"/>
            <a:ext cx="387429" cy="90488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 AI agents</a:t>
            </a:r>
            <a:endParaRPr lang="en-US" sz="425" dirty="0"/>
          </a:p>
        </p:txBody>
      </p:sp>
      <p:sp>
        <p:nvSpPr>
          <p:cNvPr id="47" name="TextBox 101"/>
          <p:cNvSpPr/>
          <p:nvPr/>
        </p:nvSpPr>
        <p:spPr>
          <a:xfrm>
            <a:off x="5885616" y="3454717"/>
            <a:ext cx="481489" cy="90488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SSO/PKCE auth</a:t>
            </a:r>
            <a:endParaRPr lang="en-US" sz="425" dirty="0"/>
          </a:p>
        </p:txBody>
      </p:sp>
      <p:sp>
        <p:nvSpPr>
          <p:cNvPr id="48" name="TextBox 103"/>
          <p:cNvSpPr/>
          <p:nvPr/>
        </p:nvSpPr>
        <p:spPr>
          <a:xfrm>
            <a:off x="6386155" y="3454717"/>
            <a:ext cx="467678" cy="90488"/>
          </a:xfrm>
          <a:prstGeom prst="roundRect">
            <a:avLst>
              <a:gd name="adj" fmla="val 32543"/>
            </a:avLst>
          </a:prstGeom>
          <a:solidFill>
            <a:srgbClr val="EFF2F5"/>
          </a:solidFill>
          <a:ln/>
        </p:spPr>
        <p:txBody>
          <a:bodyPr wrap="square" lIns="58895" tIns="19632" rIns="58895" bIns="19632" rtlCol="0" anchor="t">
            <a:spAutoFit/>
          </a:bodyPr>
          <a:lstStyle/>
          <a:p>
            <a:pPr algn="l" indent="0" marL="0">
              <a:lnSpc>
                <a:spcPts val="425"/>
              </a:lnSpc>
              <a:buNone/>
            </a:pPr>
            <a:r>
              <a:rPr lang="en-US" sz="425" spc="4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Platform Swap</a:t>
            </a:r>
            <a:endParaRPr lang="en-US" sz="425" dirty="0"/>
          </a:p>
        </p:txBody>
      </p:sp>
      <p:sp>
        <p:nvSpPr>
          <p:cNvPr id="49" name="Shape 109"/>
          <p:cNvSpPr/>
          <p:nvPr/>
        </p:nvSpPr>
        <p:spPr>
          <a:xfrm>
            <a:off x="457200" y="4730115"/>
            <a:ext cx="8229600" cy="184785"/>
          </a:xfrm>
          <a:prstGeom prst="rect">
            <a:avLst/>
          </a:prstGeom>
          <a:noFill/>
          <a:ln/>
        </p:spPr>
      </p:sp>
      <p:pic>
        <p:nvPicPr>
          <p:cNvPr id="50" name="Picture 109" descr="__type_image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57200" y="4730115"/>
            <a:ext cx="8229600" cy="184785"/>
          </a:xfrm>
          <a:prstGeom prst="rect">
            <a:avLst/>
          </a:prstGeom>
        </p:spPr>
      </p:pic>
      <p:sp>
        <p:nvSpPr>
          <p:cNvPr id="51" name="TextBox 111"/>
          <p:cNvSpPr/>
          <p:nvPr/>
        </p:nvSpPr>
        <p:spPr>
          <a:xfrm>
            <a:off x="457200" y="4848225"/>
            <a:ext cx="80170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41"/>
              </a:lnSpc>
              <a:buNone/>
            </a:pPr>
            <a:r>
              <a:rPr lang="en-US" sz="541" dirty="0">
                <a:solidFill>
                  <a:srgbClr val="9A9FA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SDLC Agents For Enterprise</a:t>
            </a:r>
            <a:endParaRPr lang="en-US" sz="541" dirty="0"/>
          </a:p>
        </p:txBody>
      </p:sp>
      <p:sp>
        <p:nvSpPr>
          <p:cNvPr id="52" name="TextBox 113"/>
          <p:cNvSpPr/>
          <p:nvPr/>
        </p:nvSpPr>
        <p:spPr>
          <a:xfrm>
            <a:off x="7562730" y="4850606"/>
            <a:ext cx="1124069" cy="61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02"/>
              </a:lnSpc>
              <a:buNone/>
            </a:pPr>
            <a:r>
              <a:rPr lang="en-US" sz="502" spc="35" kern="0" dirty="0">
                <a:solidFill>
                  <a:srgbClr val="1779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CONFIGURATION &amp; ARCHITECTURE</a:t>
            </a:r>
            <a:endParaRPr lang="en-US" sz="502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D"/>
          </a:solidFill>
          <a:ln/>
        </p:spPr>
      </p:sp>
      <p:sp>
        <p:nvSpPr>
          <p:cNvPr id="4" name="TextBox 6"/>
          <p:cNvSpPr/>
          <p:nvPr/>
        </p:nvSpPr>
        <p:spPr>
          <a:xfrm>
            <a:off x="3046928" y="1087279"/>
            <a:ext cx="305008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3061"/>
              </a:lnSpc>
              <a:buNone/>
            </a:pPr>
            <a:r>
              <a:rPr lang="en-US" sz="2782" b="1" spc="-8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Knowledge is the</a:t>
            </a:r>
            <a:endParaRPr lang="en-US" sz="2782" dirty="0"/>
          </a:p>
          <a:p>
            <a:pPr algn="ctr" indent="0" marL="0">
              <a:lnSpc>
                <a:spcPts val="3061"/>
              </a:lnSpc>
              <a:buNone/>
            </a:pPr>
            <a:r>
              <a:rPr lang="en-US" sz="2782" b="1" spc="-8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Most Valuable Asset</a:t>
            </a:r>
            <a:endParaRPr lang="en-US" sz="2782" dirty="0"/>
          </a:p>
        </p:txBody>
      </p:sp>
      <p:sp>
        <p:nvSpPr>
          <p:cNvPr id="5" name="TextBox 8"/>
          <p:cNvSpPr/>
          <p:nvPr/>
        </p:nvSpPr>
        <p:spPr>
          <a:xfrm>
            <a:off x="3047940" y="1936909"/>
            <a:ext cx="304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91"/>
              </a:lnSpc>
              <a:buNone/>
            </a:pPr>
            <a:r>
              <a:rPr lang="en-US" sz="927" dirty="0">
                <a:solidFill>
                  <a:srgbClr val="A9AFB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SDLC Agents For Enterprise — an internal solution by the IT Team, </a:t>
            </a:r>
            <a:r>
              <a:rPr lang="en-US" sz="927" b="1" dirty="0">
                <a:solidFill>
                  <a:srgbClr val="A9AFB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SMBC VPFC</a:t>
            </a:r>
            <a:r>
              <a:rPr lang="en-US" sz="927" dirty="0">
                <a:solidFill>
                  <a:srgbClr val="A9AFB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Company. Helping organizations collect, protect, and leverage source code knowledge — turning individual experience into collective advantage.</a:t>
            </a:r>
            <a:endParaRPr lang="en-US" sz="927" dirty="0"/>
          </a:p>
        </p:txBody>
      </p:sp>
      <p:sp>
        <p:nvSpPr>
          <p:cNvPr id="6" name="TextBox 10"/>
          <p:cNvSpPr/>
          <p:nvPr/>
        </p:nvSpPr>
        <p:spPr>
          <a:xfrm>
            <a:off x="3046928" y="2813208"/>
            <a:ext cx="3050084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43"/>
              </a:lnSpc>
              <a:buNone/>
            </a:pPr>
            <a:r>
              <a:rPr lang="en-US" sz="696" spc="28" kern="0" dirty="0">
                <a:solidFill>
                  <a:srgbClr val="6A6F7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IT DEPARTMENT · SMBC VPFC</a:t>
            </a:r>
            <a:endParaRPr lang="en-US" sz="696" dirty="0"/>
          </a:p>
        </p:txBody>
      </p:sp>
      <p:sp>
        <p:nvSpPr>
          <p:cNvPr id="7" name="TextBox 15"/>
          <p:cNvSpPr/>
          <p:nvPr/>
        </p:nvSpPr>
        <p:spPr>
          <a:xfrm>
            <a:off x="3294399" y="3037046"/>
            <a:ext cx="4708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546"/>
              </a:lnSpc>
              <a:buNone/>
            </a:pPr>
            <a:r>
              <a:rPr lang="en-US" sz="1546" b="1" spc="-31" kern="0" dirty="0">
                <a:solidFill>
                  <a:srgbClr val="1779E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6.903</a:t>
            </a:r>
            <a:endParaRPr lang="en-US" sz="1546" dirty="0"/>
          </a:p>
        </p:txBody>
      </p:sp>
      <p:sp>
        <p:nvSpPr>
          <p:cNvPr id="8" name="TextBox 16"/>
          <p:cNvSpPr/>
          <p:nvPr/>
        </p:nvSpPr>
        <p:spPr>
          <a:xfrm>
            <a:off x="3294399" y="3227546"/>
            <a:ext cx="470892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9A9FA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KB Entries</a:t>
            </a:r>
            <a:endParaRPr lang="en-US" sz="696" dirty="0"/>
          </a:p>
        </p:txBody>
      </p:sp>
      <p:sp>
        <p:nvSpPr>
          <p:cNvPr id="9" name="TextBox 19"/>
          <p:cNvSpPr/>
          <p:nvPr/>
        </p:nvSpPr>
        <p:spPr>
          <a:xfrm>
            <a:off x="3955792" y="3037046"/>
            <a:ext cx="5382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546"/>
              </a:lnSpc>
              <a:buNone/>
            </a:pPr>
            <a:r>
              <a:rPr lang="en-US" sz="1546" b="1" spc="-31" kern="0" dirty="0">
                <a:solidFill>
                  <a:srgbClr val="008B1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9.894</a:t>
            </a:r>
            <a:endParaRPr lang="en-US" sz="1546" dirty="0"/>
          </a:p>
        </p:txBody>
      </p:sp>
      <p:sp>
        <p:nvSpPr>
          <p:cNvPr id="10" name="TextBox 20"/>
          <p:cNvSpPr/>
          <p:nvPr/>
        </p:nvSpPr>
        <p:spPr>
          <a:xfrm>
            <a:off x="3955792" y="3227546"/>
            <a:ext cx="538222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9A9FA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Code Symbols</a:t>
            </a:r>
            <a:endParaRPr lang="en-US" sz="696" dirty="0"/>
          </a:p>
        </p:txBody>
      </p:sp>
      <p:sp>
        <p:nvSpPr>
          <p:cNvPr id="11" name="TextBox 23"/>
          <p:cNvSpPr/>
          <p:nvPr/>
        </p:nvSpPr>
        <p:spPr>
          <a:xfrm>
            <a:off x="4684514" y="3037046"/>
            <a:ext cx="5007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546"/>
              </a:lnSpc>
              <a:buNone/>
            </a:pPr>
            <a:r>
              <a:rPr lang="en-US" sz="1546" b="1" spc="-31" kern="0" dirty="0">
                <a:solidFill>
                  <a:srgbClr val="C082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6.540</a:t>
            </a:r>
            <a:endParaRPr lang="en-US" sz="1546" dirty="0"/>
          </a:p>
        </p:txBody>
      </p:sp>
      <p:sp>
        <p:nvSpPr>
          <p:cNvPr id="12" name="TextBox 24"/>
          <p:cNvSpPr/>
          <p:nvPr/>
        </p:nvSpPr>
        <p:spPr>
          <a:xfrm>
            <a:off x="4684514" y="3227546"/>
            <a:ext cx="500717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9A9FA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Graph Nodes</a:t>
            </a:r>
            <a:endParaRPr lang="en-US" sz="696" dirty="0"/>
          </a:p>
        </p:txBody>
      </p:sp>
      <p:sp>
        <p:nvSpPr>
          <p:cNvPr id="13" name="TextBox 27"/>
          <p:cNvSpPr/>
          <p:nvPr/>
        </p:nvSpPr>
        <p:spPr>
          <a:xfrm>
            <a:off x="5375731" y="3037046"/>
            <a:ext cx="4738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546"/>
              </a:lnSpc>
              <a:buNone/>
            </a:pPr>
            <a:r>
              <a:rPr lang="en-US" sz="1546" b="1" spc="-31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</a:t>
            </a:r>
            <a:endParaRPr lang="en-US" sz="1546" dirty="0"/>
          </a:p>
        </p:txBody>
      </p:sp>
      <p:sp>
        <p:nvSpPr>
          <p:cNvPr id="14" name="TextBox 28"/>
          <p:cNvSpPr/>
          <p:nvPr/>
        </p:nvSpPr>
        <p:spPr>
          <a:xfrm>
            <a:off x="5375731" y="3227546"/>
            <a:ext cx="473809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9A9FA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MCP Servers</a:t>
            </a:r>
            <a:endParaRPr lang="en-US" sz="696" dirty="0"/>
          </a:p>
        </p:txBody>
      </p:sp>
      <p:sp>
        <p:nvSpPr>
          <p:cNvPr id="15" name="TextBox 31"/>
          <p:cNvSpPr/>
          <p:nvPr/>
        </p:nvSpPr>
        <p:spPr>
          <a:xfrm>
            <a:off x="3940075" y="3508533"/>
            <a:ext cx="1263729" cy="266700"/>
          </a:xfrm>
          <a:prstGeom prst="roundRect">
            <a:avLst>
              <a:gd name="adj" fmla="val 18402"/>
            </a:avLst>
          </a:prstGeom>
          <a:solidFill>
            <a:srgbClr val="1779E1"/>
          </a:solidFill>
          <a:ln/>
          <a:effectLst>
            <a:outerShdw sx="100000" sy="100000" kx="0" ky="0" algn="bl" rotWithShape="0" blurRad="78527" dist="19632" dir="5400000">
              <a:srgbClr val="000000">
                <a:alpha val="20000"/>
              </a:srgbClr>
            </a:outerShdw>
          </a:effectLst>
        </p:spPr>
        <p:txBody>
          <a:bodyPr wrap="square" lIns="176685" tIns="0" rIns="176685" bIns="0" rtlCol="0" anchor="ctr">
            <a:spAutoFit/>
          </a:bodyPr>
          <a:lstStyle/>
          <a:p>
            <a:pPr algn="ctr" indent="0" marL="0">
              <a:lnSpc>
                <a:spcPts val="696"/>
              </a:lnSpc>
              <a:buNone/>
            </a:pPr>
            <a:r>
              <a:rPr lang="en-US" sz="696" spc="7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Try the Admin Portal →</a:t>
            </a:r>
            <a:endParaRPr lang="en-US" sz="696" dirty="0"/>
          </a:p>
        </p:txBody>
      </p:sp>
      <p:sp>
        <p:nvSpPr>
          <p:cNvPr id="16" name="TextBox 33"/>
          <p:cNvSpPr/>
          <p:nvPr/>
        </p:nvSpPr>
        <p:spPr>
          <a:xfrm>
            <a:off x="3046928" y="3927634"/>
            <a:ext cx="3050084" cy="128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043"/>
              </a:lnSpc>
              <a:buNone/>
            </a:pPr>
            <a:r>
              <a:rPr lang="en-US" sz="696" dirty="0">
                <a:solidFill>
                  <a:srgbClr val="7C818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localhost:48721/admin · admin / Admin@123456</a:t>
            </a:r>
            <a:endParaRPr lang="en-US" sz="69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2026-07-24T20:31:50Z</dcterms:created>
  <dcterms:modified xsi:type="dcterms:W3CDTF">2026-07-24T20:31:50Z</dcterms:modified>
</cp:coreProperties>
</file>